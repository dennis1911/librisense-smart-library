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in one line: our library notices you, thinks ahead and acts on its own. Everything you will see runs live on the desk: two Raspberry Pis, real sensors, a real lamp.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story: this summer is extremely hot, libraries are packed. Every window and lamp decision is a trade-off between comfort and energy. That is exactly the kind of decision a smart building should make itself, and be able to justify.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real, fully instrumented seat plus simulated seats for the floor plan. Everything on the left is measured or honestly labelled as simulated; everything on the right physically happens on the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Modularity and indirect communication requirements in one picture. No module calls another, everything flows through retained MQTT topics. The planner box is highlighted because it is the brain. Bottom left covers the distribution requirement: two physical Raspberry Pis.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message: we do not hard-code behaviour. The problem generator turns the live state into a PDDL problem: current facts, active goals, and action costs computed from the live outdoor temperature. Fast Downward then returns the provably cheapest plan. Same goal, different weather, different strategy, and nobody wrote that strategy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stays up during the live demo as the run-sheet. Suggested roles: one person at the desk triggering the scenarios, one narrating the dashboard, one explaining planner output when it changes. Start with the simulated 6-seat floor plan for context, then stop the simulation and focus on the real seat.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pass, do not read every line aloud. Point at the numbers at the bottom: these are measured on the real system, not estimates.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Anticipated questions: Why planning instead of rules? For one seat, rules would work; the value shows with declared goals, per-instance costs and optimality, see the weather example, and it scales by adding actions, not case distinctions. Why classical, not HTN? No task decomposition needed; discretised world fits classical planning with action costs exactly. What is real? Motion, light, lamp, LED, buzzer, LCD and weather are real; CO₂ and windows are simulated and labelled.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7680960" y="548640"/>
            <a:ext cx="4206240" cy="4206240"/>
          </a:xfrm>
          <a:prstGeom prst="ellipse">
            <a:avLst/>
          </a:prstGeom>
          <a:solidFill>
            <a:srgbClr val="F5A623">
              <a:alpha val="12000"/>
            </a:srgbClr>
          </a:solidFill>
          <a:ln/>
        </p:spPr>
      </p:sp>
      <p:sp>
        <p:nvSpPr>
          <p:cNvPr id="3" name="Shape 1"/>
          <p:cNvSpPr/>
          <p:nvPr/>
        </p:nvSpPr>
        <p:spPr>
          <a:xfrm>
            <a:off x="8503920" y="1371600"/>
            <a:ext cx="2560320" cy="2560320"/>
          </a:xfrm>
          <a:prstGeom prst="ellipse">
            <a:avLst/>
          </a:prstGeom>
          <a:solidFill>
            <a:srgbClr val="F5A623">
              <a:alpha val="28000"/>
            </a:srgbClr>
          </a:solidFill>
          <a:ln/>
        </p:spPr>
      </p:sp>
      <p:sp>
        <p:nvSpPr>
          <p:cNvPr id="4" name="Shape 2"/>
          <p:cNvSpPr/>
          <p:nvPr/>
        </p:nvSpPr>
        <p:spPr>
          <a:xfrm>
            <a:off x="9189720" y="2057400"/>
            <a:ext cx="1188720" cy="1188720"/>
          </a:xfrm>
          <a:prstGeom prst="ellipse">
            <a:avLst/>
          </a:prstGeom>
          <a:solidFill>
            <a:srgbClr val="F5A623"/>
          </a:solidFill>
          <a:ln/>
        </p:spPr>
      </p:sp>
      <p:sp>
        <p:nvSpPr>
          <p:cNvPr id="5" name="Text 3"/>
          <p:cNvSpPr/>
          <p:nvPr/>
        </p:nvSpPr>
        <p:spPr>
          <a:xfrm>
            <a:off x="640080" y="1874520"/>
            <a:ext cx="7315200" cy="1188720"/>
          </a:xfrm>
          <a:prstGeom prst="rect">
            <a:avLst/>
          </a:prstGeom>
          <a:noFill/>
          <a:ln/>
        </p:spPr>
        <p:txBody>
          <a:bodyPr wrap="square" lIns="0" tIns="0" rIns="0" bIns="0" rtlCol="0" anchor="ctr"/>
          <a:lstStyle/>
          <a:p>
            <a:pPr indent="0" marL="0">
              <a:buNone/>
            </a:pPr>
            <a:r>
              <a:rPr lang="en-US" sz="6000" b="1" dirty="0">
                <a:solidFill>
                  <a:srgbClr val="F4F7FB"/>
                </a:solidFill>
                <a:latin typeface="Cambria" pitchFamily="34" charset="0"/>
                <a:ea typeface="Cambria" pitchFamily="34" charset="-122"/>
                <a:cs typeface="Cambria" pitchFamily="34" charset="-120"/>
              </a:rPr>
              <a:t>LibriSense</a:t>
            </a:r>
            <a:endParaRPr lang="en-US" sz="6000" dirty="0"/>
          </a:p>
        </p:txBody>
      </p:sp>
      <p:sp>
        <p:nvSpPr>
          <p:cNvPr id="6" name="Text 4"/>
          <p:cNvSpPr/>
          <p:nvPr/>
        </p:nvSpPr>
        <p:spPr>
          <a:xfrm>
            <a:off x="658368" y="3017520"/>
            <a:ext cx="6949440" cy="548640"/>
          </a:xfrm>
          <a:prstGeom prst="rect">
            <a:avLst/>
          </a:prstGeom>
          <a:noFill/>
          <a:ln/>
        </p:spPr>
        <p:txBody>
          <a:bodyPr wrap="square" lIns="0" tIns="0" rIns="0" bIns="0" rtlCol="0" anchor="ctr"/>
          <a:lstStyle/>
          <a:p>
            <a:pPr indent="0" marL="0">
              <a:buNone/>
            </a:pPr>
            <a:r>
              <a:rPr lang="en-US" sz="2000" i="1" dirty="0">
                <a:solidFill>
                  <a:srgbClr val="F5A623"/>
                </a:solidFill>
                <a:latin typeface="Calibri" pitchFamily="34" charset="0"/>
                <a:ea typeface="Calibri" pitchFamily="34" charset="-122"/>
                <a:cs typeface="Calibri" pitchFamily="34" charset="-120"/>
              </a:rPr>
              <a:t>An adaptive smart library that senses, plans and acts</a:t>
            </a:r>
            <a:endParaRPr lang="en-US" sz="2000" dirty="0"/>
          </a:p>
        </p:txBody>
      </p:sp>
      <p:sp>
        <p:nvSpPr>
          <p:cNvPr id="7" name="Text 5"/>
          <p:cNvSpPr/>
          <p:nvPr/>
        </p:nvSpPr>
        <p:spPr>
          <a:xfrm>
            <a:off x="658368" y="5120640"/>
            <a:ext cx="7315200" cy="1097280"/>
          </a:xfrm>
          <a:prstGeom prst="rect">
            <a:avLst/>
          </a:prstGeom>
          <a:noFill/>
          <a:ln/>
        </p:spPr>
        <p:txBody>
          <a:bodyPr wrap="square" lIns="0" tIns="0" rIns="0" bIns="0" rtlCol="0" anchor="ctr"/>
          <a:lstStyle/>
          <a:p>
            <a:pPr indent="0" marL="0">
              <a:lnSpc>
                <a:spcPct val="130000"/>
              </a:lnSpc>
              <a:buNone/>
            </a:pPr>
            <a:r>
              <a:rPr lang="en-US" sz="1400" dirty="0">
                <a:solidFill>
                  <a:srgbClr val="9DB2C7"/>
                </a:solidFill>
                <a:latin typeface="Calibri" pitchFamily="34" charset="0"/>
                <a:ea typeface="Calibri" pitchFamily="34" charset="-122"/>
                <a:cs typeface="Calibri" pitchFamily="34" charset="-120"/>
              </a:rPr>
              <a:t>Dennis Gunt · Haoyang Chen · Niclas</a:t>
            </a:r>
            <a:endParaRPr lang="en-US" sz="1400" dirty="0"/>
          </a:p>
          <a:p>
            <a:pPr indent="0" marL="0">
              <a:lnSpc>
                <a:spcPct val="130000"/>
              </a:lnSpc>
              <a:buNone/>
            </a:pPr>
            <a:r>
              <a:rPr lang="en-US" sz="1400" dirty="0">
                <a:solidFill>
                  <a:srgbClr val="9DB2C7"/>
                </a:solidFill>
                <a:latin typeface="Calibri" pitchFamily="34" charset="0"/>
                <a:ea typeface="Calibri" pitchFamily="34" charset="-122"/>
                <a:cs typeface="Calibri" pitchFamily="34" charset="-120"/>
              </a:rPr>
              <a:t>Smart Cities and the Internet of Things · University of Stuttgart</a:t>
            </a:r>
            <a:endParaRPr lang="en-US" sz="1400" dirty="0"/>
          </a:p>
          <a:p>
            <a:pPr indent="0" marL="0">
              <a:lnSpc>
                <a:spcPct val="130000"/>
              </a:lnSpc>
              <a:buNone/>
            </a:pPr>
            <a:r>
              <a:rPr lang="en-US" sz="1400" dirty="0">
                <a:solidFill>
                  <a:srgbClr val="9DB2C7"/>
                </a:solidFill>
                <a:latin typeface="Calibri" pitchFamily="34" charset="0"/>
                <a:ea typeface="Calibri" pitchFamily="34" charset="-122"/>
                <a:cs typeface="Calibri" pitchFamily="34" charset="-120"/>
              </a:rPr>
              <a:t>Live demo · 20 July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B2D"/>
        </a:solidFill>
      </p:bgPr>
    </p:bg>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rgbClr val="F4F7FB"/>
                </a:solidFill>
                <a:latin typeface="Cambria" pitchFamily="34" charset="0"/>
                <a:ea typeface="Cambria" pitchFamily="34" charset="-122"/>
                <a:cs typeface="Cambria" pitchFamily="34" charset="-120"/>
              </a:rPr>
              <a:t>A hot summer, a full library</a:t>
            </a:r>
            <a:endParaRPr lang="en-US" sz="3200" dirty="0"/>
          </a:p>
        </p:txBody>
      </p:sp>
      <p:sp>
        <p:nvSpPr>
          <p:cNvPr id="3" name="Shape 1"/>
          <p:cNvSpPr/>
          <p:nvPr/>
        </p:nvSpPr>
        <p:spPr>
          <a:xfrm>
            <a:off x="548640" y="1463040"/>
            <a:ext cx="3520440" cy="2834640"/>
          </a:xfrm>
          <a:prstGeom prst="roundRect">
            <a:avLst>
              <a:gd name="adj" fmla="val 3871"/>
            </a:avLst>
          </a:prstGeom>
          <a:solidFill>
            <a:srgbClr val="1B2A3F"/>
          </a:solidFill>
          <a:ln/>
        </p:spPr>
      </p:sp>
      <p:sp>
        <p:nvSpPr>
          <p:cNvPr id="4" name="Text 2"/>
          <p:cNvSpPr/>
          <p:nvPr/>
        </p:nvSpPr>
        <p:spPr>
          <a:xfrm>
            <a:off x="777240" y="1783080"/>
            <a:ext cx="3063240" cy="914400"/>
          </a:xfrm>
          <a:prstGeom prst="rect">
            <a:avLst/>
          </a:prstGeom>
          <a:noFill/>
          <a:ln/>
        </p:spPr>
        <p:txBody>
          <a:bodyPr wrap="square" lIns="0" tIns="0" rIns="0" bIns="0" rtlCol="0" anchor="ctr"/>
          <a:lstStyle/>
          <a:p>
            <a:pPr indent="0" marL="0">
              <a:buNone/>
            </a:pPr>
            <a:r>
              <a:rPr lang="en-US" sz="4400" b="1" dirty="0">
                <a:solidFill>
                  <a:srgbClr val="F0655A"/>
                </a:solidFill>
                <a:latin typeface="Cambria" pitchFamily="34" charset="0"/>
                <a:ea typeface="Cambria" pitchFamily="34" charset="-122"/>
                <a:cs typeface="Cambria" pitchFamily="34" charset="-120"/>
              </a:rPr>
              <a:t>35 °C+</a:t>
            </a:r>
            <a:endParaRPr lang="en-US" sz="4400" dirty="0"/>
          </a:p>
        </p:txBody>
      </p:sp>
      <p:sp>
        <p:nvSpPr>
          <p:cNvPr id="5" name="Text 3"/>
          <p:cNvSpPr/>
          <p:nvPr/>
        </p:nvSpPr>
        <p:spPr>
          <a:xfrm>
            <a:off x="777240" y="2788920"/>
            <a:ext cx="3063240" cy="1280160"/>
          </a:xfrm>
          <a:prstGeom prst="rect">
            <a:avLst/>
          </a:prstGeom>
          <a:noFill/>
          <a:ln/>
        </p:spPr>
        <p:txBody>
          <a:bodyPr wrap="square" lIns="0" tIns="0" rIns="0" bIns="0" rtlCol="0" anchor="ctr"/>
          <a:lstStyle/>
          <a:p>
            <a:pPr indent="0" marL="0">
              <a:buNone/>
            </a:pPr>
            <a:r>
              <a:rPr lang="en-US" sz="1400" dirty="0">
                <a:solidFill>
                  <a:srgbClr val="F4F7FB"/>
                </a:solidFill>
                <a:latin typeface="Calibri" pitchFamily="34" charset="0"/>
                <a:ea typeface="Calibri" pitchFamily="34" charset="-122"/>
                <a:cs typeface="Calibri" pitchFamily="34" charset="-120"/>
              </a:rPr>
              <a:t>Record heat drives students into the cool, quiet library to study</a:t>
            </a:r>
            <a:endParaRPr lang="en-US" sz="1400" dirty="0"/>
          </a:p>
        </p:txBody>
      </p:sp>
      <p:sp>
        <p:nvSpPr>
          <p:cNvPr id="6" name="Shape 4"/>
          <p:cNvSpPr/>
          <p:nvPr/>
        </p:nvSpPr>
        <p:spPr>
          <a:xfrm>
            <a:off x="4343400" y="1463040"/>
            <a:ext cx="3520440" cy="2834640"/>
          </a:xfrm>
          <a:prstGeom prst="roundRect">
            <a:avLst>
              <a:gd name="adj" fmla="val 3871"/>
            </a:avLst>
          </a:prstGeom>
          <a:solidFill>
            <a:srgbClr val="1B2A3F"/>
          </a:solidFill>
          <a:ln/>
        </p:spPr>
      </p:sp>
      <p:sp>
        <p:nvSpPr>
          <p:cNvPr id="7" name="Text 5"/>
          <p:cNvSpPr/>
          <p:nvPr/>
        </p:nvSpPr>
        <p:spPr>
          <a:xfrm>
            <a:off x="4572000" y="1783080"/>
            <a:ext cx="3063240" cy="914400"/>
          </a:xfrm>
          <a:prstGeom prst="rect">
            <a:avLst/>
          </a:prstGeom>
          <a:noFill/>
          <a:ln/>
        </p:spPr>
        <p:txBody>
          <a:bodyPr wrap="square" lIns="0" tIns="0" rIns="0" bIns="0" rtlCol="0" anchor="ctr"/>
          <a:lstStyle/>
          <a:p>
            <a:pPr indent="0" marL="0">
              <a:buNone/>
            </a:pPr>
            <a:r>
              <a:rPr lang="en-US" sz="4400" b="1" dirty="0">
                <a:solidFill>
                  <a:srgbClr val="F5A623"/>
                </a:solidFill>
                <a:latin typeface="Cambria" pitchFamily="34" charset="0"/>
                <a:ea typeface="Cambria" pitchFamily="34" charset="-122"/>
                <a:cs typeface="Cambria" pitchFamily="34" charset="-120"/>
              </a:rPr>
              <a:t>~40 %</a:t>
            </a:r>
            <a:endParaRPr lang="en-US" sz="4400" dirty="0"/>
          </a:p>
        </p:txBody>
      </p:sp>
      <p:sp>
        <p:nvSpPr>
          <p:cNvPr id="8" name="Text 6"/>
          <p:cNvSpPr/>
          <p:nvPr/>
        </p:nvSpPr>
        <p:spPr>
          <a:xfrm>
            <a:off x="4572000" y="2788920"/>
            <a:ext cx="3063240" cy="1280160"/>
          </a:xfrm>
          <a:prstGeom prst="rect">
            <a:avLst/>
          </a:prstGeom>
          <a:noFill/>
          <a:ln/>
        </p:spPr>
        <p:txBody>
          <a:bodyPr wrap="square" lIns="0" tIns="0" rIns="0" bIns="0" rtlCol="0" anchor="ctr"/>
          <a:lstStyle/>
          <a:p>
            <a:pPr indent="0" marL="0">
              <a:buNone/>
            </a:pPr>
            <a:r>
              <a:rPr lang="en-US" sz="1400" dirty="0">
                <a:solidFill>
                  <a:srgbClr val="F4F7FB"/>
                </a:solidFill>
                <a:latin typeface="Calibri" pitchFamily="34" charset="0"/>
                <a:ea typeface="Calibri" pitchFamily="34" charset="-122"/>
                <a:cs typeface="Calibri" pitchFamily="34" charset="-120"/>
              </a:rPr>
              <a:t>of EU energy consumption happens in buildings. Comfort has a price</a:t>
            </a:r>
            <a:endParaRPr lang="en-US" sz="1400" dirty="0"/>
          </a:p>
        </p:txBody>
      </p:sp>
      <p:sp>
        <p:nvSpPr>
          <p:cNvPr id="9" name="Shape 7"/>
          <p:cNvSpPr/>
          <p:nvPr/>
        </p:nvSpPr>
        <p:spPr>
          <a:xfrm>
            <a:off x="8138160" y="1463040"/>
            <a:ext cx="3520440" cy="2834640"/>
          </a:xfrm>
          <a:prstGeom prst="roundRect">
            <a:avLst>
              <a:gd name="adj" fmla="val 3871"/>
            </a:avLst>
          </a:prstGeom>
          <a:solidFill>
            <a:srgbClr val="1B2A3F"/>
          </a:solidFill>
          <a:ln/>
        </p:spPr>
      </p:sp>
      <p:sp>
        <p:nvSpPr>
          <p:cNvPr id="10" name="Text 8"/>
          <p:cNvSpPr/>
          <p:nvPr/>
        </p:nvSpPr>
        <p:spPr>
          <a:xfrm>
            <a:off x="8366760" y="1783080"/>
            <a:ext cx="3063240" cy="914400"/>
          </a:xfrm>
          <a:prstGeom prst="rect">
            <a:avLst/>
          </a:prstGeom>
          <a:noFill/>
          <a:ln/>
        </p:spPr>
        <p:txBody>
          <a:bodyPr wrap="square" lIns="0" tIns="0" rIns="0" bIns="0" rtlCol="0" anchor="ctr"/>
          <a:lstStyle/>
          <a:p>
            <a:pPr indent="0" marL="0">
              <a:buNone/>
            </a:pPr>
            <a:r>
              <a:rPr lang="en-US" sz="4400" b="1" dirty="0">
                <a:solidFill>
                  <a:srgbClr val="6FB7E8"/>
                </a:solidFill>
                <a:latin typeface="Cambria" pitchFamily="34" charset="0"/>
                <a:ea typeface="Cambria" pitchFamily="34" charset="-122"/>
                <a:cs typeface="Cambria" pitchFamily="34" charset="-120"/>
              </a:rPr>
              <a:t>24/7</a:t>
            </a:r>
            <a:endParaRPr lang="en-US" sz="4400" dirty="0"/>
          </a:p>
        </p:txBody>
      </p:sp>
      <p:sp>
        <p:nvSpPr>
          <p:cNvPr id="11" name="Text 9"/>
          <p:cNvSpPr/>
          <p:nvPr/>
        </p:nvSpPr>
        <p:spPr>
          <a:xfrm>
            <a:off x="8366760" y="2788920"/>
            <a:ext cx="3063240" cy="1280160"/>
          </a:xfrm>
          <a:prstGeom prst="rect">
            <a:avLst/>
          </a:prstGeom>
          <a:noFill/>
          <a:ln/>
        </p:spPr>
        <p:txBody>
          <a:bodyPr wrap="square" lIns="0" tIns="0" rIns="0" bIns="0" rtlCol="0" anchor="ctr"/>
          <a:lstStyle/>
          <a:p>
            <a:pPr indent="0" marL="0">
              <a:buNone/>
            </a:pPr>
            <a:r>
              <a:rPr lang="en-US" sz="1400" dirty="0">
                <a:solidFill>
                  <a:srgbClr val="F4F7FB"/>
                </a:solidFill>
                <a:latin typeface="Calibri" pitchFamily="34" charset="0"/>
                <a:ea typeface="Calibri" pitchFamily="34" charset="-122"/>
                <a:cs typeface="Calibri" pitchFamily="34" charset="-120"/>
              </a:rPr>
              <a:t>Lighting, airing and breaks are managed by people today. Or not at all</a:t>
            </a:r>
            <a:endParaRPr lang="en-US" sz="1400" dirty="0"/>
          </a:p>
        </p:txBody>
      </p:sp>
      <p:sp>
        <p:nvSpPr>
          <p:cNvPr id="12" name="Text 10"/>
          <p:cNvSpPr/>
          <p:nvPr/>
        </p:nvSpPr>
        <p:spPr>
          <a:xfrm>
            <a:off x="548640" y="4754880"/>
            <a:ext cx="11064240" cy="1005840"/>
          </a:xfrm>
          <a:prstGeom prst="rect">
            <a:avLst/>
          </a:prstGeom>
          <a:noFill/>
          <a:ln/>
        </p:spPr>
        <p:txBody>
          <a:bodyPr wrap="square" lIns="0" tIns="0" rIns="0" bIns="0" rtlCol="0" anchor="ctr"/>
          <a:lstStyle/>
          <a:p>
            <a:pPr algn="ctr" indent="0" marL="0">
              <a:buNone/>
            </a:pPr>
            <a:r>
              <a:rPr lang="en-US" sz="1800" i="1" dirty="0">
                <a:solidFill>
                  <a:srgbClr val="F5A623"/>
                </a:solidFill>
                <a:latin typeface="Calibri" pitchFamily="34" charset="0"/>
                <a:ea typeface="Calibri" pitchFamily="34" charset="-122"/>
                <a:cs typeface="Calibri" pitchFamily="34" charset="-120"/>
              </a:rPr>
              <a:t>Idea: a reading room that optimises focus, comfort and energy on its own,</a:t>
            </a:r>
            <a:endParaRPr lang="en-US" sz="1800" dirty="0"/>
          </a:p>
          <a:p>
            <a:pPr algn="ctr" indent="0" marL="0">
              <a:buNone/>
            </a:pPr>
            <a:r>
              <a:rPr lang="en-US" sz="1800" i="1" dirty="0">
                <a:solidFill>
                  <a:srgbClr val="F5A623"/>
                </a:solidFill>
                <a:latin typeface="Calibri" pitchFamily="34" charset="0"/>
                <a:ea typeface="Calibri" pitchFamily="34" charset="-122"/>
                <a:cs typeface="Calibri" pitchFamily="34" charset="-120"/>
              </a:rPr>
              <a:t>and can explain every decision it takes.</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B2D"/>
        </a:solidFill>
      </p:bgPr>
    </p:bg>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rgbClr val="F4F7FB"/>
                </a:solidFill>
                <a:latin typeface="Cambria" pitchFamily="34" charset="0"/>
                <a:ea typeface="Cambria" pitchFamily="34" charset="-122"/>
                <a:cs typeface="Cambria" pitchFamily="34" charset="-120"/>
              </a:rPr>
              <a:t>Sense everything, act on what matters</a:t>
            </a:r>
            <a:endParaRPr lang="en-US" sz="3200" dirty="0"/>
          </a:p>
        </p:txBody>
      </p:sp>
      <p:sp>
        <p:nvSpPr>
          <p:cNvPr id="3" name="Shape 1"/>
          <p:cNvSpPr/>
          <p:nvPr/>
        </p:nvSpPr>
        <p:spPr>
          <a:xfrm>
            <a:off x="548640" y="1371600"/>
            <a:ext cx="5486400" cy="4846320"/>
          </a:xfrm>
          <a:prstGeom prst="roundRect">
            <a:avLst>
              <a:gd name="adj" fmla="val 2264"/>
            </a:avLst>
          </a:prstGeom>
          <a:solidFill>
            <a:srgbClr val="1B2A3F"/>
          </a:solidFill>
          <a:ln/>
        </p:spPr>
      </p:sp>
      <p:sp>
        <p:nvSpPr>
          <p:cNvPr id="4" name="Shape 2"/>
          <p:cNvSpPr/>
          <p:nvPr/>
        </p:nvSpPr>
        <p:spPr>
          <a:xfrm>
            <a:off x="822960" y="1645920"/>
            <a:ext cx="384048" cy="384048"/>
          </a:xfrm>
          <a:prstGeom prst="ellipse">
            <a:avLst/>
          </a:prstGeom>
          <a:solidFill>
            <a:srgbClr val="6FB7E8"/>
          </a:solidFill>
          <a:ln/>
        </p:spPr>
      </p:sp>
      <p:sp>
        <p:nvSpPr>
          <p:cNvPr id="5" name="Text 3"/>
          <p:cNvSpPr/>
          <p:nvPr/>
        </p:nvSpPr>
        <p:spPr>
          <a:xfrm>
            <a:off x="1325880" y="1627632"/>
            <a:ext cx="4206240" cy="411480"/>
          </a:xfrm>
          <a:prstGeom prst="rect">
            <a:avLst/>
          </a:prstGeom>
          <a:noFill/>
          <a:ln/>
        </p:spPr>
        <p:txBody>
          <a:bodyPr wrap="square" lIns="0" tIns="0" rIns="0" bIns="0" rtlCol="0" anchor="ctr"/>
          <a:lstStyle/>
          <a:p>
            <a:pPr indent="0" marL="0">
              <a:buNone/>
            </a:pPr>
            <a:r>
              <a:rPr lang="en-US" sz="1800" b="1" dirty="0">
                <a:solidFill>
                  <a:srgbClr val="6FB7E8"/>
                </a:solidFill>
                <a:latin typeface="Cambria" pitchFamily="34" charset="0"/>
                <a:ea typeface="Cambria" pitchFamily="34" charset="-122"/>
                <a:cs typeface="Cambria" pitchFamily="34" charset="-120"/>
              </a:rPr>
              <a:t>MONITORING</a:t>
            </a:r>
            <a:endParaRPr lang="en-US" sz="1800" dirty="0"/>
          </a:p>
        </p:txBody>
      </p:sp>
      <p:sp>
        <p:nvSpPr>
          <p:cNvPr id="6" name="Text 4"/>
          <p:cNvSpPr/>
          <p:nvPr/>
        </p:nvSpPr>
        <p:spPr>
          <a:xfrm>
            <a:off x="868680" y="2240280"/>
            <a:ext cx="4937760" cy="2743200"/>
          </a:xfrm>
          <a:prstGeom prst="rect">
            <a:avLst/>
          </a:prstGeom>
          <a:noFill/>
          <a:ln/>
        </p:spPr>
        <p:txBody>
          <a:bodyPr wrap="square" lIns="0" tIns="0" rIns="0" bIns="0" rtlCol="0" anchor="ctr"/>
          <a:lstStyle/>
          <a:p>
            <a:pPr marL="342900" indent="-342900">
              <a:spcAft>
                <a:spcPts val="1000"/>
              </a:spcAft>
              <a:buSzPct val="100000"/>
              <a:buChar char="•"/>
            </a:pPr>
            <a:r>
              <a:rPr lang="en-US" sz="1500" dirty="0">
                <a:solidFill>
                  <a:srgbClr val="F4F7FB"/>
                </a:solidFill>
                <a:latin typeface="Calibri" pitchFamily="34" charset="0"/>
                <a:ea typeface="Calibri" pitchFamily="34" charset="-122"/>
                <a:cs typeface="Calibri" pitchFamily="34" charset="-120"/>
              </a:rPr>
              <a:t>Occupancy (motion sensor, 2 Hz)</a:t>
            </a:r>
            <a:endParaRPr lang="en-US" sz="1500" dirty="0"/>
          </a:p>
          <a:p>
            <a:pPr marL="342900" indent="-342900">
              <a:spcAft>
                <a:spcPts val="1000"/>
              </a:spcAft>
              <a:buSzPct val="100000"/>
              <a:buChar char="•"/>
            </a:pPr>
            <a:r>
              <a:rPr lang="en-US" sz="1500" dirty="0">
                <a:solidFill>
                  <a:srgbClr val="F4F7FB"/>
                </a:solidFill>
                <a:latin typeface="Calibri" pitchFamily="34" charset="0"/>
                <a:ea typeface="Calibri" pitchFamily="34" charset="-122"/>
                <a:cs typeface="Calibri" pitchFamily="34" charset="-120"/>
              </a:rPr>
              <a:t>Illuminance (light sensor, 2 Hz)</a:t>
            </a:r>
            <a:endParaRPr lang="en-US" sz="1500" dirty="0"/>
          </a:p>
          <a:p>
            <a:pPr marL="342900" indent="-342900">
              <a:spcAft>
                <a:spcPts val="1000"/>
              </a:spcAft>
              <a:buSzPct val="100000"/>
              <a:buChar char="•"/>
            </a:pPr>
            <a:r>
              <a:rPr lang="en-US" sz="1500" dirty="0">
                <a:solidFill>
                  <a:srgbClr val="F4F7FB"/>
                </a:solidFill>
                <a:latin typeface="Calibri" pitchFamily="34" charset="0"/>
                <a:ea typeface="Calibri" pitchFamily="34" charset="-122"/>
                <a:cs typeface="Calibri" pitchFamily="34" charset="-120"/>
              </a:rPr>
              <a:t>CO₂ proxy (simulated from occupancy, honest label)</a:t>
            </a:r>
            <a:endParaRPr lang="en-US" sz="1500" dirty="0"/>
          </a:p>
          <a:p>
            <a:pPr marL="342900" indent="-342900">
              <a:spcAft>
                <a:spcPts val="1000"/>
              </a:spcAft>
              <a:buSzPct val="100000"/>
              <a:buChar char="•"/>
            </a:pPr>
            <a:r>
              <a:rPr lang="en-US" sz="1500" dirty="0">
                <a:solidFill>
                  <a:srgbClr val="F4F7FB"/>
                </a:solidFill>
                <a:latin typeface="Calibri" pitchFamily="34" charset="0"/>
                <a:ea typeface="Calibri" pitchFamily="34" charset="-122"/>
                <a:cs typeface="Calibri" pitchFamily="34" charset="-120"/>
              </a:rPr>
              <a:t>Outdoor weather (live web API)</a:t>
            </a:r>
            <a:endParaRPr lang="en-US" sz="1500" dirty="0"/>
          </a:p>
          <a:p>
            <a:pPr marL="342900" indent="-342900">
              <a:spcAft>
                <a:spcPts val="1000"/>
              </a:spcAft>
              <a:buSzPct val="100000"/>
              <a:buChar char="•"/>
            </a:pPr>
            <a:r>
              <a:rPr lang="en-US" sz="1500" dirty="0">
                <a:solidFill>
                  <a:srgbClr val="F4F7FB"/>
                </a:solidFill>
                <a:latin typeface="Calibri" pitchFamily="34" charset="0"/>
                <a:ea typeface="Calibri" pitchFamily="34" charset="-122"/>
                <a:cs typeface="Calibri" pitchFamily="34" charset="-120"/>
              </a:rPr>
              <a:t>Focus sessions: idle / focused / break-due / on-break</a:t>
            </a:r>
            <a:endParaRPr lang="en-US" sz="1500" dirty="0"/>
          </a:p>
        </p:txBody>
      </p:sp>
      <p:sp>
        <p:nvSpPr>
          <p:cNvPr id="7" name="Text 5"/>
          <p:cNvSpPr/>
          <p:nvPr/>
        </p:nvSpPr>
        <p:spPr>
          <a:xfrm>
            <a:off x="868680" y="5577840"/>
            <a:ext cx="4846320" cy="365760"/>
          </a:xfrm>
          <a:prstGeom prst="rect">
            <a:avLst/>
          </a:prstGeom>
          <a:noFill/>
          <a:ln/>
        </p:spPr>
        <p:txBody>
          <a:bodyPr wrap="square" lIns="0" tIns="0" rIns="0" bIns="0" rtlCol="0" anchor="ctr"/>
          <a:lstStyle/>
          <a:p>
            <a:pPr indent="0" marL="0">
              <a:buNone/>
            </a:pPr>
            <a:r>
              <a:rPr lang="en-US" sz="1200" i="1" dirty="0">
                <a:solidFill>
                  <a:srgbClr val="9DB2C7"/>
                </a:solidFill>
                <a:latin typeface="Calibri" pitchFamily="34" charset="0"/>
                <a:ea typeface="Calibri" pitchFamily="34" charset="-122"/>
                <a:cs typeface="Calibri" pitchFamily="34" charset="-120"/>
              </a:rPr>
              <a:t>5 sensors · 2 physical</a:t>
            </a:r>
            <a:endParaRPr lang="en-US" sz="1200" dirty="0"/>
          </a:p>
        </p:txBody>
      </p:sp>
      <p:sp>
        <p:nvSpPr>
          <p:cNvPr id="8" name="Shape 6"/>
          <p:cNvSpPr/>
          <p:nvPr/>
        </p:nvSpPr>
        <p:spPr>
          <a:xfrm>
            <a:off x="6309360" y="1371600"/>
            <a:ext cx="5486400" cy="4846320"/>
          </a:xfrm>
          <a:prstGeom prst="roundRect">
            <a:avLst>
              <a:gd name="adj" fmla="val 2264"/>
            </a:avLst>
          </a:prstGeom>
          <a:solidFill>
            <a:srgbClr val="1B2A3F"/>
          </a:solidFill>
          <a:ln/>
        </p:spPr>
      </p:sp>
      <p:sp>
        <p:nvSpPr>
          <p:cNvPr id="9" name="Shape 7"/>
          <p:cNvSpPr/>
          <p:nvPr/>
        </p:nvSpPr>
        <p:spPr>
          <a:xfrm>
            <a:off x="6583680" y="1645920"/>
            <a:ext cx="384048" cy="384048"/>
          </a:xfrm>
          <a:prstGeom prst="ellipse">
            <a:avLst/>
          </a:prstGeom>
          <a:solidFill>
            <a:srgbClr val="F5A623"/>
          </a:solidFill>
          <a:ln/>
        </p:spPr>
      </p:sp>
      <p:sp>
        <p:nvSpPr>
          <p:cNvPr id="10" name="Text 8"/>
          <p:cNvSpPr/>
          <p:nvPr/>
        </p:nvSpPr>
        <p:spPr>
          <a:xfrm>
            <a:off x="7086600" y="1627632"/>
            <a:ext cx="4206240" cy="411480"/>
          </a:xfrm>
          <a:prstGeom prst="rect">
            <a:avLst/>
          </a:prstGeom>
          <a:noFill/>
          <a:ln/>
        </p:spPr>
        <p:txBody>
          <a:bodyPr wrap="square" lIns="0" tIns="0" rIns="0" bIns="0" rtlCol="0" anchor="ctr"/>
          <a:lstStyle/>
          <a:p>
            <a:pPr indent="0" marL="0">
              <a:buNone/>
            </a:pPr>
            <a:r>
              <a:rPr lang="en-US" sz="1800" b="1" dirty="0">
                <a:solidFill>
                  <a:srgbClr val="F5A623"/>
                </a:solidFill>
                <a:latin typeface="Cambria" pitchFamily="34" charset="0"/>
                <a:ea typeface="Cambria" pitchFamily="34" charset="-122"/>
                <a:cs typeface="Cambria" pitchFamily="34" charset="-120"/>
              </a:rPr>
              <a:t>AUTOMATION</a:t>
            </a:r>
            <a:endParaRPr lang="en-US" sz="1800" dirty="0"/>
          </a:p>
        </p:txBody>
      </p:sp>
      <p:sp>
        <p:nvSpPr>
          <p:cNvPr id="11" name="Text 9"/>
          <p:cNvSpPr/>
          <p:nvPr/>
        </p:nvSpPr>
        <p:spPr>
          <a:xfrm>
            <a:off x="6629400" y="2240280"/>
            <a:ext cx="4937760" cy="2743200"/>
          </a:xfrm>
          <a:prstGeom prst="rect">
            <a:avLst/>
          </a:prstGeom>
          <a:noFill/>
          <a:ln/>
        </p:spPr>
        <p:txBody>
          <a:bodyPr wrap="square" lIns="0" tIns="0" rIns="0" bIns="0" rtlCol="0" anchor="ctr"/>
          <a:lstStyle/>
          <a:p>
            <a:pPr marL="342900" indent="-342900">
              <a:spcAft>
                <a:spcPts val="1000"/>
              </a:spcAft>
              <a:buSzPct val="100000"/>
              <a:buChar char="•"/>
            </a:pPr>
            <a:r>
              <a:rPr lang="en-US" sz="1500" dirty="0">
                <a:solidFill>
                  <a:srgbClr val="F4F7FB"/>
                </a:solidFill>
                <a:latin typeface="Calibri" pitchFamily="34" charset="0"/>
                <a:ea typeface="Calibri" pitchFamily="34" charset="-122"/>
                <a:cs typeface="Calibri" pitchFamily="34" charset="-120"/>
              </a:rPr>
              <a:t>Reading lamp: real ZigBee relay, on/off by occupancy + light</a:t>
            </a:r>
            <a:endParaRPr lang="en-US" sz="1500" dirty="0"/>
          </a:p>
          <a:p>
            <a:pPr marL="342900" indent="-342900">
              <a:spcAft>
                <a:spcPts val="1000"/>
              </a:spcAft>
              <a:buSzPct val="100000"/>
              <a:buChar char="•"/>
            </a:pPr>
            <a:r>
              <a:rPr lang="en-US" sz="1500" dirty="0">
                <a:solidFill>
                  <a:srgbClr val="F4F7FB"/>
                </a:solidFill>
                <a:latin typeface="Calibri" pitchFamily="34" charset="0"/>
                <a:ea typeface="Calibri" pitchFamily="34" charset="-122"/>
                <a:cs typeface="Calibri" pitchFamily="34" charset="-120"/>
              </a:rPr>
              <a:t>Ventilation: short pulse or full airing, chosen by cost</a:t>
            </a:r>
            <a:endParaRPr lang="en-US" sz="1500" dirty="0"/>
          </a:p>
          <a:p>
            <a:pPr marL="342900" indent="-342900">
              <a:spcAft>
                <a:spcPts val="1000"/>
              </a:spcAft>
              <a:buSzPct val="100000"/>
              <a:buChar char="•"/>
            </a:pPr>
            <a:r>
              <a:rPr lang="en-US" sz="1500" dirty="0">
                <a:solidFill>
                  <a:srgbClr val="F4F7FB"/>
                </a:solidFill>
                <a:latin typeface="Calibri" pitchFamily="34" charset="0"/>
                <a:ea typeface="Calibri" pitchFamily="34" charset="-122"/>
                <a:cs typeface="Calibri" pitchFamily="34" charset="-120"/>
              </a:rPr>
              <a:t>Break nudges: LED + gentle buzzer, escalating</a:t>
            </a:r>
            <a:endParaRPr lang="en-US" sz="1500" dirty="0"/>
          </a:p>
          <a:p>
            <a:pPr marL="342900" indent="-342900">
              <a:spcAft>
                <a:spcPts val="1000"/>
              </a:spcAft>
              <a:buSzPct val="100000"/>
              <a:buChar char="•"/>
            </a:pPr>
            <a:r>
              <a:rPr lang="en-US" sz="1500" dirty="0">
                <a:solidFill>
                  <a:srgbClr val="F4F7FB"/>
                </a:solidFill>
                <a:latin typeface="Calibri" pitchFamily="34" charset="0"/>
                <a:ea typeface="Calibri" pitchFamily="34" charset="-122"/>
                <a:cs typeface="Calibri" pitchFamily="34" charset="-120"/>
              </a:rPr>
              <a:t>On-site LCD: status + CO₂ traffic light</a:t>
            </a:r>
            <a:endParaRPr lang="en-US" sz="1500" dirty="0"/>
          </a:p>
          <a:p>
            <a:pPr marL="342900" indent="-342900">
              <a:spcAft>
                <a:spcPts val="1000"/>
              </a:spcAft>
              <a:buSzPct val="100000"/>
              <a:buChar char="•"/>
            </a:pPr>
            <a:r>
              <a:rPr lang="en-US" sz="1500" dirty="0">
                <a:solidFill>
                  <a:srgbClr val="F4F7FB"/>
                </a:solidFill>
                <a:latin typeface="Calibri" pitchFamily="34" charset="0"/>
                <a:ea typeface="Calibri" pitchFamily="34" charset="-122"/>
                <a:cs typeface="Calibri" pitchFamily="34" charset="-120"/>
              </a:rPr>
              <a:t>Live dashboard: state, plan, floor plan, trends</a:t>
            </a:r>
            <a:endParaRPr lang="en-US" sz="1500" dirty="0"/>
          </a:p>
        </p:txBody>
      </p:sp>
      <p:sp>
        <p:nvSpPr>
          <p:cNvPr id="12" name="Text 10"/>
          <p:cNvSpPr/>
          <p:nvPr/>
        </p:nvSpPr>
        <p:spPr>
          <a:xfrm>
            <a:off x="6629400" y="5577840"/>
            <a:ext cx="4846320" cy="365760"/>
          </a:xfrm>
          <a:prstGeom prst="rect">
            <a:avLst/>
          </a:prstGeom>
          <a:noFill/>
          <a:ln/>
        </p:spPr>
        <p:txBody>
          <a:bodyPr wrap="square" lIns="0" tIns="0" rIns="0" bIns="0" rtlCol="0" anchor="ctr"/>
          <a:lstStyle/>
          <a:p>
            <a:pPr indent="0" marL="0">
              <a:buNone/>
            </a:pPr>
            <a:r>
              <a:rPr lang="en-US" sz="1200" i="1" dirty="0">
                <a:solidFill>
                  <a:srgbClr val="9DB2C7"/>
                </a:solidFill>
                <a:latin typeface="Calibri" pitchFamily="34" charset="0"/>
                <a:ea typeface="Calibri" pitchFamily="34" charset="-122"/>
                <a:cs typeface="Calibri" pitchFamily="34" charset="-120"/>
              </a:rPr>
              <a:t>6 actuators · 4 physical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B2D"/>
        </a:solidFill>
      </p:bgPr>
    </p:bg>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rgbClr val="F4F7FB"/>
                </a:solidFill>
                <a:latin typeface="Cambria" pitchFamily="34" charset="0"/>
                <a:ea typeface="Cambria" pitchFamily="34" charset="-122"/>
                <a:cs typeface="Cambria" pitchFamily="34" charset="-120"/>
              </a:rPr>
              <a:t>Eight modules, one rule: talk only via MQTT</a:t>
            </a:r>
            <a:endParaRPr lang="en-US" sz="3200" dirty="0"/>
          </a:p>
        </p:txBody>
      </p:sp>
      <p:sp>
        <p:nvSpPr>
          <p:cNvPr id="3" name="Shape 1"/>
          <p:cNvSpPr/>
          <p:nvPr/>
        </p:nvSpPr>
        <p:spPr>
          <a:xfrm>
            <a:off x="548640" y="1554480"/>
            <a:ext cx="1783080" cy="1600200"/>
          </a:xfrm>
          <a:prstGeom prst="roundRect">
            <a:avLst>
              <a:gd name="adj" fmla="val 5714"/>
            </a:avLst>
          </a:prstGeom>
          <a:solidFill>
            <a:srgbClr val="1B2A3F"/>
          </a:solidFill>
          <a:ln/>
        </p:spPr>
      </p:sp>
      <p:sp>
        <p:nvSpPr>
          <p:cNvPr id="4" name="Text 2"/>
          <p:cNvSpPr/>
          <p:nvPr/>
        </p:nvSpPr>
        <p:spPr>
          <a:xfrm>
            <a:off x="621792" y="1664208"/>
            <a:ext cx="1636776" cy="685800"/>
          </a:xfrm>
          <a:prstGeom prst="rect">
            <a:avLst/>
          </a:prstGeom>
          <a:noFill/>
          <a:ln/>
        </p:spPr>
        <p:txBody>
          <a:bodyPr wrap="square" lIns="0" tIns="0" rIns="0" bIns="0" rtlCol="0" anchor="ctr"/>
          <a:lstStyle/>
          <a:p>
            <a:pPr algn="ctr" indent="0" marL="0">
              <a:buNone/>
            </a:pPr>
            <a:r>
              <a:rPr lang="en-US" sz="1500" b="1" dirty="0">
                <a:solidFill>
                  <a:srgbClr val="F4F7FB"/>
                </a:solidFill>
                <a:latin typeface="Cambria" pitchFamily="34" charset="0"/>
                <a:ea typeface="Cambria" pitchFamily="34" charset="-122"/>
                <a:cs typeface="Cambria" pitchFamily="34" charset="-120"/>
              </a:rPr>
              <a:t>Sensing</a:t>
            </a:r>
            <a:endParaRPr lang="en-US" sz="1500" dirty="0"/>
          </a:p>
        </p:txBody>
      </p:sp>
      <p:sp>
        <p:nvSpPr>
          <p:cNvPr id="5" name="Text 3"/>
          <p:cNvSpPr/>
          <p:nvPr/>
        </p:nvSpPr>
        <p:spPr>
          <a:xfrm>
            <a:off x="621792" y="2377440"/>
            <a:ext cx="1636776" cy="685800"/>
          </a:xfrm>
          <a:prstGeom prst="rect">
            <a:avLst/>
          </a:prstGeom>
          <a:noFill/>
          <a:ln/>
        </p:spPr>
        <p:txBody>
          <a:bodyPr wrap="square" lIns="0" tIns="0" rIns="0" bIns="0" rtlCol="0" anchor="ctr"/>
          <a:lstStyle/>
          <a:p>
            <a:pPr algn="ctr" indent="0" marL="0">
              <a:buNone/>
            </a:pPr>
            <a:r>
              <a:rPr lang="en-US" sz="1050" dirty="0">
                <a:solidFill>
                  <a:srgbClr val="9DB2C7"/>
                </a:solidFill>
                <a:latin typeface="Calibri" pitchFamily="34" charset="0"/>
                <a:ea typeface="Calibri" pitchFamily="34" charset="-122"/>
                <a:cs typeface="Calibri" pitchFamily="34" charset="-120"/>
              </a:rPr>
              <a:t>motion · light</a:t>
            </a:r>
            <a:endParaRPr lang="en-US" sz="1050" dirty="0"/>
          </a:p>
          <a:p>
            <a:pPr algn="ctr" indent="0" marL="0">
              <a:buNone/>
            </a:pPr>
            <a:r>
              <a:rPr lang="en-US" sz="1050" dirty="0">
                <a:solidFill>
                  <a:srgbClr val="9DB2C7"/>
                </a:solidFill>
                <a:latin typeface="Calibri" pitchFamily="34" charset="0"/>
                <a:ea typeface="Calibri" pitchFamily="34" charset="-122"/>
                <a:cs typeface="Calibri" pitchFamily="34" charset="-120"/>
              </a:rPr>
              <a:t>weather</a:t>
            </a:r>
            <a:endParaRPr lang="en-US" sz="1050" dirty="0"/>
          </a:p>
        </p:txBody>
      </p:sp>
      <p:sp>
        <p:nvSpPr>
          <p:cNvPr id="6" name="Shape 4"/>
          <p:cNvSpPr/>
          <p:nvPr/>
        </p:nvSpPr>
        <p:spPr>
          <a:xfrm>
            <a:off x="2350008" y="2212848"/>
            <a:ext cx="512064" cy="274320"/>
          </a:xfrm>
          <a:prstGeom prst="rightArrow">
            <a:avLst/>
          </a:prstGeom>
          <a:solidFill>
            <a:srgbClr val="6FB7E8"/>
          </a:solidFill>
          <a:ln/>
        </p:spPr>
      </p:sp>
      <p:sp>
        <p:nvSpPr>
          <p:cNvPr id="7" name="Shape 5"/>
          <p:cNvSpPr/>
          <p:nvPr/>
        </p:nvSpPr>
        <p:spPr>
          <a:xfrm>
            <a:off x="2880360" y="1554480"/>
            <a:ext cx="1783080" cy="1600200"/>
          </a:xfrm>
          <a:prstGeom prst="roundRect">
            <a:avLst>
              <a:gd name="adj" fmla="val 5714"/>
            </a:avLst>
          </a:prstGeom>
          <a:solidFill>
            <a:srgbClr val="1B2A3F"/>
          </a:solidFill>
          <a:ln/>
        </p:spPr>
      </p:sp>
      <p:sp>
        <p:nvSpPr>
          <p:cNvPr id="8" name="Text 6"/>
          <p:cNvSpPr/>
          <p:nvPr/>
        </p:nvSpPr>
        <p:spPr>
          <a:xfrm>
            <a:off x="2953512" y="1664208"/>
            <a:ext cx="1636776" cy="685800"/>
          </a:xfrm>
          <a:prstGeom prst="rect">
            <a:avLst/>
          </a:prstGeom>
          <a:noFill/>
          <a:ln/>
        </p:spPr>
        <p:txBody>
          <a:bodyPr wrap="square" lIns="0" tIns="0" rIns="0" bIns="0" rtlCol="0" anchor="ctr"/>
          <a:lstStyle/>
          <a:p>
            <a:pPr algn="ctr" indent="0" marL="0">
              <a:buNone/>
            </a:pPr>
            <a:r>
              <a:rPr lang="en-US" sz="1500" b="1" dirty="0">
                <a:solidFill>
                  <a:srgbClr val="F4F7FB"/>
                </a:solidFill>
                <a:latin typeface="Cambria" pitchFamily="34" charset="0"/>
                <a:ea typeface="Cambria" pitchFamily="34" charset="-122"/>
                <a:cs typeface="Cambria" pitchFamily="34" charset="-120"/>
              </a:rPr>
              <a:t>Context</a:t>
            </a:r>
            <a:endParaRPr lang="en-US" sz="1500" dirty="0"/>
          </a:p>
        </p:txBody>
      </p:sp>
      <p:sp>
        <p:nvSpPr>
          <p:cNvPr id="9" name="Text 7"/>
          <p:cNvSpPr/>
          <p:nvPr/>
        </p:nvSpPr>
        <p:spPr>
          <a:xfrm>
            <a:off x="2953512" y="2377440"/>
            <a:ext cx="1636776" cy="685800"/>
          </a:xfrm>
          <a:prstGeom prst="rect">
            <a:avLst/>
          </a:prstGeom>
          <a:noFill/>
          <a:ln/>
        </p:spPr>
        <p:txBody>
          <a:bodyPr wrap="square" lIns="0" tIns="0" rIns="0" bIns="0" rtlCol="0" anchor="ctr"/>
          <a:lstStyle/>
          <a:p>
            <a:pPr algn="ctr" indent="0" marL="0">
              <a:buNone/>
            </a:pPr>
            <a:r>
              <a:rPr lang="en-US" sz="1050" dirty="0">
                <a:solidFill>
                  <a:srgbClr val="9DB2C7"/>
                </a:solidFill>
                <a:latin typeface="Calibri" pitchFamily="34" charset="0"/>
                <a:ea typeface="Calibri" pitchFamily="34" charset="-122"/>
                <a:cs typeface="Calibri" pitchFamily="34" charset="-120"/>
              </a:rPr>
              <a:t>world state</a:t>
            </a:r>
            <a:endParaRPr lang="en-US" sz="1050" dirty="0"/>
          </a:p>
          <a:p>
            <a:pPr algn="ctr" indent="0" marL="0">
              <a:buNone/>
            </a:pPr>
            <a:r>
              <a:rPr lang="en-US" sz="1050" dirty="0">
                <a:solidFill>
                  <a:srgbClr val="9DB2C7"/>
                </a:solidFill>
                <a:latin typeface="Calibri" pitchFamily="34" charset="0"/>
                <a:ea typeface="Calibri" pitchFamily="34" charset="-122"/>
                <a:cs typeface="Calibri" pitchFamily="34" charset="-120"/>
              </a:rPr>
              <a:t>CO₂ · FSM</a:t>
            </a:r>
            <a:endParaRPr lang="en-US" sz="1050" dirty="0"/>
          </a:p>
        </p:txBody>
      </p:sp>
      <p:sp>
        <p:nvSpPr>
          <p:cNvPr id="10" name="Shape 8"/>
          <p:cNvSpPr/>
          <p:nvPr/>
        </p:nvSpPr>
        <p:spPr>
          <a:xfrm>
            <a:off x="4681728" y="2212848"/>
            <a:ext cx="512064" cy="274320"/>
          </a:xfrm>
          <a:prstGeom prst="rightArrow">
            <a:avLst/>
          </a:prstGeom>
          <a:solidFill>
            <a:srgbClr val="6FB7E8"/>
          </a:solidFill>
          <a:ln/>
        </p:spPr>
      </p:sp>
      <p:sp>
        <p:nvSpPr>
          <p:cNvPr id="11" name="Shape 9"/>
          <p:cNvSpPr/>
          <p:nvPr/>
        </p:nvSpPr>
        <p:spPr>
          <a:xfrm>
            <a:off x="5212080" y="1554480"/>
            <a:ext cx="1783080" cy="1600200"/>
          </a:xfrm>
          <a:prstGeom prst="roundRect">
            <a:avLst>
              <a:gd name="adj" fmla="val 5714"/>
            </a:avLst>
          </a:prstGeom>
          <a:solidFill>
            <a:srgbClr val="1B2A3F"/>
          </a:solidFill>
          <a:ln/>
        </p:spPr>
      </p:sp>
      <p:sp>
        <p:nvSpPr>
          <p:cNvPr id="12" name="Text 10"/>
          <p:cNvSpPr/>
          <p:nvPr/>
        </p:nvSpPr>
        <p:spPr>
          <a:xfrm>
            <a:off x="5285232" y="1664208"/>
            <a:ext cx="1636776" cy="685800"/>
          </a:xfrm>
          <a:prstGeom prst="rect">
            <a:avLst/>
          </a:prstGeom>
          <a:noFill/>
          <a:ln/>
        </p:spPr>
        <p:txBody>
          <a:bodyPr wrap="square" lIns="0" tIns="0" rIns="0" bIns="0" rtlCol="0" anchor="ctr"/>
          <a:lstStyle/>
          <a:p>
            <a:pPr algn="ctr" indent="0" marL="0">
              <a:buNone/>
            </a:pPr>
            <a:r>
              <a:rPr lang="en-US" sz="1500" b="1" dirty="0">
                <a:solidFill>
                  <a:srgbClr val="F4F7FB"/>
                </a:solidFill>
                <a:latin typeface="Cambria" pitchFamily="34" charset="0"/>
                <a:ea typeface="Cambria" pitchFamily="34" charset="-122"/>
                <a:cs typeface="Cambria" pitchFamily="34" charset="-120"/>
              </a:rPr>
              <a:t>Problem</a:t>
            </a:r>
            <a:endParaRPr lang="en-US" sz="1500" dirty="0"/>
          </a:p>
          <a:p>
            <a:pPr algn="ctr" indent="0" marL="0">
              <a:buNone/>
            </a:pPr>
            <a:r>
              <a:rPr lang="en-US" sz="1500" b="1" dirty="0">
                <a:solidFill>
                  <a:srgbClr val="F4F7FB"/>
                </a:solidFill>
                <a:latin typeface="Cambria" pitchFamily="34" charset="0"/>
                <a:ea typeface="Cambria" pitchFamily="34" charset="-122"/>
                <a:cs typeface="Cambria" pitchFamily="34" charset="-120"/>
              </a:rPr>
              <a:t>Generator</a:t>
            </a:r>
            <a:endParaRPr lang="en-US" sz="1500" dirty="0"/>
          </a:p>
        </p:txBody>
      </p:sp>
      <p:sp>
        <p:nvSpPr>
          <p:cNvPr id="13" name="Text 11"/>
          <p:cNvSpPr/>
          <p:nvPr/>
        </p:nvSpPr>
        <p:spPr>
          <a:xfrm>
            <a:off x="5285232" y="2377440"/>
            <a:ext cx="1636776" cy="685800"/>
          </a:xfrm>
          <a:prstGeom prst="rect">
            <a:avLst/>
          </a:prstGeom>
          <a:noFill/>
          <a:ln/>
        </p:spPr>
        <p:txBody>
          <a:bodyPr wrap="square" lIns="0" tIns="0" rIns="0" bIns="0" rtlCol="0" anchor="ctr"/>
          <a:lstStyle/>
          <a:p>
            <a:pPr algn="ctr" indent="0" marL="0">
              <a:buNone/>
            </a:pPr>
            <a:r>
              <a:rPr lang="en-US" sz="1050" dirty="0">
                <a:solidFill>
                  <a:srgbClr val="9DB2C7"/>
                </a:solidFill>
                <a:latin typeface="Calibri" pitchFamily="34" charset="0"/>
                <a:ea typeface="Calibri" pitchFamily="34" charset="-122"/>
                <a:cs typeface="Calibri" pitchFamily="34" charset="-120"/>
              </a:rPr>
              <a:t>state → PDDL</a:t>
            </a:r>
            <a:endParaRPr lang="en-US" sz="1050" dirty="0"/>
          </a:p>
          <a:p>
            <a:pPr algn="ctr" indent="0" marL="0">
              <a:buNone/>
            </a:pPr>
            <a:r>
              <a:rPr lang="en-US" sz="1050" dirty="0">
                <a:solidFill>
                  <a:srgbClr val="9DB2C7"/>
                </a:solidFill>
                <a:latin typeface="Calibri" pitchFamily="34" charset="0"/>
                <a:ea typeface="Calibri" pitchFamily="34" charset="-122"/>
                <a:cs typeface="Calibri" pitchFamily="34" charset="-120"/>
              </a:rPr>
              <a:t>goals + costs</a:t>
            </a:r>
            <a:endParaRPr lang="en-US" sz="1050" dirty="0"/>
          </a:p>
        </p:txBody>
      </p:sp>
      <p:sp>
        <p:nvSpPr>
          <p:cNvPr id="14" name="Shape 12"/>
          <p:cNvSpPr/>
          <p:nvPr/>
        </p:nvSpPr>
        <p:spPr>
          <a:xfrm>
            <a:off x="7013448" y="2212848"/>
            <a:ext cx="512064" cy="274320"/>
          </a:xfrm>
          <a:prstGeom prst="rightArrow">
            <a:avLst/>
          </a:prstGeom>
          <a:solidFill>
            <a:srgbClr val="6FB7E8"/>
          </a:solidFill>
          <a:ln/>
        </p:spPr>
      </p:sp>
      <p:sp>
        <p:nvSpPr>
          <p:cNvPr id="15" name="Shape 13"/>
          <p:cNvSpPr/>
          <p:nvPr/>
        </p:nvSpPr>
        <p:spPr>
          <a:xfrm>
            <a:off x="7543800" y="1554480"/>
            <a:ext cx="1783080" cy="1600200"/>
          </a:xfrm>
          <a:prstGeom prst="roundRect">
            <a:avLst>
              <a:gd name="adj" fmla="val 5714"/>
            </a:avLst>
          </a:prstGeom>
          <a:solidFill>
            <a:srgbClr val="24354D"/>
          </a:solidFill>
          <a:ln w="19050">
            <a:solidFill>
              <a:srgbClr val="F5A623"/>
            </a:solidFill>
            <a:prstDash val="solid"/>
          </a:ln>
        </p:spPr>
      </p:sp>
      <p:sp>
        <p:nvSpPr>
          <p:cNvPr id="16" name="Text 14"/>
          <p:cNvSpPr/>
          <p:nvPr/>
        </p:nvSpPr>
        <p:spPr>
          <a:xfrm>
            <a:off x="7616952" y="1664208"/>
            <a:ext cx="1636776" cy="685800"/>
          </a:xfrm>
          <a:prstGeom prst="rect">
            <a:avLst/>
          </a:prstGeom>
          <a:noFill/>
          <a:ln/>
        </p:spPr>
        <p:txBody>
          <a:bodyPr wrap="square" lIns="0" tIns="0" rIns="0" bIns="0" rtlCol="0" anchor="ctr"/>
          <a:lstStyle/>
          <a:p>
            <a:pPr algn="ctr" indent="0" marL="0">
              <a:buNone/>
            </a:pPr>
            <a:r>
              <a:rPr lang="en-US" sz="1500" b="1" dirty="0">
                <a:solidFill>
                  <a:srgbClr val="F5A623"/>
                </a:solidFill>
                <a:latin typeface="Cambria" pitchFamily="34" charset="0"/>
                <a:ea typeface="Cambria" pitchFamily="34" charset="-122"/>
                <a:cs typeface="Cambria" pitchFamily="34" charset="-120"/>
              </a:rPr>
              <a:t>Planner</a:t>
            </a:r>
            <a:endParaRPr lang="en-US" sz="1500" dirty="0"/>
          </a:p>
        </p:txBody>
      </p:sp>
      <p:sp>
        <p:nvSpPr>
          <p:cNvPr id="17" name="Text 15"/>
          <p:cNvSpPr/>
          <p:nvPr/>
        </p:nvSpPr>
        <p:spPr>
          <a:xfrm>
            <a:off x="7616952" y="2377440"/>
            <a:ext cx="1636776" cy="685800"/>
          </a:xfrm>
          <a:prstGeom prst="rect">
            <a:avLst/>
          </a:prstGeom>
          <a:noFill/>
          <a:ln/>
        </p:spPr>
        <p:txBody>
          <a:bodyPr wrap="square" lIns="0" tIns="0" rIns="0" bIns="0" rtlCol="0" anchor="ctr"/>
          <a:lstStyle/>
          <a:p>
            <a:pPr algn="ctr" indent="0" marL="0">
              <a:buNone/>
            </a:pPr>
            <a:r>
              <a:rPr lang="en-US" sz="1050" dirty="0">
                <a:solidFill>
                  <a:srgbClr val="9DB2C7"/>
                </a:solidFill>
                <a:latin typeface="Calibri" pitchFamily="34" charset="0"/>
                <a:ea typeface="Calibri" pitchFamily="34" charset="-122"/>
                <a:cs typeface="Calibri" pitchFamily="34" charset="-120"/>
              </a:rPr>
              <a:t>Fast Downward</a:t>
            </a:r>
            <a:endParaRPr lang="en-US" sz="1050" dirty="0"/>
          </a:p>
          <a:p>
            <a:pPr algn="ctr" indent="0" marL="0">
              <a:buNone/>
            </a:pPr>
            <a:r>
              <a:rPr lang="en-US" sz="1050" dirty="0">
                <a:solidFill>
                  <a:srgbClr val="9DB2C7"/>
                </a:solidFill>
                <a:latin typeface="Calibri" pitchFamily="34" charset="0"/>
                <a:ea typeface="Calibri" pitchFamily="34" charset="-122"/>
                <a:cs typeface="Calibri" pitchFamily="34" charset="-120"/>
              </a:rPr>
              <a:t>cost-optimal</a:t>
            </a:r>
            <a:endParaRPr lang="en-US" sz="1050" dirty="0"/>
          </a:p>
        </p:txBody>
      </p:sp>
      <p:sp>
        <p:nvSpPr>
          <p:cNvPr id="18" name="Shape 16"/>
          <p:cNvSpPr/>
          <p:nvPr/>
        </p:nvSpPr>
        <p:spPr>
          <a:xfrm>
            <a:off x="9345168" y="2212848"/>
            <a:ext cx="512064" cy="274320"/>
          </a:xfrm>
          <a:prstGeom prst="rightArrow">
            <a:avLst/>
          </a:prstGeom>
          <a:solidFill>
            <a:srgbClr val="6FB7E8"/>
          </a:solidFill>
          <a:ln/>
        </p:spPr>
      </p:sp>
      <p:sp>
        <p:nvSpPr>
          <p:cNvPr id="19" name="Shape 17"/>
          <p:cNvSpPr/>
          <p:nvPr/>
        </p:nvSpPr>
        <p:spPr>
          <a:xfrm>
            <a:off x="9875520" y="1554480"/>
            <a:ext cx="1783080" cy="1600200"/>
          </a:xfrm>
          <a:prstGeom prst="roundRect">
            <a:avLst>
              <a:gd name="adj" fmla="val 5714"/>
            </a:avLst>
          </a:prstGeom>
          <a:solidFill>
            <a:srgbClr val="1B2A3F"/>
          </a:solidFill>
          <a:ln/>
        </p:spPr>
      </p:sp>
      <p:sp>
        <p:nvSpPr>
          <p:cNvPr id="20" name="Text 18"/>
          <p:cNvSpPr/>
          <p:nvPr/>
        </p:nvSpPr>
        <p:spPr>
          <a:xfrm>
            <a:off x="9948672" y="1664208"/>
            <a:ext cx="1636776" cy="685800"/>
          </a:xfrm>
          <a:prstGeom prst="rect">
            <a:avLst/>
          </a:prstGeom>
          <a:noFill/>
          <a:ln/>
        </p:spPr>
        <p:txBody>
          <a:bodyPr wrap="square" lIns="0" tIns="0" rIns="0" bIns="0" rtlCol="0" anchor="ctr"/>
          <a:lstStyle/>
          <a:p>
            <a:pPr algn="ctr" indent="0" marL="0">
              <a:buNone/>
            </a:pPr>
            <a:r>
              <a:rPr lang="en-US" sz="1500" b="1" dirty="0">
                <a:solidFill>
                  <a:srgbClr val="F4F7FB"/>
                </a:solidFill>
                <a:latin typeface="Cambria" pitchFamily="34" charset="0"/>
                <a:ea typeface="Cambria" pitchFamily="34" charset="-122"/>
                <a:cs typeface="Cambria" pitchFamily="34" charset="-120"/>
              </a:rPr>
              <a:t>Execution</a:t>
            </a:r>
            <a:endParaRPr lang="en-US" sz="1500" dirty="0"/>
          </a:p>
        </p:txBody>
      </p:sp>
      <p:sp>
        <p:nvSpPr>
          <p:cNvPr id="21" name="Text 19"/>
          <p:cNvSpPr/>
          <p:nvPr/>
        </p:nvSpPr>
        <p:spPr>
          <a:xfrm>
            <a:off x="9948672" y="2377440"/>
            <a:ext cx="1636776" cy="685800"/>
          </a:xfrm>
          <a:prstGeom prst="rect">
            <a:avLst/>
          </a:prstGeom>
          <a:noFill/>
          <a:ln/>
        </p:spPr>
        <p:txBody>
          <a:bodyPr wrap="square" lIns="0" tIns="0" rIns="0" bIns="0" rtlCol="0" anchor="ctr"/>
          <a:lstStyle/>
          <a:p>
            <a:pPr algn="ctr" indent="0" marL="0">
              <a:buNone/>
            </a:pPr>
            <a:r>
              <a:rPr lang="en-US" sz="1050" dirty="0">
                <a:solidFill>
                  <a:srgbClr val="9DB2C7"/>
                </a:solidFill>
                <a:latin typeface="Calibri" pitchFamily="34" charset="0"/>
                <a:ea typeface="Calibri" pitchFamily="34" charset="-122"/>
                <a:cs typeface="Calibri" pitchFamily="34" charset="-120"/>
              </a:rPr>
              <a:t>dispatch</a:t>
            </a:r>
            <a:endParaRPr lang="en-US" sz="1050" dirty="0"/>
          </a:p>
          <a:p>
            <a:pPr algn="ctr" indent="0" marL="0">
              <a:buNone/>
            </a:pPr>
            <a:r>
              <a:rPr lang="en-US" sz="1050" dirty="0">
                <a:solidFill>
                  <a:srgbClr val="9DB2C7"/>
                </a:solidFill>
                <a:latin typeface="Calibri" pitchFamily="34" charset="0"/>
                <a:ea typeface="Calibri" pitchFamily="34" charset="-122"/>
                <a:cs typeface="Calibri" pitchFamily="34" charset="-120"/>
              </a:rPr>
              <a:t>actions</a:t>
            </a:r>
            <a:endParaRPr lang="en-US" sz="1050" dirty="0"/>
          </a:p>
        </p:txBody>
      </p:sp>
      <p:sp>
        <p:nvSpPr>
          <p:cNvPr id="22" name="Shape 20"/>
          <p:cNvSpPr/>
          <p:nvPr/>
        </p:nvSpPr>
        <p:spPr>
          <a:xfrm>
            <a:off x="548640" y="3657600"/>
            <a:ext cx="11109960" cy="777240"/>
          </a:xfrm>
          <a:prstGeom prst="roundRect">
            <a:avLst>
              <a:gd name="adj" fmla="val 11765"/>
            </a:avLst>
          </a:prstGeom>
          <a:solidFill>
            <a:srgbClr val="24354D"/>
          </a:solidFill>
          <a:ln w="12700">
            <a:solidFill>
              <a:srgbClr val="6FB7E8"/>
            </a:solidFill>
            <a:prstDash val="solid"/>
          </a:ln>
        </p:spPr>
      </p:sp>
      <p:sp>
        <p:nvSpPr>
          <p:cNvPr id="23" name="Text 21"/>
          <p:cNvSpPr/>
          <p:nvPr/>
        </p:nvSpPr>
        <p:spPr>
          <a:xfrm>
            <a:off x="777240" y="3767328"/>
            <a:ext cx="10698480" cy="548640"/>
          </a:xfrm>
          <a:prstGeom prst="rect">
            <a:avLst/>
          </a:prstGeom>
          <a:noFill/>
          <a:ln/>
        </p:spPr>
        <p:txBody>
          <a:bodyPr wrap="square" lIns="0" tIns="0" rIns="0" bIns="0" rtlCol="0" anchor="ctr"/>
          <a:lstStyle/>
          <a:p>
            <a:pPr algn="ctr" indent="0" marL="0">
              <a:buNone/>
            </a:pPr>
            <a:r>
              <a:rPr lang="en-US" sz="1350" dirty="0">
                <a:solidFill>
                  <a:srgbClr val="6FB7E8"/>
                </a:solidFill>
                <a:latin typeface="Calibri" pitchFamily="34" charset="0"/>
                <a:ea typeface="Calibri" pitchFamily="34" charset="-122"/>
                <a:cs typeface="Calibri" pitchFamily="34" charset="-120"/>
              </a:rPr>
              <a:t>Eclipse Mosquitto: MQTT publish/subscribe bus  ·  sensors → state → problem → plan → actions → actuator feedback</a:t>
            </a:r>
            <a:endParaRPr lang="en-US" sz="1350" dirty="0"/>
          </a:p>
        </p:txBody>
      </p:sp>
      <p:sp>
        <p:nvSpPr>
          <p:cNvPr id="24" name="Shape 22"/>
          <p:cNvSpPr/>
          <p:nvPr/>
        </p:nvSpPr>
        <p:spPr>
          <a:xfrm>
            <a:off x="548640" y="4846320"/>
            <a:ext cx="5394960" cy="1371600"/>
          </a:xfrm>
          <a:prstGeom prst="roundRect">
            <a:avLst>
              <a:gd name="adj" fmla="val 8000"/>
            </a:avLst>
          </a:prstGeom>
          <a:solidFill>
            <a:srgbClr val="1B2A3F"/>
          </a:solidFill>
          <a:ln/>
        </p:spPr>
      </p:sp>
      <p:sp>
        <p:nvSpPr>
          <p:cNvPr id="25" name="Text 23"/>
          <p:cNvSpPr/>
          <p:nvPr/>
        </p:nvSpPr>
        <p:spPr>
          <a:xfrm>
            <a:off x="822960" y="4983480"/>
            <a:ext cx="4846320" cy="365760"/>
          </a:xfrm>
          <a:prstGeom prst="rect">
            <a:avLst/>
          </a:prstGeom>
          <a:noFill/>
          <a:ln/>
        </p:spPr>
        <p:txBody>
          <a:bodyPr wrap="square" lIns="0" tIns="0" rIns="0" bIns="0" rtlCol="0" anchor="ctr"/>
          <a:lstStyle/>
          <a:p>
            <a:pPr indent="0" marL="0">
              <a:buNone/>
            </a:pPr>
            <a:r>
              <a:rPr lang="en-US" sz="1500" b="1" dirty="0">
                <a:solidFill>
                  <a:srgbClr val="F4F7FB"/>
                </a:solidFill>
                <a:latin typeface="Cambria" pitchFamily="34" charset="0"/>
                <a:ea typeface="Cambria" pitchFamily="34" charset="-122"/>
                <a:cs typeface="Cambria" pitchFamily="34" charset="-120"/>
              </a:rPr>
              <a:t>2 machines</a:t>
            </a:r>
            <a:endParaRPr lang="en-US" sz="1500" dirty="0"/>
          </a:p>
        </p:txBody>
      </p:sp>
      <p:sp>
        <p:nvSpPr>
          <p:cNvPr id="26" name="Text 24"/>
          <p:cNvSpPr/>
          <p:nvPr/>
        </p:nvSpPr>
        <p:spPr>
          <a:xfrm>
            <a:off x="822960" y="5394960"/>
            <a:ext cx="4937760" cy="731520"/>
          </a:xfrm>
          <a:prstGeom prst="rect">
            <a:avLst/>
          </a:prstGeom>
          <a:noFill/>
          <a:ln/>
        </p:spPr>
        <p:txBody>
          <a:bodyPr wrap="square" lIns="0" tIns="0" rIns="0" bIns="0" rtlCol="0" anchor="ctr"/>
          <a:lstStyle/>
          <a:p>
            <a:pPr indent="0" marL="0">
              <a:buNone/>
            </a:pPr>
            <a:r>
              <a:rPr lang="en-US" sz="1250" dirty="0">
                <a:solidFill>
                  <a:srgbClr val="9DB2C7"/>
                </a:solidFill>
                <a:latin typeface="Calibri" pitchFamily="34" charset="0"/>
                <a:ea typeface="Calibri" pitchFamily="34" charset="-122"/>
                <a:cs typeface="Calibri" pitchFamily="34" charset="-120"/>
              </a:rPr>
              <a:t>Pi 5 (core): broker, context, planner, dashboard · 7 services</a:t>
            </a:r>
            <a:endParaRPr lang="en-US" sz="1250" dirty="0"/>
          </a:p>
          <a:p>
            <a:pPr indent="0" marL="0">
              <a:buNone/>
            </a:pPr>
            <a:r>
              <a:rPr lang="en-US" sz="1250" dirty="0">
                <a:solidFill>
                  <a:srgbClr val="9DB2C7"/>
                </a:solidFill>
                <a:latin typeface="Calibri" pitchFamily="34" charset="0"/>
                <a:ea typeface="Calibri" pitchFamily="34" charset="-122"/>
                <a:cs typeface="Calibri" pitchFamily="34" charset="-120"/>
              </a:rPr>
              <a:t>Pi 3 B+ (edge): sensors, actuators, LCD · 3 services</a:t>
            </a:r>
            <a:endParaRPr lang="en-US" sz="1250" dirty="0"/>
          </a:p>
        </p:txBody>
      </p:sp>
      <p:sp>
        <p:nvSpPr>
          <p:cNvPr id="27" name="Shape 25"/>
          <p:cNvSpPr/>
          <p:nvPr/>
        </p:nvSpPr>
        <p:spPr>
          <a:xfrm>
            <a:off x="6263640" y="4846320"/>
            <a:ext cx="5394960" cy="1371600"/>
          </a:xfrm>
          <a:prstGeom prst="roundRect">
            <a:avLst>
              <a:gd name="adj" fmla="val 8000"/>
            </a:avLst>
          </a:prstGeom>
          <a:solidFill>
            <a:srgbClr val="1B2A3F"/>
          </a:solidFill>
          <a:ln/>
        </p:spPr>
      </p:sp>
      <p:sp>
        <p:nvSpPr>
          <p:cNvPr id="28" name="Text 26"/>
          <p:cNvSpPr/>
          <p:nvPr/>
        </p:nvSpPr>
        <p:spPr>
          <a:xfrm>
            <a:off x="6537960" y="4983480"/>
            <a:ext cx="4846320" cy="365760"/>
          </a:xfrm>
          <a:prstGeom prst="rect">
            <a:avLst/>
          </a:prstGeom>
          <a:noFill/>
          <a:ln/>
        </p:spPr>
        <p:txBody>
          <a:bodyPr wrap="square" lIns="0" tIns="0" rIns="0" bIns="0" rtlCol="0" anchor="ctr"/>
          <a:lstStyle/>
          <a:p>
            <a:pPr indent="0" marL="0">
              <a:buNone/>
            </a:pPr>
            <a:r>
              <a:rPr lang="en-US" sz="1500" b="1" dirty="0">
                <a:solidFill>
                  <a:srgbClr val="F4F7FB"/>
                </a:solidFill>
                <a:latin typeface="Cambria" pitchFamily="34" charset="0"/>
                <a:ea typeface="Cambria" pitchFamily="34" charset="-122"/>
                <a:cs typeface="Cambria" pitchFamily="34" charset="-120"/>
              </a:rPr>
              <a:t>Closed loop</a:t>
            </a:r>
            <a:endParaRPr lang="en-US" sz="1500" dirty="0"/>
          </a:p>
        </p:txBody>
      </p:sp>
      <p:sp>
        <p:nvSpPr>
          <p:cNvPr id="29" name="Text 27"/>
          <p:cNvSpPr/>
          <p:nvPr/>
        </p:nvSpPr>
        <p:spPr>
          <a:xfrm>
            <a:off x="6537960" y="5394960"/>
            <a:ext cx="4937760" cy="731520"/>
          </a:xfrm>
          <a:prstGeom prst="rect">
            <a:avLst/>
          </a:prstGeom>
          <a:noFill/>
          <a:ln/>
        </p:spPr>
        <p:txBody>
          <a:bodyPr wrap="square" lIns="0" tIns="0" rIns="0" bIns="0" rtlCol="0" anchor="ctr"/>
          <a:lstStyle/>
          <a:p>
            <a:pPr indent="0" marL="0">
              <a:buNone/>
            </a:pPr>
            <a:r>
              <a:rPr lang="en-US" sz="1250" dirty="0">
                <a:solidFill>
                  <a:srgbClr val="9DB2C7"/>
                </a:solidFill>
                <a:latin typeface="Calibri" pitchFamily="34" charset="0"/>
                <a:ea typeface="Calibri" pitchFamily="34" charset="-122"/>
                <a:cs typeface="Calibri" pitchFamily="34" charset="-120"/>
              </a:rPr>
              <a:t>Actuator effects are sensed again and trigger re-planning.</a:t>
            </a:r>
            <a:endParaRPr lang="en-US" sz="1250" dirty="0"/>
          </a:p>
          <a:p>
            <a:pPr indent="0" marL="0">
              <a:buNone/>
            </a:pPr>
            <a:r>
              <a:rPr lang="en-US" sz="1250" dirty="0">
                <a:solidFill>
                  <a:srgbClr val="9DB2C7"/>
                </a:solidFill>
                <a:latin typeface="Calibri" pitchFamily="34" charset="0"/>
                <a:ea typeface="Calibri" pitchFamily="34" charset="-122"/>
                <a:cs typeface="Calibri" pitchFamily="34" charset="-120"/>
              </a:rPr>
              <a:t>A sabotaged lamp is physically corrected in under 1 second.</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B2D"/>
        </a:solidFill>
      </p:bgPr>
    </p:bg>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rgbClr val="F4F7FB"/>
                </a:solidFill>
                <a:latin typeface="Cambria" pitchFamily="34" charset="0"/>
                <a:ea typeface="Cambria" pitchFamily="34" charset="-122"/>
                <a:cs typeface="Cambria" pitchFamily="34" charset="-120"/>
              </a:rPr>
              <a:t>Goals are declared. Behaviour is derived.</a:t>
            </a:r>
            <a:endParaRPr lang="en-US" sz="3200" dirty="0"/>
          </a:p>
        </p:txBody>
      </p:sp>
      <p:sp>
        <p:nvSpPr>
          <p:cNvPr id="3" name="Shape 1"/>
          <p:cNvSpPr/>
          <p:nvPr/>
        </p:nvSpPr>
        <p:spPr>
          <a:xfrm>
            <a:off x="548640" y="1371600"/>
            <a:ext cx="2468880" cy="685800"/>
          </a:xfrm>
          <a:prstGeom prst="roundRect">
            <a:avLst>
              <a:gd name="adj" fmla="val 13333"/>
            </a:avLst>
          </a:prstGeom>
          <a:solidFill>
            <a:srgbClr val="24354D"/>
          </a:solidFill>
          <a:ln/>
        </p:spPr>
      </p:sp>
      <p:sp>
        <p:nvSpPr>
          <p:cNvPr id="4" name="Text 2"/>
          <p:cNvSpPr/>
          <p:nvPr/>
        </p:nvSpPr>
        <p:spPr>
          <a:xfrm>
            <a:off x="621792" y="1463040"/>
            <a:ext cx="2322576" cy="502920"/>
          </a:xfrm>
          <a:prstGeom prst="rect">
            <a:avLst/>
          </a:prstGeom>
          <a:noFill/>
          <a:ln/>
        </p:spPr>
        <p:txBody>
          <a:bodyPr wrap="square" lIns="0" tIns="0" rIns="0" bIns="0" rtlCol="0" anchor="ctr"/>
          <a:lstStyle/>
          <a:p>
            <a:pPr algn="ctr" indent="0" marL="0">
              <a:buNone/>
            </a:pPr>
            <a:r>
              <a:rPr lang="en-US" sz="1400" b="1" dirty="0">
                <a:solidFill>
                  <a:srgbClr val="F4F7FB"/>
                </a:solidFill>
                <a:latin typeface="Calibri" pitchFamily="34" charset="0"/>
                <a:ea typeface="Calibri" pitchFamily="34" charset="-122"/>
                <a:cs typeface="Calibri" pitchFamily="34" charset="-120"/>
              </a:rPr>
              <a:t>Discretised state</a:t>
            </a:r>
            <a:endParaRPr lang="en-US" sz="1400" dirty="0"/>
          </a:p>
        </p:txBody>
      </p:sp>
      <p:sp>
        <p:nvSpPr>
          <p:cNvPr id="5" name="Shape 3"/>
          <p:cNvSpPr/>
          <p:nvPr/>
        </p:nvSpPr>
        <p:spPr>
          <a:xfrm>
            <a:off x="3044952" y="1572768"/>
            <a:ext cx="365760" cy="274320"/>
          </a:xfrm>
          <a:prstGeom prst="rightArrow">
            <a:avLst/>
          </a:prstGeom>
          <a:solidFill>
            <a:srgbClr val="F5A623"/>
          </a:solidFill>
          <a:ln/>
        </p:spPr>
      </p:sp>
      <p:sp>
        <p:nvSpPr>
          <p:cNvPr id="6" name="Shape 4"/>
          <p:cNvSpPr/>
          <p:nvPr/>
        </p:nvSpPr>
        <p:spPr>
          <a:xfrm>
            <a:off x="3429000" y="1371600"/>
            <a:ext cx="2468880" cy="685800"/>
          </a:xfrm>
          <a:prstGeom prst="roundRect">
            <a:avLst>
              <a:gd name="adj" fmla="val 13333"/>
            </a:avLst>
          </a:prstGeom>
          <a:solidFill>
            <a:srgbClr val="24354D"/>
          </a:solidFill>
          <a:ln/>
        </p:spPr>
      </p:sp>
      <p:sp>
        <p:nvSpPr>
          <p:cNvPr id="7" name="Text 5"/>
          <p:cNvSpPr/>
          <p:nvPr/>
        </p:nvSpPr>
        <p:spPr>
          <a:xfrm>
            <a:off x="3502152" y="1463040"/>
            <a:ext cx="2322576" cy="502920"/>
          </a:xfrm>
          <a:prstGeom prst="rect">
            <a:avLst/>
          </a:prstGeom>
          <a:noFill/>
          <a:ln/>
        </p:spPr>
        <p:txBody>
          <a:bodyPr wrap="square" lIns="0" tIns="0" rIns="0" bIns="0" rtlCol="0" anchor="ctr"/>
          <a:lstStyle/>
          <a:p>
            <a:pPr algn="ctr" indent="0" marL="0">
              <a:buNone/>
            </a:pPr>
            <a:r>
              <a:rPr lang="en-US" sz="1400" b="1" dirty="0">
                <a:solidFill>
                  <a:srgbClr val="F4F7FB"/>
                </a:solidFill>
                <a:latin typeface="Calibri" pitchFamily="34" charset="0"/>
                <a:ea typeface="Calibri" pitchFamily="34" charset="-122"/>
                <a:cs typeface="Calibri" pitchFamily="34" charset="-120"/>
              </a:rPr>
              <a:t>PDDL problem</a:t>
            </a:r>
            <a:endParaRPr lang="en-US" sz="1400" dirty="0"/>
          </a:p>
        </p:txBody>
      </p:sp>
      <p:sp>
        <p:nvSpPr>
          <p:cNvPr id="8" name="Shape 6"/>
          <p:cNvSpPr/>
          <p:nvPr/>
        </p:nvSpPr>
        <p:spPr>
          <a:xfrm>
            <a:off x="5925312" y="1572768"/>
            <a:ext cx="365760" cy="274320"/>
          </a:xfrm>
          <a:prstGeom prst="rightArrow">
            <a:avLst/>
          </a:prstGeom>
          <a:solidFill>
            <a:srgbClr val="F5A623"/>
          </a:solidFill>
          <a:ln/>
        </p:spPr>
      </p:sp>
      <p:sp>
        <p:nvSpPr>
          <p:cNvPr id="9" name="Shape 7"/>
          <p:cNvSpPr/>
          <p:nvPr/>
        </p:nvSpPr>
        <p:spPr>
          <a:xfrm>
            <a:off x="6309360" y="1371600"/>
            <a:ext cx="2468880" cy="685800"/>
          </a:xfrm>
          <a:prstGeom prst="roundRect">
            <a:avLst>
              <a:gd name="adj" fmla="val 13333"/>
            </a:avLst>
          </a:prstGeom>
          <a:solidFill>
            <a:srgbClr val="24354D"/>
          </a:solidFill>
          <a:ln/>
        </p:spPr>
      </p:sp>
      <p:sp>
        <p:nvSpPr>
          <p:cNvPr id="10" name="Text 8"/>
          <p:cNvSpPr/>
          <p:nvPr/>
        </p:nvSpPr>
        <p:spPr>
          <a:xfrm>
            <a:off x="6382512" y="1463040"/>
            <a:ext cx="2322576" cy="502920"/>
          </a:xfrm>
          <a:prstGeom prst="rect">
            <a:avLst/>
          </a:prstGeom>
          <a:noFill/>
          <a:ln/>
        </p:spPr>
        <p:txBody>
          <a:bodyPr wrap="square" lIns="0" tIns="0" rIns="0" bIns="0" rtlCol="0" anchor="ctr"/>
          <a:lstStyle/>
          <a:p>
            <a:pPr algn="ctr" indent="0" marL="0">
              <a:buNone/>
            </a:pPr>
            <a:r>
              <a:rPr lang="en-US" sz="1400" b="1" dirty="0">
                <a:solidFill>
                  <a:srgbClr val="F4F7FB"/>
                </a:solidFill>
                <a:latin typeface="Calibri" pitchFamily="34" charset="0"/>
                <a:ea typeface="Calibri" pitchFamily="34" charset="-122"/>
                <a:cs typeface="Calibri" pitchFamily="34" charset="-120"/>
              </a:rPr>
              <a:t>Fast Downward</a:t>
            </a:r>
            <a:endParaRPr lang="en-US" sz="1400" dirty="0"/>
          </a:p>
        </p:txBody>
      </p:sp>
      <p:sp>
        <p:nvSpPr>
          <p:cNvPr id="11" name="Shape 9"/>
          <p:cNvSpPr/>
          <p:nvPr/>
        </p:nvSpPr>
        <p:spPr>
          <a:xfrm>
            <a:off x="8805672" y="1572768"/>
            <a:ext cx="365760" cy="274320"/>
          </a:xfrm>
          <a:prstGeom prst="rightArrow">
            <a:avLst/>
          </a:prstGeom>
          <a:solidFill>
            <a:srgbClr val="F5A623"/>
          </a:solidFill>
          <a:ln/>
        </p:spPr>
      </p:sp>
      <p:sp>
        <p:nvSpPr>
          <p:cNvPr id="12" name="Shape 10"/>
          <p:cNvSpPr/>
          <p:nvPr/>
        </p:nvSpPr>
        <p:spPr>
          <a:xfrm>
            <a:off x="9189720" y="1371600"/>
            <a:ext cx="2468880" cy="685800"/>
          </a:xfrm>
          <a:prstGeom prst="roundRect">
            <a:avLst>
              <a:gd name="adj" fmla="val 13333"/>
            </a:avLst>
          </a:prstGeom>
          <a:solidFill>
            <a:srgbClr val="24354D"/>
          </a:solidFill>
          <a:ln/>
        </p:spPr>
      </p:sp>
      <p:sp>
        <p:nvSpPr>
          <p:cNvPr id="13" name="Text 11"/>
          <p:cNvSpPr/>
          <p:nvPr/>
        </p:nvSpPr>
        <p:spPr>
          <a:xfrm>
            <a:off x="9262872" y="1463040"/>
            <a:ext cx="2322576" cy="502920"/>
          </a:xfrm>
          <a:prstGeom prst="rect">
            <a:avLst/>
          </a:prstGeom>
          <a:noFill/>
          <a:ln/>
        </p:spPr>
        <p:txBody>
          <a:bodyPr wrap="square" lIns="0" tIns="0" rIns="0" bIns="0" rtlCol="0" anchor="ctr"/>
          <a:lstStyle/>
          <a:p>
            <a:pPr algn="ctr" indent="0" marL="0">
              <a:buNone/>
            </a:pPr>
            <a:r>
              <a:rPr lang="en-US" sz="1400" b="1" dirty="0">
                <a:solidFill>
                  <a:srgbClr val="F4F7FB"/>
                </a:solidFill>
                <a:latin typeface="Calibri" pitchFamily="34" charset="0"/>
                <a:ea typeface="Calibri" pitchFamily="34" charset="-122"/>
                <a:cs typeface="Calibri" pitchFamily="34" charset="-120"/>
              </a:rPr>
              <a:t>Optimal plan</a:t>
            </a:r>
            <a:endParaRPr lang="en-US" sz="1400" dirty="0"/>
          </a:p>
        </p:txBody>
      </p:sp>
      <p:sp>
        <p:nvSpPr>
          <p:cNvPr id="14" name="Text 12"/>
          <p:cNvSpPr/>
          <p:nvPr/>
        </p:nvSpPr>
        <p:spPr>
          <a:xfrm>
            <a:off x="548640" y="2148840"/>
            <a:ext cx="11064240" cy="365760"/>
          </a:xfrm>
          <a:prstGeom prst="rect">
            <a:avLst/>
          </a:prstGeom>
          <a:noFill/>
          <a:ln/>
        </p:spPr>
        <p:txBody>
          <a:bodyPr wrap="square" lIns="0" tIns="0" rIns="0" bIns="0" rtlCol="0" anchor="ctr"/>
          <a:lstStyle/>
          <a:p>
            <a:pPr algn="ctr" indent="0" marL="0">
              <a:buNone/>
            </a:pPr>
            <a:r>
              <a:rPr lang="en-US" sz="1150" i="1" dirty="0">
                <a:solidFill>
                  <a:srgbClr val="9DB2C7"/>
                </a:solidFill>
                <a:latin typeface="Calibri" pitchFamily="34" charset="0"/>
                <a:ea typeface="Calibri" pitchFamily="34" charset="-122"/>
                <a:cs typeface="Calibri" pitchFamily="34" charset="-120"/>
              </a:rPr>
              <a:t>occupied · dark · CO₂ high · 5 °C outside      goals + weather-based action costs      A* + LM-Cut, ~130 ms on the Pi</a:t>
            </a:r>
            <a:endParaRPr lang="en-US" sz="1150" dirty="0"/>
          </a:p>
        </p:txBody>
      </p:sp>
      <p:sp>
        <p:nvSpPr>
          <p:cNvPr id="15" name="Text 13"/>
          <p:cNvSpPr/>
          <p:nvPr/>
        </p:nvSpPr>
        <p:spPr>
          <a:xfrm>
            <a:off x="548640" y="2788920"/>
            <a:ext cx="11064240" cy="411480"/>
          </a:xfrm>
          <a:prstGeom prst="rect">
            <a:avLst/>
          </a:prstGeom>
          <a:noFill/>
          <a:ln/>
        </p:spPr>
        <p:txBody>
          <a:bodyPr wrap="square" lIns="0" tIns="0" rIns="0" bIns="0" rtlCol="0" anchor="ctr"/>
          <a:lstStyle/>
          <a:p>
            <a:pPr indent="0" marL="0">
              <a:buNone/>
            </a:pPr>
            <a:r>
              <a:rPr lang="en-US" sz="1800" b="1" dirty="0">
                <a:solidFill>
                  <a:srgbClr val="F4F7FB"/>
                </a:solidFill>
                <a:latin typeface="Cambria" pitchFamily="34" charset="0"/>
                <a:ea typeface="Cambria" pitchFamily="34" charset="-122"/>
                <a:cs typeface="Cambria" pitchFamily="34" charset="-120"/>
              </a:rPr>
              <a:t>Same CO₂ problem, different weather, different optimal plan:</a:t>
            </a:r>
            <a:endParaRPr lang="en-US" sz="1800" dirty="0"/>
          </a:p>
        </p:txBody>
      </p:sp>
      <p:sp>
        <p:nvSpPr>
          <p:cNvPr id="16" name="Shape 14"/>
          <p:cNvSpPr/>
          <p:nvPr/>
        </p:nvSpPr>
        <p:spPr>
          <a:xfrm>
            <a:off x="548640" y="3337560"/>
            <a:ext cx="5486400" cy="2286000"/>
          </a:xfrm>
          <a:prstGeom prst="roundRect">
            <a:avLst>
              <a:gd name="adj" fmla="val 4800"/>
            </a:avLst>
          </a:prstGeom>
          <a:solidFill>
            <a:srgbClr val="1B2A3F"/>
          </a:solidFill>
          <a:ln w="15875">
            <a:solidFill>
              <a:srgbClr val="6FB7E8"/>
            </a:solidFill>
            <a:prstDash val="solid"/>
          </a:ln>
        </p:spPr>
      </p:sp>
      <p:sp>
        <p:nvSpPr>
          <p:cNvPr id="17" name="Text 15"/>
          <p:cNvSpPr/>
          <p:nvPr/>
        </p:nvSpPr>
        <p:spPr>
          <a:xfrm>
            <a:off x="822960" y="3520440"/>
            <a:ext cx="4937760" cy="365760"/>
          </a:xfrm>
          <a:prstGeom prst="rect">
            <a:avLst/>
          </a:prstGeom>
          <a:noFill/>
          <a:ln/>
        </p:spPr>
        <p:txBody>
          <a:bodyPr wrap="square" lIns="0" tIns="0" rIns="0" bIns="0" rtlCol="0" anchor="ctr"/>
          <a:lstStyle/>
          <a:p>
            <a:pPr indent="0" marL="0">
              <a:buNone/>
            </a:pPr>
            <a:r>
              <a:rPr lang="en-US" sz="1600" b="1" dirty="0">
                <a:solidFill>
                  <a:srgbClr val="6FB7E8"/>
                </a:solidFill>
                <a:latin typeface="Cambria" pitchFamily="34" charset="0"/>
                <a:ea typeface="Cambria" pitchFamily="34" charset="-122"/>
                <a:cs typeface="Cambria" pitchFamily="34" charset="-120"/>
              </a:rPr>
              <a:t>Cold day · 5 °C outside</a:t>
            </a:r>
            <a:endParaRPr lang="en-US" sz="1600" dirty="0"/>
          </a:p>
        </p:txBody>
      </p:sp>
      <p:sp>
        <p:nvSpPr>
          <p:cNvPr id="18" name="Text 16"/>
          <p:cNvSpPr/>
          <p:nvPr/>
        </p:nvSpPr>
        <p:spPr>
          <a:xfrm>
            <a:off x="822960" y="3931920"/>
            <a:ext cx="4937760" cy="365760"/>
          </a:xfrm>
          <a:prstGeom prst="rect">
            <a:avLst/>
          </a:prstGeom>
          <a:noFill/>
          <a:ln/>
        </p:spPr>
        <p:txBody>
          <a:bodyPr wrap="square" lIns="0" tIns="0" rIns="0" bIns="0" rtlCol="0" anchor="ctr"/>
          <a:lstStyle/>
          <a:p>
            <a:pPr indent="0" marL="0">
              <a:buNone/>
            </a:pPr>
            <a:r>
              <a:rPr lang="en-US" sz="1250" dirty="0">
                <a:solidFill>
                  <a:srgbClr val="9DB2C7"/>
                </a:solidFill>
                <a:latin typeface="Calibri" pitchFamily="34" charset="0"/>
                <a:ea typeface="Calibri" pitchFamily="34" charset="-122"/>
                <a:cs typeface="Calibri" pitchFamily="34" charset="-120"/>
              </a:rPr>
              <a:t>full airing would waste heating energy (cost 12)</a:t>
            </a:r>
            <a:endParaRPr lang="en-US" sz="1250" dirty="0"/>
          </a:p>
        </p:txBody>
      </p:sp>
      <p:sp>
        <p:nvSpPr>
          <p:cNvPr id="19" name="Text 17"/>
          <p:cNvSpPr/>
          <p:nvPr/>
        </p:nvSpPr>
        <p:spPr>
          <a:xfrm>
            <a:off x="822960" y="4434840"/>
            <a:ext cx="4937760" cy="457200"/>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Plan: two short pulse airings · cost 6</a:t>
            </a:r>
            <a:endParaRPr lang="en-US" sz="1600" dirty="0"/>
          </a:p>
        </p:txBody>
      </p:sp>
      <p:sp>
        <p:nvSpPr>
          <p:cNvPr id="20" name="Text 18"/>
          <p:cNvSpPr/>
          <p:nvPr/>
        </p:nvSpPr>
        <p:spPr>
          <a:xfrm>
            <a:off x="822960" y="4983480"/>
            <a:ext cx="4937760" cy="457200"/>
          </a:xfrm>
          <a:prstGeom prst="rect">
            <a:avLst/>
          </a:prstGeom>
          <a:noFill/>
          <a:ln/>
        </p:spPr>
        <p:txBody>
          <a:bodyPr wrap="square" lIns="0" tIns="0" rIns="0" bIns="0" rtlCol="0" anchor="ctr"/>
          <a:lstStyle/>
          <a:p>
            <a:pPr indent="0" marL="0">
              <a:buNone/>
            </a:pPr>
            <a:r>
              <a:rPr lang="en-US" sz="1250" i="1" dirty="0">
                <a:solidFill>
                  <a:srgbClr val="F5A623"/>
                </a:solidFill>
                <a:latin typeface="Calibri" pitchFamily="34" charset="0"/>
                <a:ea typeface="Calibri" pitchFamily="34" charset="-122"/>
                <a:cs typeface="Calibri" pitchFamily="34" charset="-120"/>
              </a:rPr>
              <a:t>the classic winter-airing advice, never programmed as a rule</a:t>
            </a:r>
            <a:endParaRPr lang="en-US" sz="1250" dirty="0"/>
          </a:p>
        </p:txBody>
      </p:sp>
      <p:sp>
        <p:nvSpPr>
          <p:cNvPr id="21" name="Shape 19"/>
          <p:cNvSpPr/>
          <p:nvPr/>
        </p:nvSpPr>
        <p:spPr>
          <a:xfrm>
            <a:off x="6263640" y="3337560"/>
            <a:ext cx="5486400" cy="2286000"/>
          </a:xfrm>
          <a:prstGeom prst="roundRect">
            <a:avLst>
              <a:gd name="adj" fmla="val 4800"/>
            </a:avLst>
          </a:prstGeom>
          <a:solidFill>
            <a:srgbClr val="1B2A3F"/>
          </a:solidFill>
          <a:ln w="15875">
            <a:solidFill>
              <a:srgbClr val="F0655A"/>
            </a:solidFill>
            <a:prstDash val="solid"/>
          </a:ln>
        </p:spPr>
      </p:sp>
      <p:sp>
        <p:nvSpPr>
          <p:cNvPr id="22" name="Text 20"/>
          <p:cNvSpPr/>
          <p:nvPr/>
        </p:nvSpPr>
        <p:spPr>
          <a:xfrm>
            <a:off x="6537960" y="3520440"/>
            <a:ext cx="4937760" cy="365760"/>
          </a:xfrm>
          <a:prstGeom prst="rect">
            <a:avLst/>
          </a:prstGeom>
          <a:noFill/>
          <a:ln/>
        </p:spPr>
        <p:txBody>
          <a:bodyPr wrap="square" lIns="0" tIns="0" rIns="0" bIns="0" rtlCol="0" anchor="ctr"/>
          <a:lstStyle/>
          <a:p>
            <a:pPr indent="0" marL="0">
              <a:buNone/>
            </a:pPr>
            <a:r>
              <a:rPr lang="en-US" sz="1600" b="1" dirty="0">
                <a:solidFill>
                  <a:srgbClr val="F0655A"/>
                </a:solidFill>
                <a:latin typeface="Cambria" pitchFamily="34" charset="0"/>
                <a:ea typeface="Cambria" pitchFamily="34" charset="-122"/>
                <a:cs typeface="Cambria" pitchFamily="34" charset="-120"/>
              </a:rPr>
              <a:t>Hot day · 29 °C outside</a:t>
            </a:r>
            <a:endParaRPr lang="en-US" sz="1600" dirty="0"/>
          </a:p>
        </p:txBody>
      </p:sp>
      <p:sp>
        <p:nvSpPr>
          <p:cNvPr id="23" name="Text 21"/>
          <p:cNvSpPr/>
          <p:nvPr/>
        </p:nvSpPr>
        <p:spPr>
          <a:xfrm>
            <a:off x="6537960" y="3931920"/>
            <a:ext cx="4937760" cy="365760"/>
          </a:xfrm>
          <a:prstGeom prst="rect">
            <a:avLst/>
          </a:prstGeom>
          <a:noFill/>
          <a:ln/>
        </p:spPr>
        <p:txBody>
          <a:bodyPr wrap="square" lIns="0" tIns="0" rIns="0" bIns="0" rtlCol="0" anchor="ctr"/>
          <a:lstStyle/>
          <a:p>
            <a:pPr indent="0" marL="0">
              <a:buNone/>
            </a:pPr>
            <a:r>
              <a:rPr lang="en-US" sz="1250" dirty="0">
                <a:solidFill>
                  <a:srgbClr val="9DB2C7"/>
                </a:solidFill>
                <a:latin typeface="Calibri" pitchFamily="34" charset="0"/>
                <a:ea typeface="Calibri" pitchFamily="34" charset="-122"/>
                <a:cs typeface="Calibri" pitchFamily="34" charset="-120"/>
              </a:rPr>
              <a:t>no heat loss, one long airing clears the air fastest</a:t>
            </a:r>
            <a:endParaRPr lang="en-US" sz="1250" dirty="0"/>
          </a:p>
        </p:txBody>
      </p:sp>
      <p:sp>
        <p:nvSpPr>
          <p:cNvPr id="24" name="Text 22"/>
          <p:cNvSpPr/>
          <p:nvPr/>
        </p:nvSpPr>
        <p:spPr>
          <a:xfrm>
            <a:off x="6537960" y="4434840"/>
            <a:ext cx="4937760" cy="457200"/>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Plan: one full airing · cost 4</a:t>
            </a:r>
            <a:endParaRPr lang="en-US" sz="1600" dirty="0"/>
          </a:p>
        </p:txBody>
      </p:sp>
      <p:sp>
        <p:nvSpPr>
          <p:cNvPr id="25" name="Text 23"/>
          <p:cNvSpPr/>
          <p:nvPr/>
        </p:nvSpPr>
        <p:spPr>
          <a:xfrm>
            <a:off x="6537960" y="4983480"/>
            <a:ext cx="4937760" cy="457200"/>
          </a:xfrm>
          <a:prstGeom prst="rect">
            <a:avLst/>
          </a:prstGeom>
          <a:noFill/>
          <a:ln/>
        </p:spPr>
        <p:txBody>
          <a:bodyPr wrap="square" lIns="0" tIns="0" rIns="0" bIns="0" rtlCol="0" anchor="ctr"/>
          <a:lstStyle/>
          <a:p>
            <a:pPr indent="0" marL="0">
              <a:buNone/>
            </a:pPr>
            <a:r>
              <a:rPr lang="en-US" sz="1250" i="1" dirty="0">
                <a:solidFill>
                  <a:srgbClr val="F5A623"/>
                </a:solidFill>
                <a:latin typeface="Calibri" pitchFamily="34" charset="0"/>
                <a:ea typeface="Calibri" pitchFamily="34" charset="-122"/>
                <a:cs typeface="Calibri" pitchFamily="34" charset="-120"/>
              </a:rPr>
              <a:t>costs come from live weather via a heat-loss model</a:t>
            </a:r>
            <a:endParaRPr lang="en-US" sz="1250" dirty="0"/>
          </a:p>
        </p:txBody>
      </p:sp>
      <p:sp>
        <p:nvSpPr>
          <p:cNvPr id="26" name="Text 24"/>
          <p:cNvSpPr/>
          <p:nvPr/>
        </p:nvSpPr>
        <p:spPr>
          <a:xfrm>
            <a:off x="548640" y="5943600"/>
            <a:ext cx="11064240" cy="457200"/>
          </a:xfrm>
          <a:prstGeom prst="rect">
            <a:avLst/>
          </a:prstGeom>
          <a:noFill/>
          <a:ln/>
        </p:spPr>
        <p:txBody>
          <a:bodyPr wrap="square" lIns="0" tIns="0" rIns="0" bIns="0" rtlCol="0" anchor="ctr"/>
          <a:lstStyle/>
          <a:p>
            <a:pPr algn="ctr" indent="0" marL="0">
              <a:buNone/>
            </a:pPr>
            <a:r>
              <a:rPr lang="en-US" sz="1300" dirty="0">
                <a:solidFill>
                  <a:srgbClr val="9DB2C7"/>
                </a:solidFill>
                <a:latin typeface="Calibri" pitchFamily="34" charset="0"/>
                <a:ea typeface="Calibri" pitchFamily="34" charset="-122"/>
                <a:cs typeface="Calibri" pitchFamily="34" charset="-120"/>
              </a:rPr>
              <a:t>Classical PDDL planning with action costs. The generator writes the goals, the planner finds the cheapest way.</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B2D"/>
        </a:solidFill>
      </p:bgPr>
    </p:bg>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rgbClr val="F4F7FB"/>
                </a:solidFill>
                <a:latin typeface="Cambria" pitchFamily="34" charset="0"/>
                <a:ea typeface="Cambria" pitchFamily="34" charset="-122"/>
                <a:cs typeface="Cambria" pitchFamily="34" charset="-120"/>
              </a:rPr>
              <a:t>Live demo: what you will see</a:t>
            </a:r>
            <a:endParaRPr lang="en-US" sz="3200" dirty="0"/>
          </a:p>
        </p:txBody>
      </p:sp>
      <p:sp>
        <p:nvSpPr>
          <p:cNvPr id="3" name="Shape 1"/>
          <p:cNvSpPr/>
          <p:nvPr/>
        </p:nvSpPr>
        <p:spPr>
          <a:xfrm>
            <a:off x="548640" y="1417320"/>
            <a:ext cx="5440680" cy="1417320"/>
          </a:xfrm>
          <a:prstGeom prst="roundRect">
            <a:avLst>
              <a:gd name="adj" fmla="val 7742"/>
            </a:avLst>
          </a:prstGeom>
          <a:solidFill>
            <a:srgbClr val="1B2A3F"/>
          </a:solidFill>
          <a:ln/>
        </p:spPr>
      </p:sp>
      <p:sp>
        <p:nvSpPr>
          <p:cNvPr id="4" name="Shape 2"/>
          <p:cNvSpPr/>
          <p:nvPr/>
        </p:nvSpPr>
        <p:spPr>
          <a:xfrm>
            <a:off x="749808" y="1801368"/>
            <a:ext cx="640080" cy="640080"/>
          </a:xfrm>
          <a:prstGeom prst="ellipse">
            <a:avLst/>
          </a:prstGeom>
          <a:solidFill>
            <a:srgbClr val="3FB950"/>
          </a:solidFill>
          <a:ln/>
        </p:spPr>
      </p:sp>
      <p:sp>
        <p:nvSpPr>
          <p:cNvPr id="5" name="Text 3"/>
          <p:cNvSpPr/>
          <p:nvPr/>
        </p:nvSpPr>
        <p:spPr>
          <a:xfrm>
            <a:off x="749808" y="1801368"/>
            <a:ext cx="640080" cy="640080"/>
          </a:xfrm>
          <a:prstGeom prst="rect">
            <a:avLst/>
          </a:prstGeom>
          <a:noFill/>
          <a:ln/>
        </p:spPr>
        <p:txBody>
          <a:bodyPr wrap="square" lIns="0" tIns="0" rIns="0" bIns="0" rtlCol="0" anchor="ctr"/>
          <a:lstStyle/>
          <a:p>
            <a:pPr algn="ctr" indent="0" marL="0">
              <a:buNone/>
            </a:pPr>
            <a:r>
              <a:rPr lang="en-US" sz="2000" b="1" dirty="0">
                <a:solidFill>
                  <a:srgbClr val="0F1B2D"/>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554480" y="1581912"/>
            <a:ext cx="4297680" cy="411480"/>
          </a:xfrm>
          <a:prstGeom prst="rect">
            <a:avLst/>
          </a:prstGeom>
          <a:noFill/>
          <a:ln/>
        </p:spPr>
        <p:txBody>
          <a:bodyPr wrap="square" lIns="0" tIns="0" rIns="0" bIns="0" rtlCol="0" anchor="ctr"/>
          <a:lstStyle/>
          <a:p>
            <a:pPr indent="0" marL="0">
              <a:buNone/>
            </a:pPr>
            <a:r>
              <a:rPr lang="en-US" sz="1600" b="1" dirty="0">
                <a:solidFill>
                  <a:srgbClr val="F4F7FB"/>
                </a:solidFill>
                <a:latin typeface="Cambria" pitchFamily="34" charset="0"/>
                <a:ea typeface="Cambria" pitchFamily="34" charset="-122"/>
                <a:cs typeface="Cambria" pitchFamily="34" charset="-120"/>
              </a:rPr>
              <a:t>Sit down</a:t>
            </a:r>
            <a:endParaRPr lang="en-US" sz="1600" dirty="0"/>
          </a:p>
        </p:txBody>
      </p:sp>
      <p:sp>
        <p:nvSpPr>
          <p:cNvPr id="7" name="Text 5"/>
          <p:cNvSpPr/>
          <p:nvPr/>
        </p:nvSpPr>
        <p:spPr>
          <a:xfrm>
            <a:off x="1554480" y="2020824"/>
            <a:ext cx="4297680" cy="731520"/>
          </a:xfrm>
          <a:prstGeom prst="rect">
            <a:avLst/>
          </a:prstGeom>
          <a:noFill/>
          <a:ln/>
        </p:spPr>
        <p:txBody>
          <a:bodyPr wrap="square" lIns="0" tIns="0" rIns="0" bIns="0" rtlCol="0" anchor="ctr"/>
          <a:lstStyle/>
          <a:p>
            <a:pPr indent="0" marL="0">
              <a:buNone/>
            </a:pPr>
            <a:r>
              <a:rPr lang="en-US" sz="1250" dirty="0">
                <a:solidFill>
                  <a:srgbClr val="9DB2C7"/>
                </a:solidFill>
                <a:latin typeface="Calibri" pitchFamily="34" charset="0"/>
                <a:ea typeface="Calibri" pitchFamily="34" charset="-122"/>
                <a:cs typeface="Calibri" pitchFamily="34" charset="-120"/>
              </a:rPr>
              <a:t>occupancy detected, session starts, lamp reacts to darkness</a:t>
            </a:r>
            <a:endParaRPr lang="en-US" sz="1250" dirty="0"/>
          </a:p>
        </p:txBody>
      </p:sp>
      <p:sp>
        <p:nvSpPr>
          <p:cNvPr id="8" name="Shape 6"/>
          <p:cNvSpPr/>
          <p:nvPr/>
        </p:nvSpPr>
        <p:spPr>
          <a:xfrm>
            <a:off x="6263640" y="1417320"/>
            <a:ext cx="5440680" cy="1417320"/>
          </a:xfrm>
          <a:prstGeom prst="roundRect">
            <a:avLst>
              <a:gd name="adj" fmla="val 7742"/>
            </a:avLst>
          </a:prstGeom>
          <a:solidFill>
            <a:srgbClr val="1B2A3F"/>
          </a:solidFill>
          <a:ln/>
        </p:spPr>
      </p:sp>
      <p:sp>
        <p:nvSpPr>
          <p:cNvPr id="9" name="Shape 7"/>
          <p:cNvSpPr/>
          <p:nvPr/>
        </p:nvSpPr>
        <p:spPr>
          <a:xfrm>
            <a:off x="6464808" y="1801368"/>
            <a:ext cx="640080" cy="640080"/>
          </a:xfrm>
          <a:prstGeom prst="ellipse">
            <a:avLst/>
          </a:prstGeom>
          <a:solidFill>
            <a:srgbClr val="F5A623"/>
          </a:solidFill>
          <a:ln/>
        </p:spPr>
      </p:sp>
      <p:sp>
        <p:nvSpPr>
          <p:cNvPr id="10" name="Text 8"/>
          <p:cNvSpPr/>
          <p:nvPr/>
        </p:nvSpPr>
        <p:spPr>
          <a:xfrm>
            <a:off x="6464808" y="1801368"/>
            <a:ext cx="640080" cy="640080"/>
          </a:xfrm>
          <a:prstGeom prst="rect">
            <a:avLst/>
          </a:prstGeom>
          <a:noFill/>
          <a:ln/>
        </p:spPr>
        <p:txBody>
          <a:bodyPr wrap="square" lIns="0" tIns="0" rIns="0" bIns="0" rtlCol="0" anchor="ctr"/>
          <a:lstStyle/>
          <a:p>
            <a:pPr algn="ctr" indent="0" marL="0">
              <a:buNone/>
            </a:pPr>
            <a:r>
              <a:rPr lang="en-US" sz="2000" b="1" dirty="0">
                <a:solidFill>
                  <a:srgbClr val="0F1B2D"/>
                </a:solidFill>
                <a:latin typeface="Cambria" pitchFamily="34" charset="0"/>
                <a:ea typeface="Cambria" pitchFamily="34" charset="-122"/>
                <a:cs typeface="Cambria" pitchFamily="34" charset="-120"/>
              </a:rPr>
              <a:t>2</a:t>
            </a:r>
            <a:endParaRPr lang="en-US" sz="2000" dirty="0"/>
          </a:p>
        </p:txBody>
      </p:sp>
      <p:sp>
        <p:nvSpPr>
          <p:cNvPr id="11" name="Text 9"/>
          <p:cNvSpPr/>
          <p:nvPr/>
        </p:nvSpPr>
        <p:spPr>
          <a:xfrm>
            <a:off x="7269480" y="1581912"/>
            <a:ext cx="4297680" cy="411480"/>
          </a:xfrm>
          <a:prstGeom prst="rect">
            <a:avLst/>
          </a:prstGeom>
          <a:noFill/>
          <a:ln/>
        </p:spPr>
        <p:txBody>
          <a:bodyPr wrap="square" lIns="0" tIns="0" rIns="0" bIns="0" rtlCol="0" anchor="ctr"/>
          <a:lstStyle/>
          <a:p>
            <a:pPr indent="0" marL="0">
              <a:buNone/>
            </a:pPr>
            <a:r>
              <a:rPr lang="en-US" sz="1600" b="1" dirty="0">
                <a:solidFill>
                  <a:srgbClr val="F4F7FB"/>
                </a:solidFill>
                <a:latin typeface="Cambria" pitchFamily="34" charset="0"/>
                <a:ea typeface="Cambria" pitchFamily="34" charset="-122"/>
                <a:cs typeface="Cambria" pitchFamily="34" charset="-120"/>
              </a:rPr>
              <a:t>Sabotage the lamp</a:t>
            </a:r>
            <a:endParaRPr lang="en-US" sz="1600" dirty="0"/>
          </a:p>
        </p:txBody>
      </p:sp>
      <p:sp>
        <p:nvSpPr>
          <p:cNvPr id="12" name="Text 10"/>
          <p:cNvSpPr/>
          <p:nvPr/>
        </p:nvSpPr>
        <p:spPr>
          <a:xfrm>
            <a:off x="7269480" y="2020824"/>
            <a:ext cx="4297680" cy="731520"/>
          </a:xfrm>
          <a:prstGeom prst="rect">
            <a:avLst/>
          </a:prstGeom>
          <a:noFill/>
          <a:ln/>
        </p:spPr>
        <p:txBody>
          <a:bodyPr wrap="square" lIns="0" tIns="0" rIns="0" bIns="0" rtlCol="0" anchor="ctr"/>
          <a:lstStyle/>
          <a:p>
            <a:pPr indent="0" marL="0">
              <a:buNone/>
            </a:pPr>
            <a:r>
              <a:rPr lang="en-US" sz="1250" dirty="0">
                <a:solidFill>
                  <a:srgbClr val="9DB2C7"/>
                </a:solidFill>
                <a:latin typeface="Calibri" pitchFamily="34" charset="0"/>
                <a:ea typeface="Calibri" pitchFamily="34" charset="-122"/>
                <a:cs typeface="Calibri" pitchFamily="34" charset="-120"/>
              </a:rPr>
              <a:t>we switch it off by hand: re-planned and re-lit in under 1 s</a:t>
            </a:r>
            <a:endParaRPr lang="en-US" sz="1250" dirty="0"/>
          </a:p>
        </p:txBody>
      </p:sp>
      <p:sp>
        <p:nvSpPr>
          <p:cNvPr id="13" name="Shape 11"/>
          <p:cNvSpPr/>
          <p:nvPr/>
        </p:nvSpPr>
        <p:spPr>
          <a:xfrm>
            <a:off x="548640" y="3017520"/>
            <a:ext cx="5440680" cy="1417320"/>
          </a:xfrm>
          <a:prstGeom prst="roundRect">
            <a:avLst>
              <a:gd name="adj" fmla="val 7742"/>
            </a:avLst>
          </a:prstGeom>
          <a:solidFill>
            <a:srgbClr val="1B2A3F"/>
          </a:solidFill>
          <a:ln/>
        </p:spPr>
      </p:sp>
      <p:sp>
        <p:nvSpPr>
          <p:cNvPr id="14" name="Shape 12"/>
          <p:cNvSpPr/>
          <p:nvPr/>
        </p:nvSpPr>
        <p:spPr>
          <a:xfrm>
            <a:off x="749808" y="3401568"/>
            <a:ext cx="640080" cy="640080"/>
          </a:xfrm>
          <a:prstGeom prst="ellipse">
            <a:avLst/>
          </a:prstGeom>
          <a:solidFill>
            <a:srgbClr val="6FB7E8"/>
          </a:solidFill>
          <a:ln/>
        </p:spPr>
      </p:sp>
      <p:sp>
        <p:nvSpPr>
          <p:cNvPr id="15" name="Text 13"/>
          <p:cNvSpPr/>
          <p:nvPr/>
        </p:nvSpPr>
        <p:spPr>
          <a:xfrm>
            <a:off x="749808" y="3401568"/>
            <a:ext cx="640080" cy="640080"/>
          </a:xfrm>
          <a:prstGeom prst="rect">
            <a:avLst/>
          </a:prstGeom>
          <a:noFill/>
          <a:ln/>
        </p:spPr>
        <p:txBody>
          <a:bodyPr wrap="square" lIns="0" tIns="0" rIns="0" bIns="0" rtlCol="0" anchor="ctr"/>
          <a:lstStyle/>
          <a:p>
            <a:pPr algn="ctr" indent="0" marL="0">
              <a:buNone/>
            </a:pPr>
            <a:r>
              <a:rPr lang="en-US" sz="2000" b="1" dirty="0">
                <a:solidFill>
                  <a:srgbClr val="0F1B2D"/>
                </a:solidFill>
                <a:latin typeface="Cambria" pitchFamily="34" charset="0"/>
                <a:ea typeface="Cambria" pitchFamily="34" charset="-122"/>
                <a:cs typeface="Cambria" pitchFamily="34" charset="-120"/>
              </a:rPr>
              <a:t>3</a:t>
            </a:r>
            <a:endParaRPr lang="en-US" sz="2000" dirty="0"/>
          </a:p>
        </p:txBody>
      </p:sp>
      <p:sp>
        <p:nvSpPr>
          <p:cNvPr id="16" name="Text 14"/>
          <p:cNvSpPr/>
          <p:nvPr/>
        </p:nvSpPr>
        <p:spPr>
          <a:xfrm>
            <a:off x="1554480" y="3182112"/>
            <a:ext cx="4297680" cy="411480"/>
          </a:xfrm>
          <a:prstGeom prst="rect">
            <a:avLst/>
          </a:prstGeom>
          <a:noFill/>
          <a:ln/>
        </p:spPr>
        <p:txBody>
          <a:bodyPr wrap="square" lIns="0" tIns="0" rIns="0" bIns="0" rtlCol="0" anchor="ctr"/>
          <a:lstStyle/>
          <a:p>
            <a:pPr indent="0" marL="0">
              <a:buNone/>
            </a:pPr>
            <a:r>
              <a:rPr lang="en-US" sz="1600" b="1" dirty="0">
                <a:solidFill>
                  <a:srgbClr val="F4F7FB"/>
                </a:solidFill>
                <a:latin typeface="Cambria" pitchFamily="34" charset="0"/>
                <a:ea typeface="Cambria" pitchFamily="34" charset="-122"/>
                <a:cs typeface="Cambria" pitchFamily="34" charset="-120"/>
              </a:rPr>
              <a:t>Cover the light sensor</a:t>
            </a:r>
            <a:endParaRPr lang="en-US" sz="1600" dirty="0"/>
          </a:p>
        </p:txBody>
      </p:sp>
      <p:sp>
        <p:nvSpPr>
          <p:cNvPr id="17" name="Text 15"/>
          <p:cNvSpPr/>
          <p:nvPr/>
        </p:nvSpPr>
        <p:spPr>
          <a:xfrm>
            <a:off x="1554480" y="3621024"/>
            <a:ext cx="4297680" cy="731520"/>
          </a:xfrm>
          <a:prstGeom prst="rect">
            <a:avLst/>
          </a:prstGeom>
          <a:noFill/>
          <a:ln/>
        </p:spPr>
        <p:txBody>
          <a:bodyPr wrap="square" lIns="0" tIns="0" rIns="0" bIns="0" rtlCol="0" anchor="ctr"/>
          <a:lstStyle/>
          <a:p>
            <a:pPr indent="0" marL="0">
              <a:buNone/>
            </a:pPr>
            <a:r>
              <a:rPr lang="en-US" sz="1250" dirty="0">
                <a:solidFill>
                  <a:srgbClr val="9DB2C7"/>
                </a:solidFill>
                <a:latin typeface="Calibri" pitchFamily="34" charset="0"/>
                <a:ea typeface="Calibri" pitchFamily="34" charset="-122"/>
                <a:cs typeface="Calibri" pitchFamily="34" charset="-120"/>
              </a:rPr>
              <a:t>zone turns dark, planner turns the real lamp on</a:t>
            </a:r>
            <a:endParaRPr lang="en-US" sz="1250" dirty="0"/>
          </a:p>
        </p:txBody>
      </p:sp>
      <p:sp>
        <p:nvSpPr>
          <p:cNvPr id="18" name="Shape 16"/>
          <p:cNvSpPr/>
          <p:nvPr/>
        </p:nvSpPr>
        <p:spPr>
          <a:xfrm>
            <a:off x="6263640" y="3017520"/>
            <a:ext cx="5440680" cy="1417320"/>
          </a:xfrm>
          <a:prstGeom prst="roundRect">
            <a:avLst>
              <a:gd name="adj" fmla="val 7742"/>
            </a:avLst>
          </a:prstGeom>
          <a:solidFill>
            <a:srgbClr val="1B2A3F"/>
          </a:solidFill>
          <a:ln/>
        </p:spPr>
      </p:sp>
      <p:sp>
        <p:nvSpPr>
          <p:cNvPr id="19" name="Shape 17"/>
          <p:cNvSpPr/>
          <p:nvPr/>
        </p:nvSpPr>
        <p:spPr>
          <a:xfrm>
            <a:off x="6464808" y="3401568"/>
            <a:ext cx="640080" cy="640080"/>
          </a:xfrm>
          <a:prstGeom prst="ellipse">
            <a:avLst/>
          </a:prstGeom>
          <a:solidFill>
            <a:srgbClr val="F0655A"/>
          </a:solidFill>
          <a:ln/>
        </p:spPr>
      </p:sp>
      <p:sp>
        <p:nvSpPr>
          <p:cNvPr id="20" name="Text 18"/>
          <p:cNvSpPr/>
          <p:nvPr/>
        </p:nvSpPr>
        <p:spPr>
          <a:xfrm>
            <a:off x="6464808" y="3401568"/>
            <a:ext cx="640080" cy="640080"/>
          </a:xfrm>
          <a:prstGeom prst="rect">
            <a:avLst/>
          </a:prstGeom>
          <a:noFill/>
          <a:ln/>
        </p:spPr>
        <p:txBody>
          <a:bodyPr wrap="square" lIns="0" tIns="0" rIns="0" bIns="0" rtlCol="0" anchor="ctr"/>
          <a:lstStyle/>
          <a:p>
            <a:pPr algn="ctr" indent="0" marL="0">
              <a:buNone/>
            </a:pPr>
            <a:r>
              <a:rPr lang="en-US" sz="2000" b="1" dirty="0">
                <a:solidFill>
                  <a:srgbClr val="0F1B2D"/>
                </a:solidFill>
                <a:latin typeface="Cambria" pitchFamily="34" charset="0"/>
                <a:ea typeface="Cambria" pitchFamily="34" charset="-122"/>
                <a:cs typeface="Cambria" pitchFamily="34" charset="-120"/>
              </a:rPr>
              <a:t>4</a:t>
            </a:r>
            <a:endParaRPr lang="en-US" sz="2000" dirty="0"/>
          </a:p>
        </p:txBody>
      </p:sp>
      <p:sp>
        <p:nvSpPr>
          <p:cNvPr id="21" name="Text 19"/>
          <p:cNvSpPr/>
          <p:nvPr/>
        </p:nvSpPr>
        <p:spPr>
          <a:xfrm>
            <a:off x="7269480" y="3182112"/>
            <a:ext cx="4297680" cy="411480"/>
          </a:xfrm>
          <a:prstGeom prst="rect">
            <a:avLst/>
          </a:prstGeom>
          <a:noFill/>
          <a:ln/>
        </p:spPr>
        <p:txBody>
          <a:bodyPr wrap="square" lIns="0" tIns="0" rIns="0" bIns="0" rtlCol="0" anchor="ctr"/>
          <a:lstStyle/>
          <a:p>
            <a:pPr indent="0" marL="0">
              <a:buNone/>
            </a:pPr>
            <a:r>
              <a:rPr lang="en-US" sz="1600" b="1" dirty="0">
                <a:solidFill>
                  <a:srgbClr val="F4F7FB"/>
                </a:solidFill>
                <a:latin typeface="Cambria" pitchFamily="34" charset="0"/>
                <a:ea typeface="Cambria" pitchFamily="34" charset="-122"/>
                <a:cs typeface="Cambria" pitchFamily="34" charset="-120"/>
              </a:rPr>
              <a:t>Keep focusing</a:t>
            </a:r>
            <a:endParaRPr lang="en-US" sz="1600" dirty="0"/>
          </a:p>
        </p:txBody>
      </p:sp>
      <p:sp>
        <p:nvSpPr>
          <p:cNvPr id="22" name="Text 20"/>
          <p:cNvSpPr/>
          <p:nvPr/>
        </p:nvSpPr>
        <p:spPr>
          <a:xfrm>
            <a:off x="7269480" y="3621024"/>
            <a:ext cx="4297680" cy="731520"/>
          </a:xfrm>
          <a:prstGeom prst="rect">
            <a:avLst/>
          </a:prstGeom>
          <a:noFill/>
          <a:ln/>
        </p:spPr>
        <p:txBody>
          <a:bodyPr wrap="square" lIns="0" tIns="0" rIns="0" bIns="0" rtlCol="0" anchor="ctr"/>
          <a:lstStyle/>
          <a:p>
            <a:pPr indent="0" marL="0">
              <a:buNone/>
            </a:pPr>
            <a:r>
              <a:rPr lang="en-US" sz="1250" dirty="0">
                <a:solidFill>
                  <a:srgbClr val="9DB2C7"/>
                </a:solidFill>
                <a:latin typeface="Calibri" pitchFamily="34" charset="0"/>
                <a:ea typeface="Calibri" pitchFamily="34" charset="-122"/>
                <a:cs typeface="Calibri" pitchFamily="34" charset="-120"/>
              </a:rPr>
              <a:t>after the focus threshold: LED + gentle buzzer suggest a break</a:t>
            </a:r>
            <a:endParaRPr lang="en-US" sz="1250" dirty="0"/>
          </a:p>
        </p:txBody>
      </p:sp>
      <p:sp>
        <p:nvSpPr>
          <p:cNvPr id="23" name="Shape 21"/>
          <p:cNvSpPr/>
          <p:nvPr/>
        </p:nvSpPr>
        <p:spPr>
          <a:xfrm>
            <a:off x="548640" y="4617720"/>
            <a:ext cx="5440680" cy="1417320"/>
          </a:xfrm>
          <a:prstGeom prst="roundRect">
            <a:avLst>
              <a:gd name="adj" fmla="val 7742"/>
            </a:avLst>
          </a:prstGeom>
          <a:solidFill>
            <a:srgbClr val="1B2A3F"/>
          </a:solidFill>
          <a:ln/>
        </p:spPr>
      </p:sp>
      <p:sp>
        <p:nvSpPr>
          <p:cNvPr id="24" name="Shape 22"/>
          <p:cNvSpPr/>
          <p:nvPr/>
        </p:nvSpPr>
        <p:spPr>
          <a:xfrm>
            <a:off x="749808" y="5001768"/>
            <a:ext cx="640080" cy="640080"/>
          </a:xfrm>
          <a:prstGeom prst="ellipse">
            <a:avLst/>
          </a:prstGeom>
          <a:solidFill>
            <a:srgbClr val="3FB950"/>
          </a:solidFill>
          <a:ln/>
        </p:spPr>
      </p:sp>
      <p:sp>
        <p:nvSpPr>
          <p:cNvPr id="25" name="Text 23"/>
          <p:cNvSpPr/>
          <p:nvPr/>
        </p:nvSpPr>
        <p:spPr>
          <a:xfrm>
            <a:off x="749808" y="5001768"/>
            <a:ext cx="640080" cy="640080"/>
          </a:xfrm>
          <a:prstGeom prst="rect">
            <a:avLst/>
          </a:prstGeom>
          <a:noFill/>
          <a:ln/>
        </p:spPr>
        <p:txBody>
          <a:bodyPr wrap="square" lIns="0" tIns="0" rIns="0" bIns="0" rtlCol="0" anchor="ctr"/>
          <a:lstStyle/>
          <a:p>
            <a:pPr algn="ctr" indent="0" marL="0">
              <a:buNone/>
            </a:pPr>
            <a:r>
              <a:rPr lang="en-US" sz="2000" b="1" dirty="0">
                <a:solidFill>
                  <a:srgbClr val="0F1B2D"/>
                </a:solidFill>
                <a:latin typeface="Cambria" pitchFamily="34" charset="0"/>
                <a:ea typeface="Cambria" pitchFamily="34" charset="-122"/>
                <a:cs typeface="Cambria" pitchFamily="34" charset="-120"/>
              </a:rPr>
              <a:t>5</a:t>
            </a:r>
            <a:endParaRPr lang="en-US" sz="2000" dirty="0"/>
          </a:p>
        </p:txBody>
      </p:sp>
      <p:sp>
        <p:nvSpPr>
          <p:cNvPr id="26" name="Text 24"/>
          <p:cNvSpPr/>
          <p:nvPr/>
        </p:nvSpPr>
        <p:spPr>
          <a:xfrm>
            <a:off x="1554480" y="4782312"/>
            <a:ext cx="4297680" cy="411480"/>
          </a:xfrm>
          <a:prstGeom prst="rect">
            <a:avLst/>
          </a:prstGeom>
          <a:noFill/>
          <a:ln/>
        </p:spPr>
        <p:txBody>
          <a:bodyPr wrap="square" lIns="0" tIns="0" rIns="0" bIns="0" rtlCol="0" anchor="ctr"/>
          <a:lstStyle/>
          <a:p>
            <a:pPr indent="0" marL="0">
              <a:buNone/>
            </a:pPr>
            <a:r>
              <a:rPr lang="en-US" sz="1600" b="1" dirty="0">
                <a:solidFill>
                  <a:srgbClr val="F4F7FB"/>
                </a:solidFill>
                <a:latin typeface="Cambria" pitchFamily="34" charset="0"/>
                <a:ea typeface="Cambria" pitchFamily="34" charset="-122"/>
                <a:cs typeface="Cambria" pitchFamily="34" charset="-120"/>
              </a:rPr>
              <a:t>Air gets stale</a:t>
            </a:r>
            <a:endParaRPr lang="en-US" sz="1600" dirty="0"/>
          </a:p>
        </p:txBody>
      </p:sp>
      <p:sp>
        <p:nvSpPr>
          <p:cNvPr id="27" name="Text 25"/>
          <p:cNvSpPr/>
          <p:nvPr/>
        </p:nvSpPr>
        <p:spPr>
          <a:xfrm>
            <a:off x="1554480" y="5221224"/>
            <a:ext cx="4297680" cy="731520"/>
          </a:xfrm>
          <a:prstGeom prst="rect">
            <a:avLst/>
          </a:prstGeom>
          <a:noFill/>
          <a:ln/>
        </p:spPr>
        <p:txBody>
          <a:bodyPr wrap="square" lIns="0" tIns="0" rIns="0" bIns="0" rtlCol="0" anchor="ctr"/>
          <a:lstStyle/>
          <a:p>
            <a:pPr indent="0" marL="0">
              <a:buNone/>
            </a:pPr>
            <a:r>
              <a:rPr lang="en-US" sz="1250" dirty="0">
                <a:solidFill>
                  <a:srgbClr val="9DB2C7"/>
                </a:solidFill>
                <a:latin typeface="Calibri" pitchFamily="34" charset="0"/>
                <a:ea typeface="Calibri" pitchFamily="34" charset="-122"/>
                <a:cs typeface="Calibri" pitchFamily="34" charset="-120"/>
              </a:rPr>
              <a:t>CO₂ proxy climbs, windows open on the floor plan, CO₂ falls</a:t>
            </a:r>
            <a:endParaRPr lang="en-US" sz="1250" dirty="0"/>
          </a:p>
        </p:txBody>
      </p:sp>
      <p:sp>
        <p:nvSpPr>
          <p:cNvPr id="28" name="Shape 26"/>
          <p:cNvSpPr/>
          <p:nvPr/>
        </p:nvSpPr>
        <p:spPr>
          <a:xfrm>
            <a:off x="6263640" y="4617720"/>
            <a:ext cx="5440680" cy="1417320"/>
          </a:xfrm>
          <a:prstGeom prst="roundRect">
            <a:avLst>
              <a:gd name="adj" fmla="val 7742"/>
            </a:avLst>
          </a:prstGeom>
          <a:solidFill>
            <a:srgbClr val="1B2A3F"/>
          </a:solidFill>
          <a:ln/>
        </p:spPr>
      </p:sp>
      <p:sp>
        <p:nvSpPr>
          <p:cNvPr id="29" name="Shape 27"/>
          <p:cNvSpPr/>
          <p:nvPr/>
        </p:nvSpPr>
        <p:spPr>
          <a:xfrm>
            <a:off x="6464808" y="5001768"/>
            <a:ext cx="640080" cy="640080"/>
          </a:xfrm>
          <a:prstGeom prst="ellipse">
            <a:avLst/>
          </a:prstGeom>
          <a:solidFill>
            <a:srgbClr val="9DB2C7"/>
          </a:solidFill>
          <a:ln/>
        </p:spPr>
      </p:sp>
      <p:sp>
        <p:nvSpPr>
          <p:cNvPr id="30" name="Text 28"/>
          <p:cNvSpPr/>
          <p:nvPr/>
        </p:nvSpPr>
        <p:spPr>
          <a:xfrm>
            <a:off x="6464808" y="5001768"/>
            <a:ext cx="640080" cy="640080"/>
          </a:xfrm>
          <a:prstGeom prst="rect">
            <a:avLst/>
          </a:prstGeom>
          <a:noFill/>
          <a:ln/>
        </p:spPr>
        <p:txBody>
          <a:bodyPr wrap="square" lIns="0" tIns="0" rIns="0" bIns="0" rtlCol="0" anchor="ctr"/>
          <a:lstStyle/>
          <a:p>
            <a:pPr algn="ctr" indent="0" marL="0">
              <a:buNone/>
            </a:pPr>
            <a:r>
              <a:rPr lang="en-US" sz="2000" b="1" dirty="0">
                <a:solidFill>
                  <a:srgbClr val="0F1B2D"/>
                </a:solidFill>
                <a:latin typeface="Cambria" pitchFamily="34" charset="0"/>
                <a:ea typeface="Cambria" pitchFamily="34" charset="-122"/>
                <a:cs typeface="Cambria" pitchFamily="34" charset="-120"/>
              </a:rPr>
              <a:t>6</a:t>
            </a:r>
            <a:endParaRPr lang="en-US" sz="2000" dirty="0"/>
          </a:p>
        </p:txBody>
      </p:sp>
      <p:sp>
        <p:nvSpPr>
          <p:cNvPr id="31" name="Text 29"/>
          <p:cNvSpPr/>
          <p:nvPr/>
        </p:nvSpPr>
        <p:spPr>
          <a:xfrm>
            <a:off x="7269480" y="4782312"/>
            <a:ext cx="4297680" cy="411480"/>
          </a:xfrm>
          <a:prstGeom prst="rect">
            <a:avLst/>
          </a:prstGeom>
          <a:noFill/>
          <a:ln/>
        </p:spPr>
        <p:txBody>
          <a:bodyPr wrap="square" lIns="0" tIns="0" rIns="0" bIns="0" rtlCol="0" anchor="ctr"/>
          <a:lstStyle/>
          <a:p>
            <a:pPr indent="0" marL="0">
              <a:buNone/>
            </a:pPr>
            <a:r>
              <a:rPr lang="en-US" sz="1600" b="1" dirty="0">
                <a:solidFill>
                  <a:srgbClr val="F4F7FB"/>
                </a:solidFill>
                <a:latin typeface="Cambria" pitchFamily="34" charset="0"/>
                <a:ea typeface="Cambria" pitchFamily="34" charset="-122"/>
                <a:cs typeface="Cambria" pitchFamily="34" charset="-120"/>
              </a:rPr>
              <a:t>Walk away</a:t>
            </a:r>
            <a:endParaRPr lang="en-US" sz="1600" dirty="0"/>
          </a:p>
        </p:txBody>
      </p:sp>
      <p:sp>
        <p:nvSpPr>
          <p:cNvPr id="32" name="Text 30"/>
          <p:cNvSpPr/>
          <p:nvPr/>
        </p:nvSpPr>
        <p:spPr>
          <a:xfrm>
            <a:off x="7269480" y="5221224"/>
            <a:ext cx="4297680" cy="731520"/>
          </a:xfrm>
          <a:prstGeom prst="rect">
            <a:avLst/>
          </a:prstGeom>
          <a:noFill/>
          <a:ln/>
        </p:spPr>
        <p:txBody>
          <a:bodyPr wrap="square" lIns="0" tIns="0" rIns="0" bIns="0" rtlCol="0" anchor="ctr"/>
          <a:lstStyle/>
          <a:p>
            <a:pPr indent="0" marL="0">
              <a:buNone/>
            </a:pPr>
            <a:r>
              <a:rPr lang="en-US" sz="1250" dirty="0">
                <a:solidFill>
                  <a:srgbClr val="9DB2C7"/>
                </a:solidFill>
                <a:latin typeface="Calibri" pitchFamily="34" charset="0"/>
                <a:ea typeface="Calibri" pitchFamily="34" charset="-122"/>
                <a:cs typeface="Calibri" pitchFamily="34" charset="-120"/>
              </a:rPr>
              <a:t>zone empties, lamp switches off to save energy</a:t>
            </a:r>
            <a:endParaRPr lang="en-US" sz="1250" dirty="0"/>
          </a:p>
        </p:txBody>
      </p:sp>
      <p:sp>
        <p:nvSpPr>
          <p:cNvPr id="33" name="Text 31"/>
          <p:cNvSpPr/>
          <p:nvPr/>
        </p:nvSpPr>
        <p:spPr>
          <a:xfrm>
            <a:off x="548640" y="6263640"/>
            <a:ext cx="11064240" cy="365760"/>
          </a:xfrm>
          <a:prstGeom prst="rect">
            <a:avLst/>
          </a:prstGeom>
          <a:noFill/>
          <a:ln/>
        </p:spPr>
        <p:txBody>
          <a:bodyPr wrap="square" lIns="0" tIns="0" rIns="0" bIns="0" rtlCol="0" anchor="ctr"/>
          <a:lstStyle/>
          <a:p>
            <a:pPr algn="ctr" indent="0" marL="0">
              <a:buNone/>
            </a:pPr>
            <a:r>
              <a:rPr lang="en-US" sz="1200" i="1" dirty="0">
                <a:solidFill>
                  <a:srgbClr val="9DB2C7"/>
                </a:solidFill>
                <a:latin typeface="Calibri" pitchFamily="34" charset="0"/>
                <a:ea typeface="Calibri" pitchFamily="34" charset="-122"/>
                <a:cs typeface="Calibri" pitchFamily="34" charset="-120"/>
              </a:rPr>
              <a:t>Runs self-contained: the core Pi spans its own WiFi, the dashboard runs on any laptop in that network.</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B2D"/>
        </a:solidFill>
      </p:bgPr>
    </p:bg>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rgbClr val="F4F7FB"/>
                </a:solidFill>
                <a:latin typeface="Cambria" pitchFamily="34" charset="0"/>
                <a:ea typeface="Cambria" pitchFamily="34" charset="-122"/>
                <a:cs typeface="Cambria" pitchFamily="34" charset="-120"/>
              </a:rPr>
              <a:t>Course requirements: all six, measured</a:t>
            </a:r>
            <a:endParaRPr lang="en-US" sz="3200" dirty="0"/>
          </a:p>
        </p:txBody>
      </p:sp>
      <p:sp>
        <p:nvSpPr>
          <p:cNvPr id="3" name="Shape 1"/>
          <p:cNvSpPr/>
          <p:nvPr/>
        </p:nvSpPr>
        <p:spPr>
          <a:xfrm>
            <a:off x="548640" y="1371600"/>
            <a:ext cx="11109960" cy="676656"/>
          </a:xfrm>
          <a:prstGeom prst="roundRect">
            <a:avLst>
              <a:gd name="adj" fmla="val 13514"/>
            </a:avLst>
          </a:prstGeom>
          <a:solidFill>
            <a:srgbClr val="24354D"/>
          </a:solidFill>
          <a:ln/>
        </p:spPr>
      </p:sp>
      <p:sp>
        <p:nvSpPr>
          <p:cNvPr id="4" name="Shape 2"/>
          <p:cNvSpPr/>
          <p:nvPr/>
        </p:nvSpPr>
        <p:spPr>
          <a:xfrm>
            <a:off x="749808" y="1545336"/>
            <a:ext cx="329184" cy="329184"/>
          </a:xfrm>
          <a:prstGeom prst="ellipse">
            <a:avLst/>
          </a:prstGeom>
          <a:solidFill>
            <a:srgbClr val="3FB950"/>
          </a:solidFill>
          <a:ln/>
        </p:spPr>
      </p:sp>
      <p:sp>
        <p:nvSpPr>
          <p:cNvPr id="5" name="Text 3"/>
          <p:cNvSpPr/>
          <p:nvPr/>
        </p:nvSpPr>
        <p:spPr>
          <a:xfrm>
            <a:off x="749808" y="1527048"/>
            <a:ext cx="329184" cy="365760"/>
          </a:xfrm>
          <a:prstGeom prst="rect">
            <a:avLst/>
          </a:prstGeom>
          <a:noFill/>
          <a:ln/>
        </p:spPr>
        <p:txBody>
          <a:bodyPr wrap="square" lIns="0" tIns="0" rIns="0" bIns="0" rtlCol="0" anchor="ctr"/>
          <a:lstStyle/>
          <a:p>
            <a:pPr algn="ctr" indent="0" marL="0">
              <a:buNone/>
            </a:pPr>
            <a:r>
              <a:rPr lang="en-US" sz="1400" b="1" dirty="0">
                <a:solidFill>
                  <a:srgbClr val="0F1B2D"/>
                </a:solidFill>
                <a:latin typeface="Calibri" pitchFamily="34" charset="0"/>
                <a:ea typeface="Calibri" pitchFamily="34" charset="-122"/>
                <a:cs typeface="Calibri" pitchFamily="34" charset="-120"/>
              </a:rPr>
              <a:t>✓</a:t>
            </a:r>
            <a:endParaRPr lang="en-US" sz="1400" dirty="0"/>
          </a:p>
        </p:txBody>
      </p:sp>
      <p:sp>
        <p:nvSpPr>
          <p:cNvPr id="6" name="Text 4"/>
          <p:cNvSpPr/>
          <p:nvPr/>
        </p:nvSpPr>
        <p:spPr>
          <a:xfrm>
            <a:off x="1280160" y="1499616"/>
            <a:ext cx="3200400" cy="457200"/>
          </a:xfrm>
          <a:prstGeom prst="rect">
            <a:avLst/>
          </a:prstGeom>
          <a:noFill/>
          <a:ln/>
        </p:spPr>
        <p:txBody>
          <a:bodyPr wrap="square" lIns="0" tIns="0" rIns="0" bIns="0" rtlCol="0" anchor="ctr"/>
          <a:lstStyle/>
          <a:p>
            <a:pPr indent="0" marL="0">
              <a:buNone/>
            </a:pPr>
            <a:r>
              <a:rPr lang="en-US" sz="1450" b="1" dirty="0">
                <a:solidFill>
                  <a:srgbClr val="F4F7FB"/>
                </a:solidFill>
                <a:latin typeface="Cambria" pitchFamily="34" charset="0"/>
                <a:ea typeface="Cambria" pitchFamily="34" charset="-122"/>
                <a:cs typeface="Cambria" pitchFamily="34" charset="-120"/>
              </a:rPr>
              <a:t>System distribution</a:t>
            </a:r>
            <a:endParaRPr lang="en-US" sz="1450" dirty="0"/>
          </a:p>
        </p:txBody>
      </p:sp>
      <p:sp>
        <p:nvSpPr>
          <p:cNvPr id="7" name="Text 5"/>
          <p:cNvSpPr/>
          <p:nvPr/>
        </p:nvSpPr>
        <p:spPr>
          <a:xfrm>
            <a:off x="4572000" y="1517904"/>
            <a:ext cx="6949440" cy="457200"/>
          </a:xfrm>
          <a:prstGeom prst="rect">
            <a:avLst/>
          </a:prstGeom>
          <a:noFill/>
          <a:ln/>
        </p:spPr>
        <p:txBody>
          <a:bodyPr wrap="square" lIns="0" tIns="0" rIns="0" bIns="0" rtlCol="0" anchor="ctr"/>
          <a:lstStyle/>
          <a:p>
            <a:pPr indent="0" marL="0">
              <a:buNone/>
            </a:pPr>
            <a:r>
              <a:rPr lang="en-US" sz="1300" dirty="0">
                <a:solidFill>
                  <a:srgbClr val="9DB2C7"/>
                </a:solidFill>
                <a:latin typeface="Calibri" pitchFamily="34" charset="0"/>
                <a:ea typeface="Calibri" pitchFamily="34" charset="-122"/>
                <a:cs typeface="Calibri" pitchFamily="34" charset="-120"/>
              </a:rPr>
              <a:t>2 Raspberry Pis, own WiFi in demo mode, 10 systemd services</a:t>
            </a:r>
            <a:endParaRPr lang="en-US" sz="1300" dirty="0"/>
          </a:p>
        </p:txBody>
      </p:sp>
      <p:sp>
        <p:nvSpPr>
          <p:cNvPr id="8" name="Shape 6"/>
          <p:cNvSpPr/>
          <p:nvPr/>
        </p:nvSpPr>
        <p:spPr>
          <a:xfrm>
            <a:off x="548640" y="2176272"/>
            <a:ext cx="11109960" cy="676656"/>
          </a:xfrm>
          <a:prstGeom prst="roundRect">
            <a:avLst>
              <a:gd name="adj" fmla="val 13514"/>
            </a:avLst>
          </a:prstGeom>
          <a:solidFill>
            <a:srgbClr val="1B2A3F"/>
          </a:solidFill>
          <a:ln/>
        </p:spPr>
      </p:sp>
      <p:sp>
        <p:nvSpPr>
          <p:cNvPr id="9" name="Shape 7"/>
          <p:cNvSpPr/>
          <p:nvPr/>
        </p:nvSpPr>
        <p:spPr>
          <a:xfrm>
            <a:off x="749808" y="2350008"/>
            <a:ext cx="329184" cy="329184"/>
          </a:xfrm>
          <a:prstGeom prst="ellipse">
            <a:avLst/>
          </a:prstGeom>
          <a:solidFill>
            <a:srgbClr val="3FB950"/>
          </a:solidFill>
          <a:ln/>
        </p:spPr>
      </p:sp>
      <p:sp>
        <p:nvSpPr>
          <p:cNvPr id="10" name="Text 8"/>
          <p:cNvSpPr/>
          <p:nvPr/>
        </p:nvSpPr>
        <p:spPr>
          <a:xfrm>
            <a:off x="749808" y="2331720"/>
            <a:ext cx="329184" cy="365760"/>
          </a:xfrm>
          <a:prstGeom prst="rect">
            <a:avLst/>
          </a:prstGeom>
          <a:noFill/>
          <a:ln/>
        </p:spPr>
        <p:txBody>
          <a:bodyPr wrap="square" lIns="0" tIns="0" rIns="0" bIns="0" rtlCol="0" anchor="ctr"/>
          <a:lstStyle/>
          <a:p>
            <a:pPr algn="ctr" indent="0" marL="0">
              <a:buNone/>
            </a:pPr>
            <a:r>
              <a:rPr lang="en-US" sz="1400" b="1" dirty="0">
                <a:solidFill>
                  <a:srgbClr val="0F1B2D"/>
                </a:solidFill>
                <a:latin typeface="Calibri" pitchFamily="34" charset="0"/>
                <a:ea typeface="Calibri" pitchFamily="34" charset="-122"/>
                <a:cs typeface="Calibri" pitchFamily="34" charset="-120"/>
              </a:rPr>
              <a:t>✓</a:t>
            </a:r>
            <a:endParaRPr lang="en-US" sz="1400" dirty="0"/>
          </a:p>
        </p:txBody>
      </p:sp>
      <p:sp>
        <p:nvSpPr>
          <p:cNvPr id="11" name="Text 9"/>
          <p:cNvSpPr/>
          <p:nvPr/>
        </p:nvSpPr>
        <p:spPr>
          <a:xfrm>
            <a:off x="1280160" y="2304288"/>
            <a:ext cx="3200400" cy="457200"/>
          </a:xfrm>
          <a:prstGeom prst="rect">
            <a:avLst/>
          </a:prstGeom>
          <a:noFill/>
          <a:ln/>
        </p:spPr>
        <p:txBody>
          <a:bodyPr wrap="square" lIns="0" tIns="0" rIns="0" bIns="0" rtlCol="0" anchor="ctr"/>
          <a:lstStyle/>
          <a:p>
            <a:pPr indent="0" marL="0">
              <a:buNone/>
            </a:pPr>
            <a:r>
              <a:rPr lang="en-US" sz="1450" b="1" dirty="0">
                <a:solidFill>
                  <a:srgbClr val="F4F7FB"/>
                </a:solidFill>
                <a:latin typeface="Cambria" pitchFamily="34" charset="0"/>
                <a:ea typeface="Cambria" pitchFamily="34" charset="-122"/>
                <a:cs typeface="Cambria" pitchFamily="34" charset="-120"/>
              </a:rPr>
              <a:t>Indirect communication</a:t>
            </a:r>
            <a:endParaRPr lang="en-US" sz="1450" dirty="0"/>
          </a:p>
        </p:txBody>
      </p:sp>
      <p:sp>
        <p:nvSpPr>
          <p:cNvPr id="12" name="Text 10"/>
          <p:cNvSpPr/>
          <p:nvPr/>
        </p:nvSpPr>
        <p:spPr>
          <a:xfrm>
            <a:off x="4572000" y="2322576"/>
            <a:ext cx="6949440" cy="457200"/>
          </a:xfrm>
          <a:prstGeom prst="rect">
            <a:avLst/>
          </a:prstGeom>
          <a:noFill/>
          <a:ln/>
        </p:spPr>
        <p:txBody>
          <a:bodyPr wrap="square" lIns="0" tIns="0" rIns="0" bIns="0" rtlCol="0" anchor="ctr"/>
          <a:lstStyle/>
          <a:p>
            <a:pPr indent="0" marL="0">
              <a:buNone/>
            </a:pPr>
            <a:r>
              <a:rPr lang="en-US" sz="1300" dirty="0">
                <a:solidFill>
                  <a:srgbClr val="9DB2C7"/>
                </a:solidFill>
                <a:latin typeface="Calibri" pitchFamily="34" charset="0"/>
                <a:ea typeface="Calibri" pitchFamily="34" charset="-122"/>
                <a:cs typeface="Calibri" pitchFamily="34" charset="-120"/>
              </a:rPr>
              <a:t>Mosquitto MQTT pub/sub only, retained latest-value topics</a:t>
            </a:r>
            <a:endParaRPr lang="en-US" sz="1300" dirty="0"/>
          </a:p>
        </p:txBody>
      </p:sp>
      <p:sp>
        <p:nvSpPr>
          <p:cNvPr id="13" name="Shape 11"/>
          <p:cNvSpPr/>
          <p:nvPr/>
        </p:nvSpPr>
        <p:spPr>
          <a:xfrm>
            <a:off x="548640" y="2980944"/>
            <a:ext cx="11109960" cy="676656"/>
          </a:xfrm>
          <a:prstGeom prst="roundRect">
            <a:avLst>
              <a:gd name="adj" fmla="val 13514"/>
            </a:avLst>
          </a:prstGeom>
          <a:solidFill>
            <a:srgbClr val="24354D"/>
          </a:solidFill>
          <a:ln/>
        </p:spPr>
      </p:sp>
      <p:sp>
        <p:nvSpPr>
          <p:cNvPr id="14" name="Shape 12"/>
          <p:cNvSpPr/>
          <p:nvPr/>
        </p:nvSpPr>
        <p:spPr>
          <a:xfrm>
            <a:off x="749808" y="3154680"/>
            <a:ext cx="329184" cy="329184"/>
          </a:xfrm>
          <a:prstGeom prst="ellipse">
            <a:avLst/>
          </a:prstGeom>
          <a:solidFill>
            <a:srgbClr val="3FB950"/>
          </a:solidFill>
          <a:ln/>
        </p:spPr>
      </p:sp>
      <p:sp>
        <p:nvSpPr>
          <p:cNvPr id="15" name="Text 13"/>
          <p:cNvSpPr/>
          <p:nvPr/>
        </p:nvSpPr>
        <p:spPr>
          <a:xfrm>
            <a:off x="749808" y="3136392"/>
            <a:ext cx="329184" cy="365760"/>
          </a:xfrm>
          <a:prstGeom prst="rect">
            <a:avLst/>
          </a:prstGeom>
          <a:noFill/>
          <a:ln/>
        </p:spPr>
        <p:txBody>
          <a:bodyPr wrap="square" lIns="0" tIns="0" rIns="0" bIns="0" rtlCol="0" anchor="ctr"/>
          <a:lstStyle/>
          <a:p>
            <a:pPr algn="ctr" indent="0" marL="0">
              <a:buNone/>
            </a:pPr>
            <a:r>
              <a:rPr lang="en-US" sz="1400" b="1" dirty="0">
                <a:solidFill>
                  <a:srgbClr val="0F1B2D"/>
                </a:solidFill>
                <a:latin typeface="Calibri" pitchFamily="34" charset="0"/>
                <a:ea typeface="Calibri" pitchFamily="34" charset="-122"/>
                <a:cs typeface="Calibri" pitchFamily="34" charset="-120"/>
              </a:rPr>
              <a:t>✓</a:t>
            </a:r>
            <a:endParaRPr lang="en-US" sz="1400" dirty="0"/>
          </a:p>
        </p:txBody>
      </p:sp>
      <p:sp>
        <p:nvSpPr>
          <p:cNvPr id="16" name="Text 14"/>
          <p:cNvSpPr/>
          <p:nvPr/>
        </p:nvSpPr>
        <p:spPr>
          <a:xfrm>
            <a:off x="1280160" y="3108960"/>
            <a:ext cx="3200400" cy="457200"/>
          </a:xfrm>
          <a:prstGeom prst="rect">
            <a:avLst/>
          </a:prstGeom>
          <a:noFill/>
          <a:ln/>
        </p:spPr>
        <p:txBody>
          <a:bodyPr wrap="square" lIns="0" tIns="0" rIns="0" bIns="0" rtlCol="0" anchor="ctr"/>
          <a:lstStyle/>
          <a:p>
            <a:pPr indent="0" marL="0">
              <a:buNone/>
            </a:pPr>
            <a:r>
              <a:rPr lang="en-US" sz="1450" b="1" dirty="0">
                <a:solidFill>
                  <a:srgbClr val="F4F7FB"/>
                </a:solidFill>
                <a:latin typeface="Cambria" pitchFamily="34" charset="0"/>
                <a:ea typeface="Cambria" pitchFamily="34" charset="-122"/>
                <a:cs typeface="Cambria" pitchFamily="34" charset="-120"/>
              </a:rPr>
              <a:t>AI planning</a:t>
            </a:r>
            <a:endParaRPr lang="en-US" sz="1450" dirty="0"/>
          </a:p>
        </p:txBody>
      </p:sp>
      <p:sp>
        <p:nvSpPr>
          <p:cNvPr id="17" name="Text 15"/>
          <p:cNvSpPr/>
          <p:nvPr/>
        </p:nvSpPr>
        <p:spPr>
          <a:xfrm>
            <a:off x="4572000" y="3127248"/>
            <a:ext cx="6949440" cy="457200"/>
          </a:xfrm>
          <a:prstGeom prst="rect">
            <a:avLst/>
          </a:prstGeom>
          <a:noFill/>
          <a:ln/>
        </p:spPr>
        <p:txBody>
          <a:bodyPr wrap="square" lIns="0" tIns="0" rIns="0" bIns="0" rtlCol="0" anchor="ctr"/>
          <a:lstStyle/>
          <a:p>
            <a:pPr indent="0" marL="0">
              <a:buNone/>
            </a:pPr>
            <a:r>
              <a:rPr lang="en-US" sz="1300" dirty="0">
                <a:solidFill>
                  <a:srgbClr val="9DB2C7"/>
                </a:solidFill>
                <a:latin typeface="Calibri" pitchFamily="34" charset="0"/>
                <a:ea typeface="Calibri" pitchFamily="34" charset="-122"/>
                <a:cs typeface="Calibri" pitchFamily="34" charset="-120"/>
              </a:rPr>
              <a:t>PDDL domain, auto-generated problems, Fast Downward, cost-optimal</a:t>
            </a:r>
            <a:endParaRPr lang="en-US" sz="1300" dirty="0"/>
          </a:p>
        </p:txBody>
      </p:sp>
      <p:sp>
        <p:nvSpPr>
          <p:cNvPr id="18" name="Shape 16"/>
          <p:cNvSpPr/>
          <p:nvPr/>
        </p:nvSpPr>
        <p:spPr>
          <a:xfrm>
            <a:off x="548640" y="3785616"/>
            <a:ext cx="11109960" cy="676656"/>
          </a:xfrm>
          <a:prstGeom prst="roundRect">
            <a:avLst>
              <a:gd name="adj" fmla="val 13514"/>
            </a:avLst>
          </a:prstGeom>
          <a:solidFill>
            <a:srgbClr val="1B2A3F"/>
          </a:solidFill>
          <a:ln/>
        </p:spPr>
      </p:sp>
      <p:sp>
        <p:nvSpPr>
          <p:cNvPr id="19" name="Shape 17"/>
          <p:cNvSpPr/>
          <p:nvPr/>
        </p:nvSpPr>
        <p:spPr>
          <a:xfrm>
            <a:off x="749808" y="3959352"/>
            <a:ext cx="329184" cy="329184"/>
          </a:xfrm>
          <a:prstGeom prst="ellipse">
            <a:avLst/>
          </a:prstGeom>
          <a:solidFill>
            <a:srgbClr val="3FB950"/>
          </a:solidFill>
          <a:ln/>
        </p:spPr>
      </p:sp>
      <p:sp>
        <p:nvSpPr>
          <p:cNvPr id="20" name="Text 18"/>
          <p:cNvSpPr/>
          <p:nvPr/>
        </p:nvSpPr>
        <p:spPr>
          <a:xfrm>
            <a:off x="749808" y="3941064"/>
            <a:ext cx="329184" cy="365760"/>
          </a:xfrm>
          <a:prstGeom prst="rect">
            <a:avLst/>
          </a:prstGeom>
          <a:noFill/>
          <a:ln/>
        </p:spPr>
        <p:txBody>
          <a:bodyPr wrap="square" lIns="0" tIns="0" rIns="0" bIns="0" rtlCol="0" anchor="ctr"/>
          <a:lstStyle/>
          <a:p>
            <a:pPr algn="ctr" indent="0" marL="0">
              <a:buNone/>
            </a:pPr>
            <a:r>
              <a:rPr lang="en-US" sz="1400" b="1" dirty="0">
                <a:solidFill>
                  <a:srgbClr val="0F1B2D"/>
                </a:solidFill>
                <a:latin typeface="Calibri" pitchFamily="34" charset="0"/>
                <a:ea typeface="Calibri" pitchFamily="34" charset="-122"/>
                <a:cs typeface="Calibri" pitchFamily="34" charset="-120"/>
              </a:rPr>
              <a:t>✓</a:t>
            </a:r>
            <a:endParaRPr lang="en-US" sz="1400" dirty="0"/>
          </a:p>
        </p:txBody>
      </p:sp>
      <p:sp>
        <p:nvSpPr>
          <p:cNvPr id="21" name="Text 19"/>
          <p:cNvSpPr/>
          <p:nvPr/>
        </p:nvSpPr>
        <p:spPr>
          <a:xfrm>
            <a:off x="1280160" y="3913632"/>
            <a:ext cx="3200400" cy="457200"/>
          </a:xfrm>
          <a:prstGeom prst="rect">
            <a:avLst/>
          </a:prstGeom>
          <a:noFill/>
          <a:ln/>
        </p:spPr>
        <p:txBody>
          <a:bodyPr wrap="square" lIns="0" tIns="0" rIns="0" bIns="0" rtlCol="0" anchor="ctr"/>
          <a:lstStyle/>
          <a:p>
            <a:pPr indent="0" marL="0">
              <a:buNone/>
            </a:pPr>
            <a:r>
              <a:rPr lang="en-US" sz="1450" b="1" dirty="0">
                <a:solidFill>
                  <a:srgbClr val="F4F7FB"/>
                </a:solidFill>
                <a:latin typeface="Cambria" pitchFamily="34" charset="0"/>
                <a:ea typeface="Cambria" pitchFamily="34" charset="-122"/>
                <a:cs typeface="Cambria" pitchFamily="34" charset="-120"/>
              </a:rPr>
              <a:t>IoT</a:t>
            </a:r>
            <a:endParaRPr lang="en-US" sz="1450" dirty="0"/>
          </a:p>
        </p:txBody>
      </p:sp>
      <p:sp>
        <p:nvSpPr>
          <p:cNvPr id="22" name="Text 20"/>
          <p:cNvSpPr/>
          <p:nvPr/>
        </p:nvSpPr>
        <p:spPr>
          <a:xfrm>
            <a:off x="4572000" y="3931920"/>
            <a:ext cx="6949440" cy="457200"/>
          </a:xfrm>
          <a:prstGeom prst="rect">
            <a:avLst/>
          </a:prstGeom>
          <a:noFill/>
          <a:ln/>
        </p:spPr>
        <p:txBody>
          <a:bodyPr wrap="square" lIns="0" tIns="0" rIns="0" bIns="0" rtlCol="0" anchor="ctr"/>
          <a:lstStyle/>
          <a:p>
            <a:pPr indent="0" marL="0">
              <a:buNone/>
            </a:pPr>
            <a:r>
              <a:rPr lang="en-US" sz="1300" dirty="0">
                <a:solidFill>
                  <a:srgbClr val="9DB2C7"/>
                </a:solidFill>
                <a:latin typeface="Calibri" pitchFamily="34" charset="0"/>
                <a:ea typeface="Calibri" pitchFamily="34" charset="-122"/>
                <a:cs typeface="Calibri" pitchFamily="34" charset="-120"/>
              </a:rPr>
              <a:t>5 sensors (2 physical) and 6 actuators (4 physical)</a:t>
            </a:r>
            <a:endParaRPr lang="en-US" sz="1300" dirty="0"/>
          </a:p>
        </p:txBody>
      </p:sp>
      <p:sp>
        <p:nvSpPr>
          <p:cNvPr id="23" name="Shape 21"/>
          <p:cNvSpPr/>
          <p:nvPr/>
        </p:nvSpPr>
        <p:spPr>
          <a:xfrm>
            <a:off x="548640" y="4590288"/>
            <a:ext cx="11109960" cy="676656"/>
          </a:xfrm>
          <a:prstGeom prst="roundRect">
            <a:avLst>
              <a:gd name="adj" fmla="val 13514"/>
            </a:avLst>
          </a:prstGeom>
          <a:solidFill>
            <a:srgbClr val="24354D"/>
          </a:solidFill>
          <a:ln/>
        </p:spPr>
      </p:sp>
      <p:sp>
        <p:nvSpPr>
          <p:cNvPr id="24" name="Shape 22"/>
          <p:cNvSpPr/>
          <p:nvPr/>
        </p:nvSpPr>
        <p:spPr>
          <a:xfrm>
            <a:off x="749808" y="4764024"/>
            <a:ext cx="329184" cy="329184"/>
          </a:xfrm>
          <a:prstGeom prst="ellipse">
            <a:avLst/>
          </a:prstGeom>
          <a:solidFill>
            <a:srgbClr val="3FB950"/>
          </a:solidFill>
          <a:ln/>
        </p:spPr>
      </p:sp>
      <p:sp>
        <p:nvSpPr>
          <p:cNvPr id="25" name="Text 23"/>
          <p:cNvSpPr/>
          <p:nvPr/>
        </p:nvSpPr>
        <p:spPr>
          <a:xfrm>
            <a:off x="749808" y="4745736"/>
            <a:ext cx="329184" cy="365760"/>
          </a:xfrm>
          <a:prstGeom prst="rect">
            <a:avLst/>
          </a:prstGeom>
          <a:noFill/>
          <a:ln/>
        </p:spPr>
        <p:txBody>
          <a:bodyPr wrap="square" lIns="0" tIns="0" rIns="0" bIns="0" rtlCol="0" anchor="ctr"/>
          <a:lstStyle/>
          <a:p>
            <a:pPr algn="ctr" indent="0" marL="0">
              <a:buNone/>
            </a:pPr>
            <a:r>
              <a:rPr lang="en-US" sz="1400" b="1" dirty="0">
                <a:solidFill>
                  <a:srgbClr val="0F1B2D"/>
                </a:solidFill>
                <a:latin typeface="Calibri" pitchFamily="34" charset="0"/>
                <a:ea typeface="Calibri" pitchFamily="34" charset="-122"/>
                <a:cs typeface="Calibri" pitchFamily="34" charset="-120"/>
              </a:rPr>
              <a:t>✓</a:t>
            </a:r>
            <a:endParaRPr lang="en-US" sz="1400" dirty="0"/>
          </a:p>
        </p:txBody>
      </p:sp>
      <p:sp>
        <p:nvSpPr>
          <p:cNvPr id="26" name="Text 24"/>
          <p:cNvSpPr/>
          <p:nvPr/>
        </p:nvSpPr>
        <p:spPr>
          <a:xfrm>
            <a:off x="1280160" y="4718304"/>
            <a:ext cx="3200400" cy="457200"/>
          </a:xfrm>
          <a:prstGeom prst="rect">
            <a:avLst/>
          </a:prstGeom>
          <a:noFill/>
          <a:ln/>
        </p:spPr>
        <p:txBody>
          <a:bodyPr wrap="square" lIns="0" tIns="0" rIns="0" bIns="0" rtlCol="0" anchor="ctr"/>
          <a:lstStyle/>
          <a:p>
            <a:pPr indent="0" marL="0">
              <a:buNone/>
            </a:pPr>
            <a:r>
              <a:rPr lang="en-US" sz="1450" b="1" dirty="0">
                <a:solidFill>
                  <a:srgbClr val="F4F7FB"/>
                </a:solidFill>
                <a:latin typeface="Cambria" pitchFamily="34" charset="0"/>
                <a:ea typeface="Cambria" pitchFamily="34" charset="-122"/>
                <a:cs typeface="Cambria" pitchFamily="34" charset="-120"/>
              </a:rPr>
              <a:t>System design</a:t>
            </a:r>
            <a:endParaRPr lang="en-US" sz="1450" dirty="0"/>
          </a:p>
        </p:txBody>
      </p:sp>
      <p:sp>
        <p:nvSpPr>
          <p:cNvPr id="27" name="Text 25"/>
          <p:cNvSpPr/>
          <p:nvPr/>
        </p:nvSpPr>
        <p:spPr>
          <a:xfrm>
            <a:off x="4572000" y="4736592"/>
            <a:ext cx="6949440" cy="457200"/>
          </a:xfrm>
          <a:prstGeom prst="rect">
            <a:avLst/>
          </a:prstGeom>
          <a:noFill/>
          <a:ln/>
        </p:spPr>
        <p:txBody>
          <a:bodyPr wrap="square" lIns="0" tIns="0" rIns="0" bIns="0" rtlCol="0" anchor="ctr"/>
          <a:lstStyle/>
          <a:p>
            <a:pPr indent="0" marL="0">
              <a:buNone/>
            </a:pPr>
            <a:r>
              <a:rPr lang="en-US" sz="1300" dirty="0">
                <a:solidFill>
                  <a:srgbClr val="9DB2C7"/>
                </a:solidFill>
                <a:latin typeface="Calibri" pitchFamily="34" charset="0"/>
                <a:ea typeface="Calibri" pitchFamily="34" charset="-122"/>
                <a:cs typeface="Calibri" pitchFamily="34" charset="-120"/>
              </a:rPr>
              <a:t>8 decoupled modules, each independently restartable</a:t>
            </a:r>
            <a:endParaRPr lang="en-US" sz="1300" dirty="0"/>
          </a:p>
        </p:txBody>
      </p:sp>
      <p:sp>
        <p:nvSpPr>
          <p:cNvPr id="28" name="Shape 26"/>
          <p:cNvSpPr/>
          <p:nvPr/>
        </p:nvSpPr>
        <p:spPr>
          <a:xfrm>
            <a:off x="548640" y="5394960"/>
            <a:ext cx="11109960" cy="676656"/>
          </a:xfrm>
          <a:prstGeom prst="roundRect">
            <a:avLst>
              <a:gd name="adj" fmla="val 13514"/>
            </a:avLst>
          </a:prstGeom>
          <a:solidFill>
            <a:srgbClr val="1B2A3F"/>
          </a:solidFill>
          <a:ln/>
        </p:spPr>
      </p:sp>
      <p:sp>
        <p:nvSpPr>
          <p:cNvPr id="29" name="Shape 27"/>
          <p:cNvSpPr/>
          <p:nvPr/>
        </p:nvSpPr>
        <p:spPr>
          <a:xfrm>
            <a:off x="749808" y="5568696"/>
            <a:ext cx="329184" cy="329184"/>
          </a:xfrm>
          <a:prstGeom prst="ellipse">
            <a:avLst/>
          </a:prstGeom>
          <a:solidFill>
            <a:srgbClr val="3FB950"/>
          </a:solidFill>
          <a:ln/>
        </p:spPr>
      </p:sp>
      <p:sp>
        <p:nvSpPr>
          <p:cNvPr id="30" name="Text 28"/>
          <p:cNvSpPr/>
          <p:nvPr/>
        </p:nvSpPr>
        <p:spPr>
          <a:xfrm>
            <a:off x="749808" y="5550408"/>
            <a:ext cx="329184" cy="365760"/>
          </a:xfrm>
          <a:prstGeom prst="rect">
            <a:avLst/>
          </a:prstGeom>
          <a:noFill/>
          <a:ln/>
        </p:spPr>
        <p:txBody>
          <a:bodyPr wrap="square" lIns="0" tIns="0" rIns="0" bIns="0" rtlCol="0" anchor="ctr"/>
          <a:lstStyle/>
          <a:p>
            <a:pPr algn="ctr" indent="0" marL="0">
              <a:buNone/>
            </a:pPr>
            <a:r>
              <a:rPr lang="en-US" sz="1400" b="1" dirty="0">
                <a:solidFill>
                  <a:srgbClr val="0F1B2D"/>
                </a:solidFill>
                <a:latin typeface="Calibri" pitchFamily="34" charset="0"/>
                <a:ea typeface="Calibri" pitchFamily="34" charset="-122"/>
                <a:cs typeface="Calibri" pitchFamily="34" charset="-120"/>
              </a:rPr>
              <a:t>✓</a:t>
            </a:r>
            <a:endParaRPr lang="en-US" sz="1400" dirty="0"/>
          </a:p>
        </p:txBody>
      </p:sp>
      <p:sp>
        <p:nvSpPr>
          <p:cNvPr id="31" name="Text 29"/>
          <p:cNvSpPr/>
          <p:nvPr/>
        </p:nvSpPr>
        <p:spPr>
          <a:xfrm>
            <a:off x="1280160" y="5522976"/>
            <a:ext cx="3200400" cy="457200"/>
          </a:xfrm>
          <a:prstGeom prst="rect">
            <a:avLst/>
          </a:prstGeom>
          <a:noFill/>
          <a:ln/>
        </p:spPr>
        <p:txBody>
          <a:bodyPr wrap="square" lIns="0" tIns="0" rIns="0" bIns="0" rtlCol="0" anchor="ctr"/>
          <a:lstStyle/>
          <a:p>
            <a:pPr indent="0" marL="0">
              <a:buNone/>
            </a:pPr>
            <a:r>
              <a:rPr lang="en-US" sz="1450" b="1" dirty="0">
                <a:solidFill>
                  <a:srgbClr val="F4F7FB"/>
                </a:solidFill>
                <a:latin typeface="Cambria" pitchFamily="34" charset="0"/>
                <a:ea typeface="Cambria" pitchFamily="34" charset="-122"/>
                <a:cs typeface="Cambria" pitchFamily="34" charset="-120"/>
              </a:rPr>
              <a:t>Visualisation</a:t>
            </a:r>
            <a:endParaRPr lang="en-US" sz="1450" dirty="0"/>
          </a:p>
        </p:txBody>
      </p:sp>
      <p:sp>
        <p:nvSpPr>
          <p:cNvPr id="32" name="Text 30"/>
          <p:cNvSpPr/>
          <p:nvPr/>
        </p:nvSpPr>
        <p:spPr>
          <a:xfrm>
            <a:off x="4572000" y="5541264"/>
            <a:ext cx="6949440" cy="457200"/>
          </a:xfrm>
          <a:prstGeom prst="rect">
            <a:avLst/>
          </a:prstGeom>
          <a:noFill/>
          <a:ln/>
        </p:spPr>
        <p:txBody>
          <a:bodyPr wrap="square" lIns="0" tIns="0" rIns="0" bIns="0" rtlCol="0" anchor="ctr"/>
          <a:lstStyle/>
          <a:p>
            <a:pPr indent="0" marL="0">
              <a:buNone/>
            </a:pPr>
            <a:r>
              <a:rPr lang="en-US" sz="1300" dirty="0">
                <a:solidFill>
                  <a:srgbClr val="9DB2C7"/>
                </a:solidFill>
                <a:latin typeface="Calibri" pitchFamily="34" charset="0"/>
                <a:ea typeface="Calibri" pitchFamily="34" charset="-122"/>
                <a:cs typeface="Calibri" pitchFamily="34" charset="-120"/>
              </a:rPr>
              <a:t>current state + latest plan on dashboard and on-site LCD</a:t>
            </a:r>
            <a:endParaRPr lang="en-US" sz="1300" dirty="0"/>
          </a:p>
        </p:txBody>
      </p:sp>
      <p:sp>
        <p:nvSpPr>
          <p:cNvPr id="33" name="Text 31"/>
          <p:cNvSpPr/>
          <p:nvPr/>
        </p:nvSpPr>
        <p:spPr>
          <a:xfrm>
            <a:off x="548640" y="6309360"/>
            <a:ext cx="11064240" cy="365760"/>
          </a:xfrm>
          <a:prstGeom prst="rect">
            <a:avLst/>
          </a:prstGeom>
          <a:noFill/>
          <a:ln/>
        </p:spPr>
        <p:txBody>
          <a:bodyPr wrap="square" lIns="0" tIns="0" rIns="0" bIns="0" rtlCol="0" anchor="ctr"/>
          <a:lstStyle/>
          <a:p>
            <a:pPr algn="ctr" indent="0" marL="0">
              <a:buNone/>
            </a:pPr>
            <a:r>
              <a:rPr lang="en-US" sz="1300" i="1" dirty="0">
                <a:solidFill>
                  <a:srgbClr val="F5A623"/>
                </a:solidFill>
                <a:latin typeface="Calibri" pitchFamily="34" charset="0"/>
                <a:ea typeface="Calibri" pitchFamily="34" charset="-122"/>
                <a:cs typeface="Calibri" pitchFamily="34" charset="-120"/>
              </a:rPr>
              <a:t>Plans in ~130 ms · closed-loop correction &lt; 1 s · state updates at 2 Hz</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B2D"/>
        </a:solidFill>
      </p:bgPr>
    </p:bg>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rgbClr val="F4F7FB"/>
                </a:solidFill>
                <a:latin typeface="Cambria" pitchFamily="34" charset="0"/>
                <a:ea typeface="Cambria" pitchFamily="34" charset="-122"/>
                <a:cs typeface="Cambria" pitchFamily="34" charset="-120"/>
              </a:rPr>
              <a:t>What we learned the hard way</a:t>
            </a:r>
            <a:endParaRPr lang="en-US" sz="3200" dirty="0"/>
          </a:p>
        </p:txBody>
      </p:sp>
      <p:sp>
        <p:nvSpPr>
          <p:cNvPr id="3" name="Shape 1"/>
          <p:cNvSpPr/>
          <p:nvPr/>
        </p:nvSpPr>
        <p:spPr>
          <a:xfrm>
            <a:off x="548640" y="1417320"/>
            <a:ext cx="5440680" cy="1783080"/>
          </a:xfrm>
          <a:prstGeom prst="roundRect">
            <a:avLst>
              <a:gd name="adj" fmla="val 6154"/>
            </a:avLst>
          </a:prstGeom>
          <a:solidFill>
            <a:srgbClr val="1B2A3F"/>
          </a:solidFill>
          <a:ln/>
        </p:spPr>
      </p:sp>
      <p:sp>
        <p:nvSpPr>
          <p:cNvPr id="4" name="Shape 2"/>
          <p:cNvSpPr/>
          <p:nvPr/>
        </p:nvSpPr>
        <p:spPr>
          <a:xfrm>
            <a:off x="777240" y="1645920"/>
            <a:ext cx="310896" cy="310896"/>
          </a:xfrm>
          <a:prstGeom prst="ellipse">
            <a:avLst/>
          </a:prstGeom>
          <a:solidFill>
            <a:srgbClr val="F0655A"/>
          </a:solidFill>
          <a:ln/>
        </p:spPr>
      </p:sp>
      <p:sp>
        <p:nvSpPr>
          <p:cNvPr id="5" name="Text 3"/>
          <p:cNvSpPr/>
          <p:nvPr/>
        </p:nvSpPr>
        <p:spPr>
          <a:xfrm>
            <a:off x="1234440" y="1581912"/>
            <a:ext cx="4572000" cy="411480"/>
          </a:xfrm>
          <a:prstGeom prst="rect">
            <a:avLst/>
          </a:prstGeom>
          <a:noFill/>
          <a:ln/>
        </p:spPr>
        <p:txBody>
          <a:bodyPr wrap="square" lIns="0" tIns="0" rIns="0" bIns="0" rtlCol="0" anchor="ctr"/>
          <a:lstStyle/>
          <a:p>
            <a:pPr indent="0" marL="0">
              <a:buNone/>
            </a:pPr>
            <a:r>
              <a:rPr lang="en-US" sz="1550" b="1" dirty="0">
                <a:solidFill>
                  <a:srgbClr val="F4F7FB"/>
                </a:solidFill>
                <a:latin typeface="Cambria" pitchFamily="34" charset="0"/>
                <a:ea typeface="Cambria" pitchFamily="34" charset="-122"/>
                <a:cs typeface="Cambria" pitchFamily="34" charset="-120"/>
              </a:rPr>
              <a:t>Sound sensor removed</a:t>
            </a:r>
            <a:endParaRPr lang="en-US" sz="1550" dirty="0"/>
          </a:p>
        </p:txBody>
      </p:sp>
      <p:sp>
        <p:nvSpPr>
          <p:cNvPr id="6" name="Text 4"/>
          <p:cNvSpPr/>
          <p:nvPr/>
        </p:nvSpPr>
        <p:spPr>
          <a:xfrm>
            <a:off x="822960" y="2075688"/>
            <a:ext cx="4892040" cy="1051560"/>
          </a:xfrm>
          <a:prstGeom prst="rect">
            <a:avLst/>
          </a:prstGeom>
          <a:noFill/>
          <a:ln/>
        </p:spPr>
        <p:txBody>
          <a:bodyPr wrap="square" lIns="0" tIns="0" rIns="0" bIns="0" rtlCol="0" anchor="ctr"/>
          <a:lstStyle/>
          <a:p>
            <a:pPr indent="0" marL="0">
              <a:buNone/>
            </a:pPr>
            <a:r>
              <a:rPr lang="en-US" sz="1250" dirty="0">
                <a:solidFill>
                  <a:srgbClr val="9DB2C7"/>
                </a:solidFill>
                <a:latin typeface="Calibri" pitchFamily="34" charset="0"/>
                <a:ea typeface="Calibri" pitchFamily="34" charset="-122"/>
                <a:cs typeface="Calibri" pitchFamily="34" charset="-120"/>
              </a:rPr>
              <a:t>the GrovePi bus samples far too slowly to measure loudness. Loud measured the same as quiet, so we removed it rather than show fake data.</a:t>
            </a:r>
            <a:endParaRPr lang="en-US" sz="1250" dirty="0"/>
          </a:p>
        </p:txBody>
      </p:sp>
      <p:sp>
        <p:nvSpPr>
          <p:cNvPr id="7" name="Shape 5"/>
          <p:cNvSpPr/>
          <p:nvPr/>
        </p:nvSpPr>
        <p:spPr>
          <a:xfrm>
            <a:off x="6263640" y="1417320"/>
            <a:ext cx="5440680" cy="1783080"/>
          </a:xfrm>
          <a:prstGeom prst="roundRect">
            <a:avLst>
              <a:gd name="adj" fmla="val 6154"/>
            </a:avLst>
          </a:prstGeom>
          <a:solidFill>
            <a:srgbClr val="1B2A3F"/>
          </a:solidFill>
          <a:ln/>
        </p:spPr>
      </p:sp>
      <p:sp>
        <p:nvSpPr>
          <p:cNvPr id="8" name="Shape 6"/>
          <p:cNvSpPr/>
          <p:nvPr/>
        </p:nvSpPr>
        <p:spPr>
          <a:xfrm>
            <a:off x="6492240" y="1645920"/>
            <a:ext cx="310896" cy="310896"/>
          </a:xfrm>
          <a:prstGeom prst="ellipse">
            <a:avLst/>
          </a:prstGeom>
          <a:solidFill>
            <a:srgbClr val="6FB7E8"/>
          </a:solidFill>
          <a:ln/>
        </p:spPr>
      </p:sp>
      <p:sp>
        <p:nvSpPr>
          <p:cNvPr id="9" name="Text 7"/>
          <p:cNvSpPr/>
          <p:nvPr/>
        </p:nvSpPr>
        <p:spPr>
          <a:xfrm>
            <a:off x="6949440" y="1581912"/>
            <a:ext cx="4572000" cy="411480"/>
          </a:xfrm>
          <a:prstGeom prst="rect">
            <a:avLst/>
          </a:prstGeom>
          <a:noFill/>
          <a:ln/>
        </p:spPr>
        <p:txBody>
          <a:bodyPr wrap="square" lIns="0" tIns="0" rIns="0" bIns="0" rtlCol="0" anchor="ctr"/>
          <a:lstStyle/>
          <a:p>
            <a:pPr indent="0" marL="0">
              <a:buNone/>
            </a:pPr>
            <a:r>
              <a:rPr lang="en-US" sz="1550" b="1" dirty="0">
                <a:solidFill>
                  <a:srgbClr val="F4F7FB"/>
                </a:solidFill>
                <a:latin typeface="Cambria" pitchFamily="34" charset="0"/>
                <a:ea typeface="Cambria" pitchFamily="34" charset="-122"/>
                <a:cs typeface="Cambria" pitchFamily="34" charset="-120"/>
              </a:rPr>
              <a:t>Simulated where honest</a:t>
            </a:r>
            <a:endParaRPr lang="en-US" sz="1550" dirty="0"/>
          </a:p>
        </p:txBody>
      </p:sp>
      <p:sp>
        <p:nvSpPr>
          <p:cNvPr id="10" name="Text 8"/>
          <p:cNvSpPr/>
          <p:nvPr/>
        </p:nvSpPr>
        <p:spPr>
          <a:xfrm>
            <a:off x="6537960" y="2075688"/>
            <a:ext cx="4892040" cy="1051560"/>
          </a:xfrm>
          <a:prstGeom prst="rect">
            <a:avLst/>
          </a:prstGeom>
          <a:noFill/>
          <a:ln/>
        </p:spPr>
        <p:txBody>
          <a:bodyPr wrap="square" lIns="0" tIns="0" rIns="0" bIns="0" rtlCol="0" anchor="ctr"/>
          <a:lstStyle/>
          <a:p>
            <a:pPr indent="0" marL="0">
              <a:buNone/>
            </a:pPr>
            <a:r>
              <a:rPr lang="en-US" sz="1250" dirty="0">
                <a:solidFill>
                  <a:srgbClr val="9DB2C7"/>
                </a:solidFill>
                <a:latin typeface="Calibri" pitchFamily="34" charset="0"/>
                <a:ea typeface="Calibri" pitchFamily="34" charset="-122"/>
                <a:cs typeface="Calibri" pitchFamily="34" charset="-120"/>
              </a:rPr>
              <a:t>CO₂ and window hardware do not exist in our kit. Both are clearly labelled simulated and respond realistically to planner actions.</a:t>
            </a:r>
            <a:endParaRPr lang="en-US" sz="1250" dirty="0"/>
          </a:p>
        </p:txBody>
      </p:sp>
      <p:sp>
        <p:nvSpPr>
          <p:cNvPr id="11" name="Shape 9"/>
          <p:cNvSpPr/>
          <p:nvPr/>
        </p:nvSpPr>
        <p:spPr>
          <a:xfrm>
            <a:off x="548640" y="3383280"/>
            <a:ext cx="5440680" cy="1783080"/>
          </a:xfrm>
          <a:prstGeom prst="roundRect">
            <a:avLst>
              <a:gd name="adj" fmla="val 6154"/>
            </a:avLst>
          </a:prstGeom>
          <a:solidFill>
            <a:srgbClr val="1B2A3F"/>
          </a:solidFill>
          <a:ln/>
        </p:spPr>
      </p:sp>
      <p:sp>
        <p:nvSpPr>
          <p:cNvPr id="12" name="Shape 10"/>
          <p:cNvSpPr/>
          <p:nvPr/>
        </p:nvSpPr>
        <p:spPr>
          <a:xfrm>
            <a:off x="777240" y="3611880"/>
            <a:ext cx="310896" cy="310896"/>
          </a:xfrm>
          <a:prstGeom prst="ellipse">
            <a:avLst/>
          </a:prstGeom>
          <a:solidFill>
            <a:srgbClr val="F5A623"/>
          </a:solidFill>
          <a:ln/>
        </p:spPr>
      </p:sp>
      <p:sp>
        <p:nvSpPr>
          <p:cNvPr id="13" name="Text 11"/>
          <p:cNvSpPr/>
          <p:nvPr/>
        </p:nvSpPr>
        <p:spPr>
          <a:xfrm>
            <a:off x="1234440" y="3547872"/>
            <a:ext cx="4572000" cy="411480"/>
          </a:xfrm>
          <a:prstGeom prst="rect">
            <a:avLst/>
          </a:prstGeom>
          <a:noFill/>
          <a:ln/>
        </p:spPr>
        <p:txBody>
          <a:bodyPr wrap="square" lIns="0" tIns="0" rIns="0" bIns="0" rtlCol="0" anchor="ctr"/>
          <a:lstStyle/>
          <a:p>
            <a:pPr indent="0" marL="0">
              <a:buNone/>
            </a:pPr>
            <a:r>
              <a:rPr lang="en-US" sz="1550" b="1" dirty="0">
                <a:solidFill>
                  <a:srgbClr val="F4F7FB"/>
                </a:solidFill>
                <a:latin typeface="Cambria" pitchFamily="34" charset="0"/>
                <a:ea typeface="Cambria" pitchFamily="34" charset="-122"/>
                <a:cs typeface="Cambria" pitchFamily="34" charset="-120"/>
              </a:rPr>
              <a:t>Unsolvable goals guarded</a:t>
            </a:r>
            <a:endParaRPr lang="en-US" sz="1550" dirty="0"/>
          </a:p>
        </p:txBody>
      </p:sp>
      <p:sp>
        <p:nvSpPr>
          <p:cNvPr id="14" name="Text 12"/>
          <p:cNvSpPr/>
          <p:nvPr/>
        </p:nvSpPr>
        <p:spPr>
          <a:xfrm>
            <a:off x="822960" y="4041648"/>
            <a:ext cx="4892040" cy="1051560"/>
          </a:xfrm>
          <a:prstGeom prst="rect">
            <a:avLst/>
          </a:prstGeom>
          <a:noFill/>
          <a:ln/>
        </p:spPr>
        <p:txBody>
          <a:bodyPr wrap="square" lIns="0" tIns="0" rIns="0" bIns="0" rtlCol="0" anchor="ctr"/>
          <a:lstStyle/>
          <a:p>
            <a:pPr indent="0" marL="0">
              <a:buNone/>
            </a:pPr>
            <a:r>
              <a:rPr lang="en-US" sz="1250" dirty="0">
                <a:solidFill>
                  <a:srgbClr val="9DB2C7"/>
                </a:solidFill>
                <a:latin typeface="Calibri" pitchFamily="34" charset="0"/>
                <a:ea typeface="Calibri" pitchFamily="34" charset="-122"/>
                <a:cs typeface="Calibri" pitchFamily="34" charset="-120"/>
              </a:rPr>
              <a:t>early bug: the planner was asked to brighten a zone whose lamp was already on. The generator now only emits achievable goals.</a:t>
            </a:r>
            <a:endParaRPr lang="en-US" sz="1250" dirty="0"/>
          </a:p>
        </p:txBody>
      </p:sp>
      <p:sp>
        <p:nvSpPr>
          <p:cNvPr id="15" name="Shape 13"/>
          <p:cNvSpPr/>
          <p:nvPr/>
        </p:nvSpPr>
        <p:spPr>
          <a:xfrm>
            <a:off x="6263640" y="3383280"/>
            <a:ext cx="5440680" cy="1783080"/>
          </a:xfrm>
          <a:prstGeom prst="roundRect">
            <a:avLst>
              <a:gd name="adj" fmla="val 6154"/>
            </a:avLst>
          </a:prstGeom>
          <a:solidFill>
            <a:srgbClr val="1B2A3F"/>
          </a:solidFill>
          <a:ln/>
        </p:spPr>
      </p:sp>
      <p:sp>
        <p:nvSpPr>
          <p:cNvPr id="16" name="Shape 14"/>
          <p:cNvSpPr/>
          <p:nvPr/>
        </p:nvSpPr>
        <p:spPr>
          <a:xfrm>
            <a:off x="6492240" y="3611880"/>
            <a:ext cx="310896" cy="310896"/>
          </a:xfrm>
          <a:prstGeom prst="ellipse">
            <a:avLst/>
          </a:prstGeom>
          <a:solidFill>
            <a:srgbClr val="3FB950"/>
          </a:solidFill>
          <a:ln/>
        </p:spPr>
      </p:sp>
      <p:sp>
        <p:nvSpPr>
          <p:cNvPr id="17" name="Text 15"/>
          <p:cNvSpPr/>
          <p:nvPr/>
        </p:nvSpPr>
        <p:spPr>
          <a:xfrm>
            <a:off x="6949440" y="3547872"/>
            <a:ext cx="4572000" cy="411480"/>
          </a:xfrm>
          <a:prstGeom prst="rect">
            <a:avLst/>
          </a:prstGeom>
          <a:noFill/>
          <a:ln/>
        </p:spPr>
        <p:txBody>
          <a:bodyPr wrap="square" lIns="0" tIns="0" rIns="0" bIns="0" rtlCol="0" anchor="ctr"/>
          <a:lstStyle/>
          <a:p>
            <a:pPr indent="0" marL="0">
              <a:buNone/>
            </a:pPr>
            <a:r>
              <a:rPr lang="en-US" sz="1550" b="1" dirty="0">
                <a:solidFill>
                  <a:srgbClr val="F4F7FB"/>
                </a:solidFill>
                <a:latin typeface="Cambria" pitchFamily="34" charset="0"/>
                <a:ea typeface="Cambria" pitchFamily="34" charset="-122"/>
                <a:cs typeface="Cambria" pitchFamily="34" charset="-120"/>
              </a:rPr>
              <a:t>WiFi is the real enemy</a:t>
            </a:r>
            <a:endParaRPr lang="en-US" sz="1550" dirty="0"/>
          </a:p>
        </p:txBody>
      </p:sp>
      <p:sp>
        <p:nvSpPr>
          <p:cNvPr id="18" name="Text 16"/>
          <p:cNvSpPr/>
          <p:nvPr/>
        </p:nvSpPr>
        <p:spPr>
          <a:xfrm>
            <a:off x="6537960" y="4041648"/>
            <a:ext cx="4892040" cy="1051560"/>
          </a:xfrm>
          <a:prstGeom prst="rect">
            <a:avLst/>
          </a:prstGeom>
          <a:noFill/>
          <a:ln/>
        </p:spPr>
        <p:txBody>
          <a:bodyPr wrap="square" lIns="0" tIns="0" rIns="0" bIns="0" rtlCol="0" anchor="ctr"/>
          <a:lstStyle/>
          <a:p>
            <a:pPr indent="0" marL="0">
              <a:buNone/>
            </a:pPr>
            <a:r>
              <a:rPr lang="en-US" sz="1250" dirty="0">
                <a:solidFill>
                  <a:srgbClr val="9DB2C7"/>
                </a:solidFill>
                <a:latin typeface="Calibri" pitchFamily="34" charset="0"/>
                <a:ea typeface="Calibri" pitchFamily="34" charset="-122"/>
                <a:cs typeface="Calibri" pitchFamily="34" charset="-120"/>
              </a:rPr>
              <a:t>client isolation, band steering and power-save all bit us. Demo mode now spans its own access point.</a:t>
            </a:r>
            <a:endParaRPr lang="en-US" sz="1250" dirty="0"/>
          </a:p>
        </p:txBody>
      </p:sp>
      <p:sp>
        <p:nvSpPr>
          <p:cNvPr id="19" name="Text 17"/>
          <p:cNvSpPr/>
          <p:nvPr/>
        </p:nvSpPr>
        <p:spPr>
          <a:xfrm>
            <a:off x="548640" y="5623560"/>
            <a:ext cx="11064240" cy="548640"/>
          </a:xfrm>
          <a:prstGeom prst="rect">
            <a:avLst/>
          </a:prstGeom>
          <a:noFill/>
          <a:ln/>
        </p:spPr>
        <p:txBody>
          <a:bodyPr wrap="square" lIns="0" tIns="0" rIns="0" bIns="0" rtlCol="0" anchor="ctr"/>
          <a:lstStyle/>
          <a:p>
            <a:pPr algn="ctr" indent="0" marL="0">
              <a:buNone/>
            </a:pPr>
            <a:r>
              <a:rPr lang="en-US" sz="2000" b="1" dirty="0">
                <a:solidFill>
                  <a:srgbClr val="F5A623"/>
                </a:solidFill>
                <a:latin typeface="Cambria" pitchFamily="34" charset="0"/>
                <a:ea typeface="Cambria" pitchFamily="34" charset="-122"/>
                <a:cs typeface="Cambria" pitchFamily="34" charset="-120"/>
              </a:rPr>
              <a:t>Questions? Everything is in the repo, including this deck.</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2026-07-12T17:54:18Z</dcterms:created>
  <dcterms:modified xsi:type="dcterms:W3CDTF">2026-07-12T17:54:18Z</dcterms:modified>
</cp:coreProperties>
</file>
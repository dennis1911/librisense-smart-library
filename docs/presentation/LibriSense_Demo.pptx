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line: our library notices you, thinks ahead and acts on its own. Everything runs live on this desk: two Raspberry Pis, real sensors, a real lamp.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opener (idea by Niclas). Tell it slowly, first person. The card numbers are an illustrative scenario; the Harvard COGfx study (2015) documented cognitive decline above roughly 1,000 ppm CO2. Close with the question, then answer it on the next slide: this is exactly what LibriSense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explaining slide: on the desk sit two Raspberry Pis. The edge Pi senses and acts, the core Pi thinks: every sensor reading flows over MQTT into the context, becomes a PDDL problem with weather-based costs, Fast Downward returns the cost-optimal plan, the executor sends the actions back to the edge. The laptop is only a window into the system; in the demo it joins the WiFi that the core Pi itself provides.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Green tags are real hardware you can touch on the desk. Blue means simulated or virtual, always labelled honestly: our kit has no CO2 sensor and no motorised windows, so both are modelled and react realistically to planner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modularity, indirect communication and distribution in one picture. Every arrow is a retained MQTT topic, so any module can restart and resynchronise instantly.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action shown is the interesting one: a short pulse knocks high CO2 down one band only. Together with full_ventilate this gives the planner two genuinely different strategies for the same goal. Costs are static fluents written into each problem instance by the generator, computed from live outdoor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Q&amp;A ammunition: search is A* with the LM-Cut admissible heuristic, so plans are cost-optimal, not just satisficing. Whole planner invocation including translation is about 130 ms on the Pi 5; pure search under 2 ms at this problem size. Unsolvable and timeout cases are handled explicitly, and the generator never emits a goal without an achieving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split: person A at the desk triggers each moment, person B narrates the dashboard, person C explains the plan card whenever it changes. Keep this slide up during the live part as the run-sheet.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read the table aloud; point at the measured numbers at the bottom. These are from the running system, not estimates.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prep. Why planning, not rules? For one seat rules would do; the value is declared goals, per-instance costs and provable optimality, and it scales by adding actions instead of case distinctions. Why classical, not HTN? No task hierarchy needed; a discretised world fits classical planning with action costs exactly. What is real? Motion, light, lamp, LED, buzzer, LCD, weather. CO2 and windows are simulated and labelled.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ennisgunt/Library/CloudStorage/OneDrive-Persönlich/Master_Studium/03_Semester/SmartCities/librisense/docs/logo/librisense_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94376" y="868680"/>
            <a:ext cx="1600200" cy="1600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56032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LibriSense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0" y="3584448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adaptive smart library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0" y="60350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C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Dennis Gunt · Haoyang Chen · Niclas Mittag     |     Smart Cities and the IoT · University of Stuttgart     |     20 July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5852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 hot Monday morning.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find a seat in the library,</a:t>
            </a:r>
            <a:endParaRPr lang="en-US" sz="2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the door.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2377440" cy="0"/>
          </a:xfrm>
          <a:prstGeom prst="line">
            <a:avLst/>
          </a:prstGeom>
          <a:noFill/>
          <a:ln w="12700">
            <a:solidFill>
              <a:srgbClr val="3A4A6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154680"/>
            <a:ext cx="5852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hours in, the air is heavy.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can't open the window.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hotter outside than in.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45262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hour three, you're rereading the same paragraph.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51206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noticed. Nobody acted.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223760" y="960120"/>
            <a:ext cx="4297680" cy="1874520"/>
          </a:xfrm>
          <a:prstGeom prst="roundRect">
            <a:avLst>
              <a:gd name="adj" fmla="val 4878"/>
            </a:avLst>
          </a:prstGeom>
          <a:solidFill>
            <a:srgbClr val="2A2113"/>
          </a:solidFill>
          <a:ln w="12700">
            <a:solidFill>
              <a:srgbClr val="6B54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5236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TEMPERATURE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52360" y="14630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°C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7452360" y="2331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8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stay closed, hotter outside than 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23760" y="3063240"/>
            <a:ext cx="4297680" cy="2331720"/>
          </a:xfrm>
          <a:prstGeom prst="roundRect">
            <a:avLst>
              <a:gd name="adj" fmla="val 3922"/>
            </a:avLst>
          </a:prstGeom>
          <a:solidFill>
            <a:srgbClr val="2A1214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52360" y="32461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065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CONCENTRATION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52360" y="3675888"/>
            <a:ext cx="3840480" cy="0"/>
          </a:xfrm>
          <a:prstGeom prst="line">
            <a:avLst/>
          </a:prstGeom>
          <a:noFill/>
          <a:ln w="25400">
            <a:solidFill>
              <a:srgbClr val="F065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66960" y="3584448"/>
            <a:ext cx="0" cy="182880"/>
          </a:xfrm>
          <a:prstGeom prst="line">
            <a:avLst/>
          </a:prstGeom>
          <a:noFill/>
          <a:ln w="25400">
            <a:solidFill>
              <a:srgbClr val="F065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37673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7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ppm threshold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452360" y="40233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065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1,547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7452360" y="48920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ppm · cognitive performance declines above 1,000 ppm (Harvard study, 2015)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23760" y="553212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3A4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UNIVERSITÄTSBIBLIOTHEK STUTTGART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the room could?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two Raspberry Pis and a browser dashboard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325880"/>
            <a:ext cx="3383280" cy="434340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481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Raspberry Pi 3 B+  ·  edge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193852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68680" y="2194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sensor · 2 Hz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sensor · 2 Hz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68680" y="322783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lamp · ZigBee relay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LED + quiet buzzer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LCD · CO₂ light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443484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1170432" y="44165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switches a real desk lamp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325880"/>
            <a:ext cx="3566160" cy="43434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4813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Raspberry Pi 5  ·  core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937760" y="1874520"/>
            <a:ext cx="3108960" cy="384048"/>
          </a:xfrm>
          <a:prstGeom prst="roundRect">
            <a:avLst>
              <a:gd name="adj" fmla="val 14286"/>
            </a:avLst>
          </a:prstGeom>
          <a:solidFill>
            <a:srgbClr val="FBEFD9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91109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broker · Mosquitto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937760" y="2450592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17" name="Text 15"/>
          <p:cNvSpPr/>
          <p:nvPr/>
        </p:nvSpPr>
        <p:spPr>
          <a:xfrm>
            <a:off x="5047488" y="249631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47488" y="273405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CO₂ · session FSM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0" y="2962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3209544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5047488" y="3255264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generator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47488" y="349300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goals + weather costs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0" y="3721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3968496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BEFD9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47488" y="40142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· Fast Downward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47488" y="425196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cost-optimal plan, ~130 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937760" y="4727448"/>
            <a:ext cx="3108960" cy="54864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/>
        </p:spPr>
      </p:sp>
      <p:sp>
        <p:nvSpPr>
          <p:cNvPr id="29" name="Text 27"/>
          <p:cNvSpPr/>
          <p:nvPr/>
        </p:nvSpPr>
        <p:spPr>
          <a:xfrm>
            <a:off x="5047488" y="4773168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047488" y="5010912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dispatches planned actions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006840" y="1325880"/>
            <a:ext cx="2560320" cy="4343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5875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8972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 · browser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189720" y="193852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189720" y="219456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floor plan + windows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plan with cost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Pomodoro session rings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89720" y="416052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demo mode the laptop joins the WiFi access point spanned by the Pi 5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059936" y="2148840"/>
            <a:ext cx="621792" cy="292608"/>
          </a:xfrm>
          <a:prstGeom prst="rightArrow">
            <a:avLst/>
          </a:prstGeom>
          <a:solidFill>
            <a:srgbClr val="15803D"/>
          </a:solidFill>
          <a:ln/>
        </p:spPr>
      </p:sp>
      <p:sp>
        <p:nvSpPr>
          <p:cNvPr id="37" name="Text 35"/>
          <p:cNvSpPr/>
          <p:nvPr/>
        </p:nvSpPr>
        <p:spPr>
          <a:xfrm>
            <a:off x="3913632" y="18470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data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059936" y="4297680"/>
            <a:ext cx="621792" cy="292608"/>
          </a:xfrm>
          <a:prstGeom prst="leftArrow">
            <a:avLst/>
          </a:prstGeom>
          <a:solidFill>
            <a:srgbClr val="D97706"/>
          </a:solidFill>
          <a:ln/>
        </p:spPr>
      </p:sp>
      <p:sp>
        <p:nvSpPr>
          <p:cNvPr id="39" name="Text 37"/>
          <p:cNvSpPr/>
          <p:nvPr/>
        </p:nvSpPr>
        <p:spPr>
          <a:xfrm>
            <a:off x="3913632" y="462686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311896" y="2148840"/>
            <a:ext cx="621792" cy="292608"/>
          </a:xfrm>
          <a:prstGeom prst="rightArrow">
            <a:avLst/>
          </a:prstGeom>
          <a:solidFill>
            <a:srgbClr val="1D4ED8"/>
          </a:solidFill>
          <a:ln/>
        </p:spPr>
      </p:sp>
      <p:sp>
        <p:nvSpPr>
          <p:cNvPr id="41" name="Text 39"/>
          <p:cNvSpPr/>
          <p:nvPr/>
        </p:nvSpPr>
        <p:spPr>
          <a:xfrm>
            <a:off x="8156448" y="18470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+ plan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40080" y="5989320"/>
            <a:ext cx="1092708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6126480"/>
            <a:ext cx="1092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effect: the lamp follows occupancy and darkness · the airing strategy follows weather costs · breaks are nudged after 2 min · disturbances are corrected in under 1 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Sensors, actuators and functionality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Sensors  · 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Actuators  ·  6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50392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Functionality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/ occupancy · 2 Hz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Illuminance · 2 Hz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concentration proxy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4008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Outdoor weather (REST API)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Focus-session FSM (4 states)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25328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0" y="198424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lamp · ZigBee relay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0" y="229514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0" y="3246120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0" y="269748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LED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0" y="3959352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0" y="34107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buzzer · PWM, quiet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0" y="372160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4672584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0" y="412394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LCD · CO₂ traffic light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0" y="4434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0" y="5385816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0" y="48371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ventilation · 2 levels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0" y="51480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0" y="60990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0" y="555040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break banner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0" y="58613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503920" y="262432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1965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the seat when occupied and dark; off when empty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503920" y="344728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03920" y="27889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the room by pulse or full opening, picked by cost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503920" y="427024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03920" y="36118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 breaks via LED + buzzer after 2 min of focus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503920" y="509320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03920" y="44348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state + current plan on dashboard and LCD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503920" y="5916168"/>
            <a:ext cx="32918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503920" y="52578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Re-plan on every state change; recover in &lt; 1 s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40080" y="6400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physical sensors + 4 physical actuators on the desk · simulated parts are always labelled as such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modules, communicating only via MQTT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· light · weather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0662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7180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06324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state · CO₂ · FSM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3834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0352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Gen.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39496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→ PDDL + costs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7006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63524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BEFD9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2668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72668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Downward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01784" y="2084832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966960" y="1737360"/>
            <a:ext cx="2057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0" y="18745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0058400" y="22860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actions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337560"/>
            <a:ext cx="10927080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456432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bus (Eclipse Mosquitto) · retained topics: sensors → state → problem → plan → actions → actuator feedback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machines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5 runs broker, context, planner, dashboard (7 services). Pi 3 B+ runs sensors, actuators, LCD (3 services).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8056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loop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48056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effects are sensed again and trigger re-planning. No module calls another directly.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832104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Self-contained demo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321040" y="470916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Pi spans its own WiFi access point; edge Pi and dashboard laptop join 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1/2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model: classical PDDL with action costs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669280" cy="3977640"/>
          </a:xfrm>
          <a:prstGeom prst="roundRect">
            <a:avLst>
              <a:gd name="adj" fmla="val 1839"/>
            </a:avLst>
          </a:prstGeom>
          <a:solidFill>
            <a:srgbClr val="F3F4F6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4592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(:action pulse_ventilate_step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:parameters (?z - zone)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:precondition (and (occupied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:effect (and (not (co2_high ?z))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(co2_elevated ?z)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(increase (total-cost)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(pulse-vent-cost))))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(:goal (and (not (dark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(co2_high r1))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(not (co2_elevated r1))))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(:metric minimize (total-cost))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68680" y="54864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excerpt from librisense.pddl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type · 8 predicates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675120" y="18928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zone; occupied, dark, lamp_on, co2_elevated, co2_high, ventilating, break_due, break_suggested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75120" y="2560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actions, all cost-annotated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75120" y="29443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 on/off · suggest_break · pulse / pulse-step / full ventilation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Discretisation thresholds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675120" y="399592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below 40 % light · CO₂ bands at 800 and 1100 ppm · FSM sets break_due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67512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Costs are per-instance fluents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675120" y="50474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= 3 fixed · full = 4 + ΔT/2 with ΔT = max(0, 22 °C − T_outdoor), from the heat-loss relation Q ∝ Q_v · ΔT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57150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values are discretised before planning, so the domain stays classical and plans remain provably optimal.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PLANNING · 2/2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Solving: A* + LM-Cut, optimal in ~130 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library/state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69748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7180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666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discretise + goals + costs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5838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PDDL instance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36092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63524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9010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 Downward astar(lmcut())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692640" y="1536192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966960" y="1463040"/>
            <a:ext cx="2057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21824" y="1517904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library/plan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40080" y="2240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whenever the discretised state or the costs change, plus a 30 s heartbeat. Only achievable goals are emitted, so every instance is solvable; an empty goal set skips the planner entirely.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0632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state (occupied, CO₂ high), different weather: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°C outside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12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[pulse_ventilate_step, pulse_ventilate]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6, beats 12 · winter airing: two short pulses, heat stays inside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63640" y="36118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°C outside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63640" y="4005072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pulse 3 · full 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63640" y="4370832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[full_ventilate]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263640" y="4800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4, beats 6 · summer airing: one long opening clears the air fastest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562356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LM-Cut is admissible, so A* returns minimal-cost plans. The winter strategy is not hard-coded; it results from the weather-dependent action costs.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 procedure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23444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Sit down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3444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detected, focus session starts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23444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63640" y="16642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1645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the light sensor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204825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turns dark, the real lamp switches 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0" y="272491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23444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 the lamp off manually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disturbance is detected and corrected in under 1 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23444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3640" y="3081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858000" y="30632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focusing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46557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2 min: LED and gentle buzzer suggest a break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0" y="414223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23444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 rises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3444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opens the windows on the floor plan, CO₂ falls again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23444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858000" y="4480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away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8828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empties, lamp switches off to save energy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858000" y="5559552"/>
            <a:ext cx="457200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080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on the simulated 6-seat floor plan for context, then hide it and focus on the one real seat.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21945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six requirements are met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161848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distribution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0" y="16367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Raspberry Pis, own WiFi in demo mode, 10 systemd services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13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2331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 communication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3500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publish/subscribe only, retained latest-value topics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816352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3044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planning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0" y="30632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PDDL domain, auto-generated instances, Fast Downward, cost-optimal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529584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739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7581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0" y="37764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sensors (2 physical) · 6 actuators (4 physical)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242816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4531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4714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design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572000" y="448970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decoupled modules, each independently restartable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956048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43000" y="5184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Visualisation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572000" y="520293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 + latest plan on dashboard and on-site LCD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5669280"/>
            <a:ext cx="1088136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77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plans in ~130 ms · closed-loop correction &lt; 1 s · state at 2 Hz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 LEARNED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Sound sensor removed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5836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could not measure loudness over the slow GrovePi bus, so we removed it instead of publishing noise as data.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281928" y="10515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Unsolvable goals prevented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281928" y="147218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early bug asked the planner to brighten a zone whose lamp was already on. The generator now emits only achievable goals.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CO₂ and windows are simulated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modelled, clearly labelled, and react realistically to planner actions.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81928" y="26060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WiFi reliability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81928" y="302666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B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isolation, band steering and power-save caused repeated dropouts, so the demo runs on its own access point.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4434840"/>
            <a:ext cx="10881360" cy="0"/>
          </a:xfrm>
          <a:prstGeom prst="line">
            <a:avLst/>
          </a:prstGeom>
          <a:noFill/>
          <a:ln w="9525">
            <a:solidFill>
              <a:srgbClr val="2A3B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89204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0" y="57607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8B4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PDDL domain, docs and this deck: github.com/Dennis1911/librisense-smart-library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2026-07-16T10:42:43Z</dcterms:created>
  <dcterms:modified xsi:type="dcterms:W3CDTF">2026-07-16T10:42:43Z</dcterms:modified>
</cp:coreProperties>
</file>
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line: our library notices you, thinks ahead and acts on its own. Everything runs live on this desk: two Raspberry Pis, real sensors, a real lamp.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Narrative opener (idea by Niclas). Tell it slowly, first person. The card numbers are an illustrative scenario; the Harvard COGfx study (2015) documented cognitive decline above roughly 1,000 ppm CO2. Close with the question, then answer it on the next slide: this is exactly what LibriSense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explaining slide: on the desk sit two Raspberry Pis. The edge Pi senses and acts, the core Pi thinks: every sensor reading flows over MQTT into the context, becomes a PDDL problem with weather-based costs, Fast Downward returns the cost-optimal plan, the executor sends the actions back to the edge. The laptop is only a window into the system; in the demo it joins the WiFi that the core Pi itself provides.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for how the planner decides. Walk it left to right on one real example: the room senses continuous values; the generator discretises them into PDDL facts using fixed thresholds; it frames a problem with a goal and weather-based action costs; Fast Downward searches with A* and the admissible LM-Cut heuristic and returns the cost-optimal plan; the executor acts. Because full-vent-cost is only 4 at 33 °C, one full airing beats two pulses. The loop bar is the key point: nothing is scripted, the behaviour falls out of goals plus costs, and it re-plans on every change. Slide 7 shows the real domain code, slide 8 the search, slide 9 the winter contrast.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Green tags are real hardware you can touch on the desk. Blue means simulated or virtual, always labelled honestly: our kit has no CO2 sensor and no motorised windows, so both are modelled and react realistically to planner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modularity, indirect communication and distribution in one picture. Every arrow is a retained MQTT topic, so any module can restart and resynchronise instantly.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action shown is the interesting one: a short pulse knocks high CO2 down one band only. Together with full_ventilate this gives the planner two genuinely different strategies for the same goal. Costs are static fluents written into each problem instance by the generator, computed from live outdoor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Chen's technical slide. Message: we do not just find A plan, we find the cheapest one, and we can prove it. A* is best-first search on f = g + h. LM-Cut is the heuristic h: it derives landmarks (every plan must open the window somehow) and sums the cheapest action per landmark, which is a lower bound that never overestimates — that admissibility is exactly what makes A* optimal. On the tree: the full_ventilate branch reaches a goal with f=4; the two-pulse branch only reaches its goal at f=6, and because A* always expands the lowest f first, it settles the f=4 goal before ever completing the f=6 path. Numbers: about 130 ms total on the Pi 5 including PDDL translation, the raw search is under 2 ms at this size. Note for a bring-a-card cheat sheet: A* = best-first on g+h; LM-Cut = admissible landmark heuristic; admissible ⇒ optimal.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slide for planning over rules. Identical goal, identical domain; only the numeric costs differ because the generator reads live outdoor temperature. At 5 °C a full airing is expensive (12), so two cheap pulses (3+3=6) win; at 33 °C the full airing is cheap (4) and beats two pulses (6). We never wrote a winter branch — the behaviour is a consequence of the cost model plus optimal search. If asked why not just rules: a rule set would need a hand-tuned threshold for every weather-and-state combination; here one cost formula covers the whole continuum and stays correct as we add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Role split: person A at the desk triggers each moment, person B narrates the dashboard, person C explains the plan card whenever it changes. Keep this slide up during the live part as the run-sheet. On 'disturbance': steps 2 and 3 are deliberately different. Covering the sensor (step 2) is a normal input change — the room simply reacts by lighting the lamp. Step 3 is the real disturbance: someone switches the lamp off by hand while the seat is still occupied and dark, so the world stops matching the plan's goal; the closed loop notices the mismatch and re-plans to switch it back on within a second. That robustness to outside interference is the point, not just reacting to darkness.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slide — take your time here, this plus the closing slide are the 2 to 3 minute summary. Frame it as a walk back through the six course requirements and how each is satisfied by something the audience just saw live: distribution = the two Pis on the desk; indirect communication = everything went over MQTT; AI planning = the PDDL problem and the cost-optimal plan on the dashboard; IoT = the sensors and the real lamp/LED/buzzer/LCD; system design = eight modules we could restart independently; visualisation = the dashboard and the on-site LCD. Do not read the table verbatim — point at the measured numbers at the bottom and stress they are from the running system, not estimates: plans in about 130 ms, closed-loop correction under a second, state at 2 Hz.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summary — spend a minute here to tie a bow on it. Suggested wording: 'To sum up: we started with a stuffy, over-lit reading room that nobody manages. We gave it senses, a planner and hands. It reads occupancy, light, a CO2 proxy and the weather; it turns that into a PDDL problem with real action costs; Fast Downward finds the cheapest plan; and it acts on a real lamp, LED, buzzer and the windows — re-planning on every change and correcting disturbances in under a second. All six course requirements are met on live hardware.' Then the honest lessons on this slide: we dropped the sound sensor rather than fake it, we stopped the planner from being handed impossible goals, we label every simulated part, and we learned that WiFi was the hardest part so the demo carries its own access point. Close on the opening scene: 'the room from the first slide would have noticed, and acted.' Then invite questions. Q&amp;A ammunition: Why planning, not rules? For one seat rules would do; the value is declared goals, per-instance costs and provable optimality, and it scales by adding actions instead of case distinctions. Why classical, not HTN? No task hierarchy needed; a discretised world fits classical planning with action costs exactly. What is real vs simulated? Real: motion, light, lamp, LED, buzzer, LCD, weather. Simulated and clearly labelled: CO2 and the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pic>
        <p:nvPicPr>
          <p:cNvPr id="2" name="Image 0" descr="/Users/dennisgunt/Library/CloudStorage/OneDrive-Persönlich/Master_Studium/03_Semester/SmartCities/librisense/docs/logo/librisense_logo_dark.png">    </p:cNvPr>
          <p:cNvPicPr>
            <a:picLocks noChangeAspect="1"/>
          </p:cNvPicPr>
          <p:nvPr/>
        </p:nvPicPr>
        <p:blipFill>
          <a:blip r:embed="rId1"/>
          <a:stretch>
            <a:fillRect/>
          </a:stretch>
        </p:blipFill>
        <p:spPr>
          <a:xfrm>
            <a:off x="5294376" y="868680"/>
            <a:ext cx="1600200" cy="1600200"/>
          </a:xfrm>
          <a:prstGeom prst="rect">
            <a:avLst/>
          </a:prstGeom>
        </p:spPr>
      </p:pic>
      <p:sp>
        <p:nvSpPr>
          <p:cNvPr id="3" name="Text 0"/>
          <p:cNvSpPr/>
          <p:nvPr/>
        </p:nvSpPr>
        <p:spPr>
          <a:xfrm>
            <a:off x="0" y="2560320"/>
            <a:ext cx="12188952" cy="1005840"/>
          </a:xfrm>
          <a:prstGeom prst="rect">
            <a:avLst/>
          </a:prstGeom>
          <a:noFill/>
          <a:ln/>
        </p:spPr>
        <p:txBody>
          <a:bodyPr wrap="square" lIns="0" tIns="0" rIns="0" bIns="0" rtlCol="0" anchor="ctr"/>
          <a:lstStyle/>
          <a:p>
            <a:pPr algn="ctr" indent="0" marL="0">
              <a:buNone/>
            </a:pPr>
            <a:r>
              <a:rPr lang="en-US" sz="5400" b="1" dirty="0">
                <a:solidFill>
                  <a:srgbClr val="FFFFFF"/>
                </a:solidFill>
                <a:latin typeface="Cambria" pitchFamily="34" charset="0"/>
                <a:ea typeface="Cambria" pitchFamily="34" charset="-122"/>
                <a:cs typeface="Cambria" pitchFamily="34" charset="-120"/>
              </a:rPr>
              <a:t>LibriSense</a:t>
            </a:r>
            <a:endParaRPr lang="en-US" sz="5400" dirty="0"/>
          </a:p>
        </p:txBody>
      </p:sp>
      <p:sp>
        <p:nvSpPr>
          <p:cNvPr id="4" name="Text 1"/>
          <p:cNvSpPr/>
          <p:nvPr/>
        </p:nvSpPr>
        <p:spPr>
          <a:xfrm>
            <a:off x="0" y="3584448"/>
            <a:ext cx="12188952" cy="457200"/>
          </a:xfrm>
          <a:prstGeom prst="rect">
            <a:avLst/>
          </a:prstGeom>
          <a:noFill/>
          <a:ln/>
        </p:spPr>
        <p:txBody>
          <a:bodyPr wrap="square" lIns="0" tIns="0" rIns="0" bIns="0" rtlCol="0" anchor="ctr"/>
          <a:lstStyle/>
          <a:p>
            <a:pPr algn="ctr" indent="0" marL="0">
              <a:buNone/>
            </a:pPr>
            <a:r>
              <a:rPr lang="en-US" sz="1800" dirty="0">
                <a:solidFill>
                  <a:srgbClr val="E8B45A"/>
                </a:solidFill>
                <a:latin typeface="Calibri" pitchFamily="34" charset="0"/>
                <a:ea typeface="Calibri" pitchFamily="34" charset="-122"/>
                <a:cs typeface="Calibri" pitchFamily="34" charset="-120"/>
              </a:rPr>
              <a:t>An adaptive smart library</a:t>
            </a:r>
            <a:endParaRPr lang="en-US" sz="1800" dirty="0"/>
          </a:p>
        </p:txBody>
      </p:sp>
      <p:sp>
        <p:nvSpPr>
          <p:cNvPr id="5" name="Text 2"/>
          <p:cNvSpPr/>
          <p:nvPr/>
        </p:nvSpPr>
        <p:spPr>
          <a:xfrm>
            <a:off x="0" y="6035040"/>
            <a:ext cx="12188952" cy="365760"/>
          </a:xfrm>
          <a:prstGeom prst="rect">
            <a:avLst/>
          </a:prstGeom>
          <a:noFill/>
          <a:ln/>
        </p:spPr>
        <p:txBody>
          <a:bodyPr wrap="square" lIns="0" tIns="0" rIns="0" bIns="0" rtlCol="0" anchor="ctr"/>
          <a:lstStyle/>
          <a:p>
            <a:pPr algn="ctr" indent="0" marL="0">
              <a:buNone/>
            </a:pPr>
            <a:r>
              <a:rPr lang="en-US" sz="1250" dirty="0">
                <a:solidFill>
                  <a:srgbClr val="8CA0B8"/>
                </a:solidFill>
                <a:latin typeface="Calibri" pitchFamily="34" charset="0"/>
                <a:ea typeface="Calibri" pitchFamily="34" charset="-122"/>
                <a:cs typeface="Calibri" pitchFamily="34" charset="-120"/>
              </a:rPr>
              <a:t>Dennis Gunt · Haoyang Chen · Niclas Mittag     |     Smart Cities and the IoT · University of Stuttgart     |     20 July 2026</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822960" y="502920"/>
            <a:ext cx="548640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THE PROBLEM</a:t>
            </a:r>
            <a:endParaRPr lang="en-US" sz="1100" dirty="0"/>
          </a:p>
        </p:txBody>
      </p:sp>
      <p:sp>
        <p:nvSpPr>
          <p:cNvPr id="3" name="Text 1"/>
          <p:cNvSpPr/>
          <p:nvPr/>
        </p:nvSpPr>
        <p:spPr>
          <a:xfrm>
            <a:off x="822960" y="1097280"/>
            <a:ext cx="5852160" cy="1600200"/>
          </a:xfrm>
          <a:prstGeom prst="rect">
            <a:avLst/>
          </a:prstGeom>
          <a:noFill/>
          <a:ln/>
        </p:spPr>
        <p:txBody>
          <a:bodyPr wrap="square" lIns="0" tIns="0" rIns="0" bIns="0" rtlCol="0" anchor="ctr"/>
          <a:lstStyle/>
          <a:p>
            <a:pPr indent="0" marL="0">
              <a:lnSpc>
                <a:spcPct val="115000"/>
              </a:lnSpc>
              <a:buNone/>
            </a:pPr>
            <a:r>
              <a:rPr lang="en-US" sz="2500" b="1" dirty="0">
                <a:solidFill>
                  <a:srgbClr val="FFFFFF"/>
                </a:solidFill>
                <a:latin typeface="Cambria" pitchFamily="34" charset="0"/>
                <a:ea typeface="Cambria" pitchFamily="34" charset="-122"/>
                <a:cs typeface="Cambria" pitchFamily="34" charset="-120"/>
              </a:rPr>
              <a:t>It's a hot Monday morning.</a:t>
            </a:r>
            <a:endParaRPr lang="en-US" sz="2500" dirty="0"/>
          </a:p>
          <a:p>
            <a:pPr indent="0" marL="0">
              <a:lnSpc>
                <a:spcPct val="115000"/>
              </a:lnSpc>
              <a:buNone/>
            </a:pPr>
            <a:r>
              <a:rPr lang="en-US" sz="2500" b="1" dirty="0">
                <a:solidFill>
                  <a:srgbClr val="FFFFFF"/>
                </a:solidFill>
                <a:latin typeface="Cambria" pitchFamily="34" charset="0"/>
                <a:ea typeface="Cambria" pitchFamily="34" charset="-122"/>
                <a:cs typeface="Cambria" pitchFamily="34" charset="-120"/>
              </a:rPr>
              <a:t>You find a seat in the library,</a:t>
            </a:r>
            <a:endParaRPr lang="en-US" sz="2500" dirty="0"/>
          </a:p>
          <a:p>
            <a:pPr indent="0" marL="0">
              <a:lnSpc>
                <a:spcPct val="115000"/>
              </a:lnSpc>
              <a:buNone/>
            </a:pPr>
            <a:r>
              <a:rPr lang="en-US" sz="2500" b="1" dirty="0">
                <a:solidFill>
                  <a:srgbClr val="FFFFFF"/>
                </a:solidFill>
                <a:latin typeface="Cambria" pitchFamily="34" charset="0"/>
                <a:ea typeface="Cambria" pitchFamily="34" charset="-122"/>
                <a:cs typeface="Cambria" pitchFamily="34" charset="-120"/>
              </a:rPr>
              <a:t>close the door.</a:t>
            </a:r>
            <a:endParaRPr lang="en-US" sz="2500" dirty="0"/>
          </a:p>
        </p:txBody>
      </p:sp>
      <p:sp>
        <p:nvSpPr>
          <p:cNvPr id="4" name="Shape 2"/>
          <p:cNvSpPr/>
          <p:nvPr/>
        </p:nvSpPr>
        <p:spPr>
          <a:xfrm>
            <a:off x="822960" y="2926080"/>
            <a:ext cx="2377440" cy="0"/>
          </a:xfrm>
          <a:prstGeom prst="line">
            <a:avLst/>
          </a:prstGeom>
          <a:noFill/>
          <a:ln w="12700">
            <a:solidFill>
              <a:srgbClr val="3A4A63"/>
            </a:solidFill>
            <a:prstDash val="solid"/>
          </a:ln>
        </p:spPr>
      </p:sp>
      <p:sp>
        <p:nvSpPr>
          <p:cNvPr id="5" name="Text 3"/>
          <p:cNvSpPr/>
          <p:nvPr/>
        </p:nvSpPr>
        <p:spPr>
          <a:xfrm>
            <a:off x="822960" y="3154680"/>
            <a:ext cx="5852160" cy="1234440"/>
          </a:xfrm>
          <a:prstGeom prst="rect">
            <a:avLst/>
          </a:prstGeom>
          <a:noFill/>
          <a:ln/>
        </p:spPr>
        <p:txBody>
          <a:bodyPr wrap="square" lIns="0" tIns="0" rIns="0" bIns="0" rtlCol="0" anchor="ctr"/>
          <a:lstStyle/>
          <a:p>
            <a:pPr indent="0" marL="0">
              <a:lnSpc>
                <a:spcPct val="130000"/>
              </a:lnSpc>
              <a:buNone/>
            </a:pPr>
            <a:r>
              <a:rPr lang="en-US" sz="1550" dirty="0">
                <a:solidFill>
                  <a:srgbClr val="9DB2C7"/>
                </a:solidFill>
                <a:latin typeface="Calibri" pitchFamily="34" charset="0"/>
                <a:ea typeface="Calibri" pitchFamily="34" charset="-122"/>
                <a:cs typeface="Calibri" pitchFamily="34" charset="-120"/>
              </a:rPr>
              <a:t>Two hours in, the air is heavy.</a:t>
            </a:r>
            <a:endParaRPr lang="en-US" sz="1550" dirty="0"/>
          </a:p>
          <a:p>
            <a:pPr indent="0" marL="0">
              <a:lnSpc>
                <a:spcPct val="130000"/>
              </a:lnSpc>
              <a:buNone/>
            </a:pPr>
            <a:r>
              <a:rPr lang="en-US" sz="1550" dirty="0">
                <a:solidFill>
                  <a:srgbClr val="9DB2C7"/>
                </a:solidFill>
                <a:latin typeface="Calibri" pitchFamily="34" charset="0"/>
                <a:ea typeface="Calibri" pitchFamily="34" charset="-122"/>
                <a:cs typeface="Calibri" pitchFamily="34" charset="-120"/>
              </a:rPr>
              <a:t>You can't open the window.</a:t>
            </a:r>
            <a:endParaRPr lang="en-US" sz="1550" dirty="0"/>
          </a:p>
          <a:p>
            <a:pPr indent="0" marL="0">
              <a:lnSpc>
                <a:spcPct val="130000"/>
              </a:lnSpc>
              <a:buNone/>
            </a:pPr>
            <a:r>
              <a:rPr lang="en-US" sz="1550" dirty="0">
                <a:solidFill>
                  <a:srgbClr val="9DB2C7"/>
                </a:solidFill>
                <a:latin typeface="Calibri" pitchFamily="34" charset="0"/>
                <a:ea typeface="Calibri" pitchFamily="34" charset="-122"/>
                <a:cs typeface="Calibri" pitchFamily="34" charset="-120"/>
              </a:rPr>
              <a:t>It's hotter outside than in.</a:t>
            </a:r>
            <a:endParaRPr lang="en-US" sz="1550" dirty="0"/>
          </a:p>
        </p:txBody>
      </p:sp>
      <p:sp>
        <p:nvSpPr>
          <p:cNvPr id="6" name="Text 4"/>
          <p:cNvSpPr/>
          <p:nvPr/>
        </p:nvSpPr>
        <p:spPr>
          <a:xfrm>
            <a:off x="822960" y="4526280"/>
            <a:ext cx="5852160" cy="457200"/>
          </a:xfrm>
          <a:prstGeom prst="rect">
            <a:avLst/>
          </a:prstGeom>
          <a:noFill/>
          <a:ln/>
        </p:spPr>
        <p:txBody>
          <a:bodyPr wrap="square" lIns="0" tIns="0" rIns="0" bIns="0" rtlCol="0" anchor="ctr"/>
          <a:lstStyle/>
          <a:p>
            <a:pPr indent="0" marL="0">
              <a:buNone/>
            </a:pPr>
            <a:r>
              <a:rPr lang="en-US" sz="1550" dirty="0">
                <a:solidFill>
                  <a:srgbClr val="9DB2C7"/>
                </a:solidFill>
                <a:latin typeface="Calibri" pitchFamily="34" charset="0"/>
                <a:ea typeface="Calibri" pitchFamily="34" charset="-122"/>
                <a:cs typeface="Calibri" pitchFamily="34" charset="-120"/>
              </a:rPr>
              <a:t>By hour three, you're rereading the same paragraph.</a:t>
            </a:r>
            <a:endParaRPr lang="en-US" sz="1550" dirty="0"/>
          </a:p>
        </p:txBody>
      </p:sp>
      <p:sp>
        <p:nvSpPr>
          <p:cNvPr id="7" name="Text 5"/>
          <p:cNvSpPr/>
          <p:nvPr/>
        </p:nvSpPr>
        <p:spPr>
          <a:xfrm>
            <a:off x="822960" y="5120640"/>
            <a:ext cx="5852160" cy="457200"/>
          </a:xfrm>
          <a:prstGeom prst="rect">
            <a:avLst/>
          </a:prstGeom>
          <a:noFill/>
          <a:ln/>
        </p:spPr>
        <p:txBody>
          <a:bodyPr wrap="square" lIns="0" tIns="0" rIns="0" bIns="0" rtlCol="0" anchor="ctr"/>
          <a:lstStyle/>
          <a:p>
            <a:pPr indent="0" marL="0">
              <a:buNone/>
            </a:pPr>
            <a:r>
              <a:rPr lang="en-US" sz="1650" b="1" dirty="0">
                <a:solidFill>
                  <a:srgbClr val="FFFFFF"/>
                </a:solidFill>
                <a:latin typeface="Calibri" pitchFamily="34" charset="0"/>
                <a:ea typeface="Calibri" pitchFamily="34" charset="-122"/>
                <a:cs typeface="Calibri" pitchFamily="34" charset="-120"/>
              </a:rPr>
              <a:t>Nobody noticed. Nobody acted.</a:t>
            </a:r>
            <a:endParaRPr lang="en-US" sz="1650" dirty="0"/>
          </a:p>
        </p:txBody>
      </p:sp>
      <p:sp>
        <p:nvSpPr>
          <p:cNvPr id="8" name="Shape 6"/>
          <p:cNvSpPr/>
          <p:nvPr/>
        </p:nvSpPr>
        <p:spPr>
          <a:xfrm>
            <a:off x="7223760" y="960120"/>
            <a:ext cx="4297680" cy="1874520"/>
          </a:xfrm>
          <a:prstGeom prst="roundRect">
            <a:avLst>
              <a:gd name="adj" fmla="val 4878"/>
            </a:avLst>
          </a:prstGeom>
          <a:solidFill>
            <a:srgbClr val="2A2113"/>
          </a:solidFill>
          <a:ln w="12700">
            <a:solidFill>
              <a:srgbClr val="6B5426"/>
            </a:solidFill>
            <a:prstDash val="solid"/>
          </a:ln>
        </p:spPr>
      </p:sp>
      <p:sp>
        <p:nvSpPr>
          <p:cNvPr id="9" name="Text 7"/>
          <p:cNvSpPr/>
          <p:nvPr/>
        </p:nvSpPr>
        <p:spPr>
          <a:xfrm>
            <a:off x="7452360" y="1143000"/>
            <a:ext cx="3840480" cy="256032"/>
          </a:xfrm>
          <a:prstGeom prst="rect">
            <a:avLst/>
          </a:prstGeom>
          <a:noFill/>
          <a:ln/>
        </p:spPr>
        <p:txBody>
          <a:bodyPr wrap="square" lIns="0" tIns="0" rIns="0" bIns="0" rtlCol="0" anchor="ctr"/>
          <a:lstStyle/>
          <a:p>
            <a:pPr indent="0" marL="0">
              <a:buNone/>
            </a:pPr>
            <a:r>
              <a:rPr lang="en-US" sz="1050" b="1" spc="200" kern="0" dirty="0">
                <a:solidFill>
                  <a:srgbClr val="E8B45A"/>
                </a:solidFill>
                <a:latin typeface="Calibri" pitchFamily="34" charset="0"/>
                <a:ea typeface="Calibri" pitchFamily="34" charset="-122"/>
                <a:cs typeface="Calibri" pitchFamily="34" charset="-120"/>
              </a:rPr>
              <a:t>OUTDOOR TEMPERATURE</a:t>
            </a:r>
            <a:endParaRPr lang="en-US" sz="1050" dirty="0"/>
          </a:p>
        </p:txBody>
      </p:sp>
      <p:sp>
        <p:nvSpPr>
          <p:cNvPr id="10" name="Text 8"/>
          <p:cNvSpPr/>
          <p:nvPr/>
        </p:nvSpPr>
        <p:spPr>
          <a:xfrm>
            <a:off x="7452360" y="1463040"/>
            <a:ext cx="3840480" cy="777240"/>
          </a:xfrm>
          <a:prstGeom prst="rect">
            <a:avLst/>
          </a:prstGeom>
          <a:noFill/>
          <a:ln/>
        </p:spPr>
        <p:txBody>
          <a:bodyPr wrap="square" lIns="0" tIns="0" rIns="0" bIns="0" rtlCol="0" anchor="ctr"/>
          <a:lstStyle/>
          <a:p>
            <a:pPr indent="0" marL="0">
              <a:buNone/>
            </a:pPr>
            <a:r>
              <a:rPr lang="en-US" sz="4400" b="1" dirty="0">
                <a:solidFill>
                  <a:srgbClr val="D97706"/>
                </a:solidFill>
                <a:latin typeface="Cambria" pitchFamily="34" charset="0"/>
                <a:ea typeface="Cambria" pitchFamily="34" charset="-122"/>
                <a:cs typeface="Cambria" pitchFamily="34" charset="-120"/>
              </a:rPr>
              <a:t>33 °C</a:t>
            </a:r>
            <a:endParaRPr lang="en-US" sz="4400" dirty="0"/>
          </a:p>
        </p:txBody>
      </p:sp>
      <p:sp>
        <p:nvSpPr>
          <p:cNvPr id="11" name="Text 9"/>
          <p:cNvSpPr/>
          <p:nvPr/>
        </p:nvSpPr>
        <p:spPr>
          <a:xfrm>
            <a:off x="7452360" y="2331720"/>
            <a:ext cx="3840480" cy="365760"/>
          </a:xfrm>
          <a:prstGeom prst="rect">
            <a:avLst/>
          </a:prstGeom>
          <a:noFill/>
          <a:ln/>
        </p:spPr>
        <p:txBody>
          <a:bodyPr wrap="square" lIns="0" tIns="0" rIns="0" bIns="0" rtlCol="0" anchor="ctr"/>
          <a:lstStyle/>
          <a:p>
            <a:pPr indent="0" marL="0">
              <a:buNone/>
            </a:pPr>
            <a:r>
              <a:rPr lang="en-US" sz="1150" dirty="0">
                <a:solidFill>
                  <a:srgbClr val="B08D4F"/>
                </a:solidFill>
                <a:latin typeface="Calibri" pitchFamily="34" charset="0"/>
                <a:ea typeface="Calibri" pitchFamily="34" charset="-122"/>
                <a:cs typeface="Calibri" pitchFamily="34" charset="-120"/>
              </a:rPr>
              <a:t>windows stay closed, hotter outside than in</a:t>
            </a:r>
            <a:endParaRPr lang="en-US" sz="1150" dirty="0"/>
          </a:p>
        </p:txBody>
      </p:sp>
      <p:sp>
        <p:nvSpPr>
          <p:cNvPr id="12" name="Shape 10"/>
          <p:cNvSpPr/>
          <p:nvPr/>
        </p:nvSpPr>
        <p:spPr>
          <a:xfrm>
            <a:off x="7223760" y="3063240"/>
            <a:ext cx="4297680" cy="2331720"/>
          </a:xfrm>
          <a:prstGeom prst="roundRect">
            <a:avLst>
              <a:gd name="adj" fmla="val 3922"/>
            </a:avLst>
          </a:prstGeom>
          <a:solidFill>
            <a:srgbClr val="2A1214"/>
          </a:solidFill>
          <a:ln w="12700">
            <a:solidFill>
              <a:srgbClr val="7A2E2E"/>
            </a:solidFill>
            <a:prstDash val="solid"/>
          </a:ln>
        </p:spPr>
      </p:sp>
      <p:sp>
        <p:nvSpPr>
          <p:cNvPr id="13" name="Text 11"/>
          <p:cNvSpPr/>
          <p:nvPr/>
        </p:nvSpPr>
        <p:spPr>
          <a:xfrm>
            <a:off x="7452360" y="3246120"/>
            <a:ext cx="3840480" cy="256032"/>
          </a:xfrm>
          <a:prstGeom prst="rect">
            <a:avLst/>
          </a:prstGeom>
          <a:noFill/>
          <a:ln/>
        </p:spPr>
        <p:txBody>
          <a:bodyPr wrap="square" lIns="0" tIns="0" rIns="0" bIns="0" rtlCol="0" anchor="ctr"/>
          <a:lstStyle/>
          <a:p>
            <a:pPr indent="0" marL="0">
              <a:buNone/>
            </a:pPr>
            <a:r>
              <a:rPr lang="en-US" sz="1050" b="1" spc="200" kern="0" dirty="0">
                <a:solidFill>
                  <a:srgbClr val="F0655A"/>
                </a:solidFill>
                <a:latin typeface="Calibri" pitchFamily="34" charset="0"/>
                <a:ea typeface="Calibri" pitchFamily="34" charset="-122"/>
                <a:cs typeface="Calibri" pitchFamily="34" charset="-120"/>
              </a:rPr>
              <a:t>CO₂ CONCENTRATION</a:t>
            </a:r>
            <a:endParaRPr lang="en-US" sz="1050" dirty="0"/>
          </a:p>
        </p:txBody>
      </p:sp>
      <p:sp>
        <p:nvSpPr>
          <p:cNvPr id="14" name="Shape 12"/>
          <p:cNvSpPr/>
          <p:nvPr/>
        </p:nvSpPr>
        <p:spPr>
          <a:xfrm>
            <a:off x="7452360" y="3675888"/>
            <a:ext cx="3840480" cy="0"/>
          </a:xfrm>
          <a:prstGeom prst="line">
            <a:avLst/>
          </a:prstGeom>
          <a:noFill/>
          <a:ln w="25400">
            <a:solidFill>
              <a:srgbClr val="F0655A"/>
            </a:solidFill>
            <a:prstDash val="solid"/>
          </a:ln>
        </p:spPr>
      </p:sp>
      <p:sp>
        <p:nvSpPr>
          <p:cNvPr id="15" name="Shape 13"/>
          <p:cNvSpPr/>
          <p:nvPr/>
        </p:nvSpPr>
        <p:spPr>
          <a:xfrm>
            <a:off x="9966960" y="3584448"/>
            <a:ext cx="0" cy="182880"/>
          </a:xfrm>
          <a:prstGeom prst="line">
            <a:avLst/>
          </a:prstGeom>
          <a:noFill/>
          <a:ln w="25400">
            <a:solidFill>
              <a:srgbClr val="F0655A"/>
            </a:solidFill>
            <a:prstDash val="solid"/>
          </a:ln>
        </p:spPr>
      </p:sp>
      <p:sp>
        <p:nvSpPr>
          <p:cNvPr id="16" name="Text 14"/>
          <p:cNvSpPr/>
          <p:nvPr/>
        </p:nvSpPr>
        <p:spPr>
          <a:xfrm>
            <a:off x="9052560" y="3767328"/>
            <a:ext cx="2240280" cy="228600"/>
          </a:xfrm>
          <a:prstGeom prst="rect">
            <a:avLst/>
          </a:prstGeom>
          <a:noFill/>
          <a:ln/>
        </p:spPr>
        <p:txBody>
          <a:bodyPr wrap="square" lIns="0" tIns="0" rIns="0" bIns="0" rtlCol="0" anchor="ctr"/>
          <a:lstStyle/>
          <a:p>
            <a:pPr indent="0" marL="0">
              <a:buNone/>
            </a:pPr>
            <a:r>
              <a:rPr lang="en-US" sz="950" dirty="0">
                <a:solidFill>
                  <a:srgbClr val="B76A6A"/>
                </a:solidFill>
                <a:latin typeface="Calibri" pitchFamily="34" charset="0"/>
                <a:ea typeface="Calibri" pitchFamily="34" charset="-122"/>
                <a:cs typeface="Calibri" pitchFamily="34" charset="-120"/>
              </a:rPr>
              <a:t>1,000 ppm threshold</a:t>
            </a:r>
            <a:endParaRPr lang="en-US" sz="950" dirty="0"/>
          </a:p>
        </p:txBody>
      </p:sp>
      <p:sp>
        <p:nvSpPr>
          <p:cNvPr id="17" name="Text 15"/>
          <p:cNvSpPr/>
          <p:nvPr/>
        </p:nvSpPr>
        <p:spPr>
          <a:xfrm>
            <a:off x="7452360" y="4023360"/>
            <a:ext cx="3840480" cy="777240"/>
          </a:xfrm>
          <a:prstGeom prst="rect">
            <a:avLst/>
          </a:prstGeom>
          <a:noFill/>
          <a:ln/>
        </p:spPr>
        <p:txBody>
          <a:bodyPr wrap="square" lIns="0" tIns="0" rIns="0" bIns="0" rtlCol="0" anchor="ctr"/>
          <a:lstStyle/>
          <a:p>
            <a:pPr indent="0" marL="0">
              <a:buNone/>
            </a:pPr>
            <a:r>
              <a:rPr lang="en-US" sz="4600" b="1" dirty="0">
                <a:solidFill>
                  <a:srgbClr val="F0655A"/>
                </a:solidFill>
                <a:latin typeface="Cambria" pitchFamily="34" charset="0"/>
                <a:ea typeface="Cambria" pitchFamily="34" charset="-122"/>
                <a:cs typeface="Cambria" pitchFamily="34" charset="-120"/>
              </a:rPr>
              <a:t>1,547</a:t>
            </a:r>
            <a:endParaRPr lang="en-US" sz="4600" dirty="0"/>
          </a:p>
        </p:txBody>
      </p:sp>
      <p:sp>
        <p:nvSpPr>
          <p:cNvPr id="18" name="Text 16"/>
          <p:cNvSpPr/>
          <p:nvPr/>
        </p:nvSpPr>
        <p:spPr>
          <a:xfrm>
            <a:off x="7452360" y="4892040"/>
            <a:ext cx="3840480" cy="457200"/>
          </a:xfrm>
          <a:prstGeom prst="rect">
            <a:avLst/>
          </a:prstGeom>
          <a:noFill/>
          <a:ln/>
        </p:spPr>
        <p:txBody>
          <a:bodyPr wrap="square" lIns="0" tIns="0" rIns="0" bIns="0" rtlCol="0" anchor="ctr"/>
          <a:lstStyle/>
          <a:p>
            <a:pPr indent="0" marL="0">
              <a:buNone/>
            </a:pPr>
            <a:r>
              <a:rPr lang="en-US" sz="1100" dirty="0">
                <a:solidFill>
                  <a:srgbClr val="B76A6A"/>
                </a:solidFill>
                <a:latin typeface="Calibri" pitchFamily="34" charset="0"/>
                <a:ea typeface="Calibri" pitchFamily="34" charset="-122"/>
                <a:cs typeface="Calibri" pitchFamily="34" charset="-120"/>
              </a:rPr>
              <a:t>ppm · cognitive performance declines above 1,000 ppm (Harvard study, 2015)</a:t>
            </a:r>
            <a:endParaRPr lang="en-US" sz="1100" dirty="0"/>
          </a:p>
        </p:txBody>
      </p:sp>
      <p:sp>
        <p:nvSpPr>
          <p:cNvPr id="19" name="Text 17"/>
          <p:cNvSpPr/>
          <p:nvPr/>
        </p:nvSpPr>
        <p:spPr>
          <a:xfrm>
            <a:off x="7223760" y="5532120"/>
            <a:ext cx="4297680" cy="228600"/>
          </a:xfrm>
          <a:prstGeom prst="rect">
            <a:avLst/>
          </a:prstGeom>
          <a:noFill/>
          <a:ln/>
        </p:spPr>
        <p:txBody>
          <a:bodyPr wrap="square" lIns="0" tIns="0" rIns="0" bIns="0" rtlCol="0" anchor="ctr"/>
          <a:lstStyle/>
          <a:p>
            <a:pPr algn="r" indent="0" marL="0">
              <a:buNone/>
            </a:pPr>
            <a:r>
              <a:rPr lang="en-US" sz="900" spc="200" kern="0" dirty="0">
                <a:solidFill>
                  <a:srgbClr val="3A4A63"/>
                </a:solidFill>
                <a:latin typeface="Calibri" pitchFamily="34" charset="0"/>
                <a:ea typeface="Calibri" pitchFamily="34" charset="-122"/>
                <a:cs typeface="Calibri" pitchFamily="34" charset="-120"/>
              </a:rPr>
              <a:t>UNIVERSITÄTSBIBLIOTHEK STUTTGART</a:t>
            </a:r>
            <a:endParaRPr lang="en-US" sz="900" dirty="0"/>
          </a:p>
        </p:txBody>
      </p:sp>
      <p:sp>
        <p:nvSpPr>
          <p:cNvPr id="20" name="Text 18"/>
          <p:cNvSpPr/>
          <p:nvPr/>
        </p:nvSpPr>
        <p:spPr>
          <a:xfrm>
            <a:off x="0" y="6035040"/>
            <a:ext cx="12188952" cy="54864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What if the room could?</a:t>
            </a:r>
            <a:endParaRPr lang="en-US"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19456"/>
            <a:ext cx="1088136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HOW IT WORKS</a:t>
            </a:r>
            <a:endParaRPr lang="en-US" sz="1100" dirty="0"/>
          </a:p>
        </p:txBody>
      </p:sp>
      <p:sp>
        <p:nvSpPr>
          <p:cNvPr id="3" name="Text 1"/>
          <p:cNvSpPr/>
          <p:nvPr/>
        </p:nvSpPr>
        <p:spPr>
          <a:xfrm>
            <a:off x="640080" y="457200"/>
            <a:ext cx="10881360" cy="640080"/>
          </a:xfrm>
          <a:prstGeom prst="rect">
            <a:avLst/>
          </a:prstGeom>
          <a:noFill/>
          <a:ln/>
        </p:spPr>
        <p:txBody>
          <a:bodyPr wrap="square" lIns="0" tIns="0" rIns="0" bIns="0" rtlCol="0" anchor="ctr"/>
          <a:lstStyle/>
          <a:p>
            <a:pPr indent="0" marL="0">
              <a:buNone/>
            </a:pPr>
            <a:r>
              <a:rPr lang="en-US" sz="3000" b="1" dirty="0">
                <a:solidFill>
                  <a:srgbClr val="111827"/>
                </a:solidFill>
                <a:latin typeface="Cambria" pitchFamily="34" charset="0"/>
                <a:ea typeface="Cambria" pitchFamily="34" charset="-122"/>
                <a:cs typeface="Cambria" pitchFamily="34" charset="-120"/>
              </a:rPr>
              <a:t>Setup: two Raspberry Pis and a browser dashboard</a:t>
            </a:r>
            <a:endParaRPr lang="en-US" sz="3000" dirty="0"/>
          </a:p>
        </p:txBody>
      </p:sp>
      <p:sp>
        <p:nvSpPr>
          <p:cNvPr id="4" name="Shape 2"/>
          <p:cNvSpPr/>
          <p:nvPr/>
        </p:nvSpPr>
        <p:spPr>
          <a:xfrm>
            <a:off x="640080" y="1325880"/>
            <a:ext cx="3383280" cy="4343400"/>
          </a:xfrm>
          <a:prstGeom prst="roundRect">
            <a:avLst>
              <a:gd name="adj" fmla="val 2703"/>
            </a:avLst>
          </a:prstGeom>
          <a:solidFill>
            <a:srgbClr val="FFFFFF"/>
          </a:solidFill>
          <a:ln w="15875">
            <a:solidFill>
              <a:srgbClr val="E5E7EB"/>
            </a:solidFill>
            <a:prstDash val="solid"/>
          </a:ln>
        </p:spPr>
      </p:sp>
      <p:sp>
        <p:nvSpPr>
          <p:cNvPr id="5" name="Text 3"/>
          <p:cNvSpPr/>
          <p:nvPr/>
        </p:nvSpPr>
        <p:spPr>
          <a:xfrm>
            <a:off x="868680" y="1481328"/>
            <a:ext cx="2926080" cy="320040"/>
          </a:xfrm>
          <a:prstGeom prst="rect">
            <a:avLst/>
          </a:prstGeom>
          <a:noFill/>
          <a:ln/>
        </p:spPr>
        <p:txBody>
          <a:bodyPr wrap="square" lIns="0" tIns="0" rIns="0" bIns="0" rtlCol="0" anchor="ctr"/>
          <a:lstStyle/>
          <a:p>
            <a:pPr indent="0" marL="0">
              <a:buNone/>
            </a:pPr>
            <a:r>
              <a:rPr lang="en-US" sz="1500" b="1" dirty="0">
                <a:solidFill>
                  <a:srgbClr val="111827"/>
                </a:solidFill>
                <a:latin typeface="Cambria" pitchFamily="34" charset="0"/>
                <a:ea typeface="Cambria" pitchFamily="34" charset="-122"/>
                <a:cs typeface="Cambria" pitchFamily="34" charset="-120"/>
              </a:rPr>
              <a:t>Raspberry Pi 3 B+  ·  edge</a:t>
            </a:r>
            <a:endParaRPr lang="en-US" sz="1500" dirty="0"/>
          </a:p>
        </p:txBody>
      </p:sp>
      <p:sp>
        <p:nvSpPr>
          <p:cNvPr id="6" name="Text 4"/>
          <p:cNvSpPr/>
          <p:nvPr/>
        </p:nvSpPr>
        <p:spPr>
          <a:xfrm>
            <a:off x="868680" y="1938528"/>
            <a:ext cx="2926080" cy="228600"/>
          </a:xfrm>
          <a:prstGeom prst="rect">
            <a:avLst/>
          </a:prstGeom>
          <a:noFill/>
          <a:ln/>
        </p:spPr>
        <p:txBody>
          <a:bodyPr wrap="square" lIns="0" tIns="0" rIns="0" bIns="0" rtlCol="0" anchor="ctr"/>
          <a:lstStyle/>
          <a:p>
            <a:pPr indent="0" marL="0">
              <a:buNone/>
            </a:pPr>
            <a:r>
              <a:rPr lang="en-US" sz="950" b="1" spc="200" kern="0" dirty="0">
                <a:solidFill>
                  <a:srgbClr val="15803D"/>
                </a:solidFill>
                <a:latin typeface="Calibri" pitchFamily="34" charset="0"/>
                <a:ea typeface="Calibri" pitchFamily="34" charset="-122"/>
                <a:cs typeface="Calibri" pitchFamily="34" charset="-120"/>
              </a:rPr>
              <a:t>SENSES</a:t>
            </a:r>
            <a:endParaRPr lang="en-US" sz="950" dirty="0"/>
          </a:p>
        </p:txBody>
      </p:sp>
      <p:sp>
        <p:nvSpPr>
          <p:cNvPr id="7" name="Text 5"/>
          <p:cNvSpPr/>
          <p:nvPr/>
        </p:nvSpPr>
        <p:spPr>
          <a:xfrm>
            <a:off x="868680" y="2194560"/>
            <a:ext cx="2926080" cy="594360"/>
          </a:xfrm>
          <a:prstGeom prst="rect">
            <a:avLst/>
          </a:prstGeom>
          <a:noFill/>
          <a:ln/>
        </p:spPr>
        <p:txBody>
          <a:bodyPr wrap="square" lIns="0" tIns="0" rIns="0" bIns="0" rtlCol="0" anchor="ctr"/>
          <a:lstStyle/>
          <a:p>
            <a:pPr indent="0" marL="0">
              <a:lnSpc>
                <a:spcPct val="125000"/>
              </a:lnSpc>
              <a:buNone/>
            </a:pPr>
            <a:r>
              <a:rPr lang="en-US" sz="1250" dirty="0">
                <a:solidFill>
                  <a:srgbClr val="111827"/>
                </a:solidFill>
                <a:latin typeface="Calibri" pitchFamily="34" charset="0"/>
                <a:ea typeface="Calibri" pitchFamily="34" charset="-122"/>
                <a:cs typeface="Calibri" pitchFamily="34" charset="-120"/>
              </a:rPr>
              <a:t>motion sensor · 2 Hz</a:t>
            </a:r>
            <a:endParaRPr lang="en-US" sz="1250" dirty="0"/>
          </a:p>
          <a:p>
            <a:pPr indent="0" marL="0">
              <a:lnSpc>
                <a:spcPct val="125000"/>
              </a:lnSpc>
              <a:buNone/>
            </a:pPr>
            <a:r>
              <a:rPr lang="en-US" sz="1250" dirty="0">
                <a:solidFill>
                  <a:srgbClr val="111827"/>
                </a:solidFill>
                <a:latin typeface="Calibri" pitchFamily="34" charset="0"/>
                <a:ea typeface="Calibri" pitchFamily="34" charset="-122"/>
                <a:cs typeface="Calibri" pitchFamily="34" charset="-120"/>
              </a:rPr>
              <a:t>light sensor · 2 Hz</a:t>
            </a:r>
            <a:endParaRPr lang="en-US" sz="1250" dirty="0"/>
          </a:p>
        </p:txBody>
      </p:sp>
      <p:sp>
        <p:nvSpPr>
          <p:cNvPr id="8" name="Text 6"/>
          <p:cNvSpPr/>
          <p:nvPr/>
        </p:nvSpPr>
        <p:spPr>
          <a:xfrm>
            <a:off x="868680" y="2971800"/>
            <a:ext cx="2926080" cy="228600"/>
          </a:xfrm>
          <a:prstGeom prst="rect">
            <a:avLst/>
          </a:prstGeom>
          <a:noFill/>
          <a:ln/>
        </p:spPr>
        <p:txBody>
          <a:bodyPr wrap="square" lIns="0" tIns="0" rIns="0" bIns="0" rtlCol="0" anchor="ctr"/>
          <a:lstStyle/>
          <a:p>
            <a:pPr indent="0" marL="0">
              <a:buNone/>
            </a:pPr>
            <a:r>
              <a:rPr lang="en-US" sz="950" b="1" spc="200" kern="0" dirty="0">
                <a:solidFill>
                  <a:srgbClr val="D97706"/>
                </a:solidFill>
                <a:latin typeface="Calibri" pitchFamily="34" charset="0"/>
                <a:ea typeface="Calibri" pitchFamily="34" charset="-122"/>
                <a:cs typeface="Calibri" pitchFamily="34" charset="-120"/>
              </a:rPr>
              <a:t>ACTS</a:t>
            </a:r>
            <a:endParaRPr lang="en-US" sz="950" dirty="0"/>
          </a:p>
        </p:txBody>
      </p:sp>
      <p:sp>
        <p:nvSpPr>
          <p:cNvPr id="9" name="Text 7"/>
          <p:cNvSpPr/>
          <p:nvPr/>
        </p:nvSpPr>
        <p:spPr>
          <a:xfrm>
            <a:off x="868680" y="3227832"/>
            <a:ext cx="2926080" cy="914400"/>
          </a:xfrm>
          <a:prstGeom prst="rect">
            <a:avLst/>
          </a:prstGeom>
          <a:noFill/>
          <a:ln/>
        </p:spPr>
        <p:txBody>
          <a:bodyPr wrap="square" lIns="0" tIns="0" rIns="0" bIns="0" rtlCol="0" anchor="ctr"/>
          <a:lstStyle/>
          <a:p>
            <a:pPr indent="0" marL="0">
              <a:lnSpc>
                <a:spcPct val="125000"/>
              </a:lnSpc>
              <a:buNone/>
            </a:pPr>
            <a:r>
              <a:rPr lang="en-US" sz="1250" dirty="0">
                <a:solidFill>
                  <a:srgbClr val="111827"/>
                </a:solidFill>
                <a:latin typeface="Calibri" pitchFamily="34" charset="0"/>
                <a:ea typeface="Calibri" pitchFamily="34" charset="-122"/>
                <a:cs typeface="Calibri" pitchFamily="34" charset="-120"/>
              </a:rPr>
              <a:t>reading lamp · ZigBee relay</a:t>
            </a:r>
            <a:endParaRPr lang="en-US" sz="1250" dirty="0"/>
          </a:p>
          <a:p>
            <a:pPr indent="0" marL="0">
              <a:lnSpc>
                <a:spcPct val="125000"/>
              </a:lnSpc>
              <a:buNone/>
            </a:pPr>
            <a:r>
              <a:rPr lang="en-US" sz="1250" dirty="0">
                <a:solidFill>
                  <a:srgbClr val="111827"/>
                </a:solidFill>
                <a:latin typeface="Calibri" pitchFamily="34" charset="0"/>
                <a:ea typeface="Calibri" pitchFamily="34" charset="-122"/>
                <a:cs typeface="Calibri" pitchFamily="34" charset="-120"/>
              </a:rPr>
              <a:t>break LED + quiet buzzer</a:t>
            </a:r>
            <a:endParaRPr lang="en-US" sz="1250" dirty="0"/>
          </a:p>
          <a:p>
            <a:pPr indent="0" marL="0">
              <a:lnSpc>
                <a:spcPct val="125000"/>
              </a:lnSpc>
              <a:buNone/>
            </a:pPr>
            <a:r>
              <a:rPr lang="en-US" sz="1250" dirty="0">
                <a:solidFill>
                  <a:srgbClr val="111827"/>
                </a:solidFill>
                <a:latin typeface="Calibri" pitchFamily="34" charset="0"/>
                <a:ea typeface="Calibri" pitchFamily="34" charset="-122"/>
                <a:cs typeface="Calibri" pitchFamily="34" charset="-120"/>
              </a:rPr>
              <a:t>status LCD · CO₂ light</a:t>
            </a:r>
            <a:endParaRPr lang="en-US" sz="1250" dirty="0"/>
          </a:p>
        </p:txBody>
      </p:sp>
      <p:sp>
        <p:nvSpPr>
          <p:cNvPr id="10" name="Shape 8"/>
          <p:cNvSpPr/>
          <p:nvPr/>
        </p:nvSpPr>
        <p:spPr>
          <a:xfrm>
            <a:off x="868680" y="4434840"/>
            <a:ext cx="201168" cy="201168"/>
          </a:xfrm>
          <a:prstGeom prst="ellipse">
            <a:avLst/>
          </a:prstGeom>
          <a:solidFill>
            <a:srgbClr val="D97706"/>
          </a:solidFill>
          <a:ln/>
        </p:spPr>
      </p:sp>
      <p:sp>
        <p:nvSpPr>
          <p:cNvPr id="11" name="Text 9"/>
          <p:cNvSpPr/>
          <p:nvPr/>
        </p:nvSpPr>
        <p:spPr>
          <a:xfrm>
            <a:off x="1170432" y="4416552"/>
            <a:ext cx="2743200" cy="457200"/>
          </a:xfrm>
          <a:prstGeom prst="rect">
            <a:avLst/>
          </a:prstGeom>
          <a:noFill/>
          <a:ln/>
        </p:spPr>
        <p:txBody>
          <a:bodyPr wrap="square" lIns="0" tIns="0" rIns="0" bIns="0" rtlCol="0" anchor="ctr"/>
          <a:lstStyle/>
          <a:p>
            <a:pPr indent="0" marL="0">
              <a:buNone/>
            </a:pPr>
            <a:r>
              <a:rPr lang="en-US" sz="1100" dirty="0">
                <a:solidFill>
                  <a:srgbClr val="6B7280"/>
                </a:solidFill>
                <a:latin typeface="Calibri" pitchFamily="34" charset="0"/>
                <a:ea typeface="Calibri" pitchFamily="34" charset="-122"/>
                <a:cs typeface="Calibri" pitchFamily="34" charset="-120"/>
              </a:rPr>
              <a:t>the relay switches a real desk lamp</a:t>
            </a:r>
            <a:endParaRPr lang="en-US" sz="1100" dirty="0"/>
          </a:p>
        </p:txBody>
      </p:sp>
      <p:sp>
        <p:nvSpPr>
          <p:cNvPr id="12" name="Shape 10"/>
          <p:cNvSpPr/>
          <p:nvPr/>
        </p:nvSpPr>
        <p:spPr>
          <a:xfrm>
            <a:off x="4709160" y="1325880"/>
            <a:ext cx="3566160" cy="4343400"/>
          </a:xfrm>
          <a:prstGeom prst="roundRect">
            <a:avLst>
              <a:gd name="adj" fmla="val 2564"/>
            </a:avLst>
          </a:prstGeom>
          <a:solidFill>
            <a:srgbClr val="FFFFFF"/>
          </a:solidFill>
          <a:ln w="15875">
            <a:solidFill>
              <a:srgbClr val="E5E7EB"/>
            </a:solidFill>
            <a:prstDash val="solid"/>
          </a:ln>
        </p:spPr>
      </p:sp>
      <p:sp>
        <p:nvSpPr>
          <p:cNvPr id="13" name="Text 11"/>
          <p:cNvSpPr/>
          <p:nvPr/>
        </p:nvSpPr>
        <p:spPr>
          <a:xfrm>
            <a:off x="4937760" y="1481328"/>
            <a:ext cx="3108960" cy="320040"/>
          </a:xfrm>
          <a:prstGeom prst="rect">
            <a:avLst/>
          </a:prstGeom>
          <a:noFill/>
          <a:ln/>
        </p:spPr>
        <p:txBody>
          <a:bodyPr wrap="square" lIns="0" tIns="0" rIns="0" bIns="0" rtlCol="0" anchor="ctr"/>
          <a:lstStyle/>
          <a:p>
            <a:pPr indent="0" marL="0">
              <a:buNone/>
            </a:pPr>
            <a:r>
              <a:rPr lang="en-US" sz="1500" b="1" dirty="0">
                <a:solidFill>
                  <a:srgbClr val="111827"/>
                </a:solidFill>
                <a:latin typeface="Cambria" pitchFamily="34" charset="0"/>
                <a:ea typeface="Cambria" pitchFamily="34" charset="-122"/>
                <a:cs typeface="Cambria" pitchFamily="34" charset="-120"/>
              </a:rPr>
              <a:t>Raspberry Pi 5  ·  core</a:t>
            </a:r>
            <a:endParaRPr lang="en-US" sz="1500" dirty="0"/>
          </a:p>
        </p:txBody>
      </p:sp>
      <p:sp>
        <p:nvSpPr>
          <p:cNvPr id="14" name="Shape 12"/>
          <p:cNvSpPr/>
          <p:nvPr/>
        </p:nvSpPr>
        <p:spPr>
          <a:xfrm>
            <a:off x="4937760" y="1874520"/>
            <a:ext cx="3108960" cy="384048"/>
          </a:xfrm>
          <a:prstGeom prst="roundRect">
            <a:avLst>
              <a:gd name="adj" fmla="val 14286"/>
            </a:avLst>
          </a:prstGeom>
          <a:solidFill>
            <a:srgbClr val="FBEFD9"/>
          </a:solidFill>
          <a:ln/>
        </p:spPr>
      </p:sp>
      <p:sp>
        <p:nvSpPr>
          <p:cNvPr id="15" name="Text 13"/>
          <p:cNvSpPr/>
          <p:nvPr/>
        </p:nvSpPr>
        <p:spPr>
          <a:xfrm>
            <a:off x="4937760" y="1911096"/>
            <a:ext cx="3108960" cy="320040"/>
          </a:xfrm>
          <a:prstGeom prst="rect">
            <a:avLst/>
          </a:prstGeom>
          <a:noFill/>
          <a:ln/>
        </p:spPr>
        <p:txBody>
          <a:bodyPr wrap="square" lIns="0" tIns="0" rIns="0" bIns="0" rtlCol="0" anchor="ctr"/>
          <a:lstStyle/>
          <a:p>
            <a:pPr algn="ctr" indent="0" marL="0">
              <a:buNone/>
            </a:pPr>
            <a:r>
              <a:rPr lang="en-US" sz="1150" b="1" dirty="0">
                <a:solidFill>
                  <a:srgbClr val="D97706"/>
                </a:solidFill>
                <a:latin typeface="Calibri" pitchFamily="34" charset="0"/>
                <a:ea typeface="Calibri" pitchFamily="34" charset="-122"/>
                <a:cs typeface="Calibri" pitchFamily="34" charset="-120"/>
              </a:rPr>
              <a:t>MQTT broker · Mosquitto</a:t>
            </a:r>
            <a:endParaRPr lang="en-US" sz="1150" dirty="0"/>
          </a:p>
        </p:txBody>
      </p:sp>
      <p:sp>
        <p:nvSpPr>
          <p:cNvPr id="16" name="Shape 14"/>
          <p:cNvSpPr/>
          <p:nvPr/>
        </p:nvSpPr>
        <p:spPr>
          <a:xfrm>
            <a:off x="4937760" y="2450592"/>
            <a:ext cx="3108960" cy="548640"/>
          </a:xfrm>
          <a:prstGeom prst="roundRect">
            <a:avLst>
              <a:gd name="adj" fmla="val 10000"/>
            </a:avLst>
          </a:prstGeom>
          <a:solidFill>
            <a:srgbClr val="F3F4F6"/>
          </a:solidFill>
          <a:ln/>
        </p:spPr>
      </p:sp>
      <p:sp>
        <p:nvSpPr>
          <p:cNvPr id="17" name="Text 15"/>
          <p:cNvSpPr/>
          <p:nvPr/>
        </p:nvSpPr>
        <p:spPr>
          <a:xfrm>
            <a:off x="5047488" y="2496312"/>
            <a:ext cx="2889504" cy="237744"/>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context</a:t>
            </a:r>
            <a:endParaRPr lang="en-US" sz="1150" dirty="0"/>
          </a:p>
        </p:txBody>
      </p:sp>
      <p:sp>
        <p:nvSpPr>
          <p:cNvPr id="18" name="Text 16"/>
          <p:cNvSpPr/>
          <p:nvPr/>
        </p:nvSpPr>
        <p:spPr>
          <a:xfrm>
            <a:off x="5047488" y="2734056"/>
            <a:ext cx="2889504" cy="22860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world state · CO₂ · session FSM</a:t>
            </a:r>
            <a:endParaRPr lang="en-US" sz="950" dirty="0"/>
          </a:p>
        </p:txBody>
      </p:sp>
      <p:sp>
        <p:nvSpPr>
          <p:cNvPr id="19" name="Text 17"/>
          <p:cNvSpPr/>
          <p:nvPr/>
        </p:nvSpPr>
        <p:spPr>
          <a:xfrm>
            <a:off x="6400800" y="2962656"/>
            <a:ext cx="274320" cy="274320"/>
          </a:xfrm>
          <a:prstGeom prst="rect">
            <a:avLst/>
          </a:prstGeom>
          <a:noFill/>
          <a:ln/>
        </p:spPr>
        <p:txBody>
          <a:bodyPr wrap="square" lIns="0" tIns="0" rIns="0" bIns="0" rtlCol="0" anchor="ctr"/>
          <a:lstStyle/>
          <a:p>
            <a:pPr algn="ct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p>
        </p:txBody>
      </p:sp>
      <p:sp>
        <p:nvSpPr>
          <p:cNvPr id="20" name="Shape 18"/>
          <p:cNvSpPr/>
          <p:nvPr/>
        </p:nvSpPr>
        <p:spPr>
          <a:xfrm>
            <a:off x="4937760" y="3209544"/>
            <a:ext cx="3108960" cy="548640"/>
          </a:xfrm>
          <a:prstGeom prst="roundRect">
            <a:avLst>
              <a:gd name="adj" fmla="val 10000"/>
            </a:avLst>
          </a:prstGeom>
          <a:solidFill>
            <a:srgbClr val="F3F4F6"/>
          </a:solidFill>
          <a:ln/>
        </p:spPr>
      </p:sp>
      <p:sp>
        <p:nvSpPr>
          <p:cNvPr id="21" name="Text 19"/>
          <p:cNvSpPr/>
          <p:nvPr/>
        </p:nvSpPr>
        <p:spPr>
          <a:xfrm>
            <a:off x="5047488" y="3255264"/>
            <a:ext cx="2889504" cy="237744"/>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problem generator</a:t>
            </a:r>
            <a:endParaRPr lang="en-US" sz="1150" dirty="0"/>
          </a:p>
        </p:txBody>
      </p:sp>
      <p:sp>
        <p:nvSpPr>
          <p:cNvPr id="22" name="Text 20"/>
          <p:cNvSpPr/>
          <p:nvPr/>
        </p:nvSpPr>
        <p:spPr>
          <a:xfrm>
            <a:off x="5047488" y="3493008"/>
            <a:ext cx="2889504" cy="22860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state → PDDL goals + weather costs</a:t>
            </a:r>
            <a:endParaRPr lang="en-US" sz="950" dirty="0"/>
          </a:p>
        </p:txBody>
      </p:sp>
      <p:sp>
        <p:nvSpPr>
          <p:cNvPr id="23" name="Text 21"/>
          <p:cNvSpPr/>
          <p:nvPr/>
        </p:nvSpPr>
        <p:spPr>
          <a:xfrm>
            <a:off x="6400800" y="3721608"/>
            <a:ext cx="274320" cy="274320"/>
          </a:xfrm>
          <a:prstGeom prst="rect">
            <a:avLst/>
          </a:prstGeom>
          <a:noFill/>
          <a:ln/>
        </p:spPr>
        <p:txBody>
          <a:bodyPr wrap="square" lIns="0" tIns="0" rIns="0" bIns="0" rtlCol="0" anchor="ctr"/>
          <a:lstStyle/>
          <a:p>
            <a:pPr algn="ct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p>
        </p:txBody>
      </p:sp>
      <p:sp>
        <p:nvSpPr>
          <p:cNvPr id="24" name="Shape 22"/>
          <p:cNvSpPr/>
          <p:nvPr/>
        </p:nvSpPr>
        <p:spPr>
          <a:xfrm>
            <a:off x="4937760" y="3968496"/>
            <a:ext cx="3108960" cy="548640"/>
          </a:xfrm>
          <a:prstGeom prst="roundRect">
            <a:avLst>
              <a:gd name="adj" fmla="val 10000"/>
            </a:avLst>
          </a:prstGeom>
          <a:solidFill>
            <a:srgbClr val="FBEFD9"/>
          </a:solidFill>
          <a:ln w="12700">
            <a:solidFill>
              <a:srgbClr val="D97706"/>
            </a:solidFill>
            <a:prstDash val="solid"/>
          </a:ln>
        </p:spPr>
      </p:sp>
      <p:sp>
        <p:nvSpPr>
          <p:cNvPr id="25" name="Text 23"/>
          <p:cNvSpPr/>
          <p:nvPr/>
        </p:nvSpPr>
        <p:spPr>
          <a:xfrm>
            <a:off x="5047488" y="4014216"/>
            <a:ext cx="2889504" cy="237744"/>
          </a:xfrm>
          <a:prstGeom prst="rect">
            <a:avLst/>
          </a:prstGeom>
          <a:noFill/>
          <a:ln/>
        </p:spPr>
        <p:txBody>
          <a:bodyPr wrap="square" lIns="0" tIns="0" rIns="0" bIns="0" rtlCol="0" anchor="ctr"/>
          <a:lstStyle/>
          <a:p>
            <a:pPr indent="0" marL="0">
              <a:buNone/>
            </a:pPr>
            <a:r>
              <a:rPr lang="en-US" sz="1150" b="1" dirty="0">
                <a:solidFill>
                  <a:srgbClr val="D97706"/>
                </a:solidFill>
                <a:latin typeface="Calibri" pitchFamily="34" charset="0"/>
                <a:ea typeface="Calibri" pitchFamily="34" charset="-122"/>
                <a:cs typeface="Calibri" pitchFamily="34" charset="-120"/>
              </a:rPr>
              <a:t>planner · Fast Downward</a:t>
            </a:r>
            <a:endParaRPr lang="en-US" sz="1150" dirty="0"/>
          </a:p>
        </p:txBody>
      </p:sp>
      <p:sp>
        <p:nvSpPr>
          <p:cNvPr id="26" name="Text 24"/>
          <p:cNvSpPr/>
          <p:nvPr/>
        </p:nvSpPr>
        <p:spPr>
          <a:xfrm>
            <a:off x="5047488" y="4251960"/>
            <a:ext cx="2889504" cy="22860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cost-optimal plan, ~130 ms</a:t>
            </a:r>
            <a:endParaRPr lang="en-US" sz="950" dirty="0"/>
          </a:p>
        </p:txBody>
      </p:sp>
      <p:sp>
        <p:nvSpPr>
          <p:cNvPr id="27" name="Text 25"/>
          <p:cNvSpPr/>
          <p:nvPr/>
        </p:nvSpPr>
        <p:spPr>
          <a:xfrm>
            <a:off x="6400800" y="4480560"/>
            <a:ext cx="274320" cy="274320"/>
          </a:xfrm>
          <a:prstGeom prst="rect">
            <a:avLst/>
          </a:prstGeom>
          <a:noFill/>
          <a:ln/>
        </p:spPr>
        <p:txBody>
          <a:bodyPr wrap="square" lIns="0" tIns="0" rIns="0" bIns="0" rtlCol="0" anchor="ctr"/>
          <a:lstStyle/>
          <a:p>
            <a:pPr algn="ctr" indent="0" marL="0">
              <a:buNone/>
            </a:pPr>
            <a:r>
              <a:rPr lang="en-US" sz="1100" dirty="0">
                <a:solidFill>
                  <a:srgbClr val="6B7280"/>
                </a:solidFill>
                <a:latin typeface="Calibri" pitchFamily="34" charset="0"/>
                <a:ea typeface="Calibri" pitchFamily="34" charset="-122"/>
                <a:cs typeface="Calibri" pitchFamily="34" charset="-120"/>
              </a:rPr>
              <a:t>↓</a:t>
            </a:r>
            <a:endParaRPr lang="en-US" sz="1100" dirty="0"/>
          </a:p>
        </p:txBody>
      </p:sp>
      <p:sp>
        <p:nvSpPr>
          <p:cNvPr id="28" name="Shape 26"/>
          <p:cNvSpPr/>
          <p:nvPr/>
        </p:nvSpPr>
        <p:spPr>
          <a:xfrm>
            <a:off x="4937760" y="4727448"/>
            <a:ext cx="3108960" cy="548640"/>
          </a:xfrm>
          <a:prstGeom prst="roundRect">
            <a:avLst>
              <a:gd name="adj" fmla="val 10000"/>
            </a:avLst>
          </a:prstGeom>
          <a:solidFill>
            <a:srgbClr val="F3F4F6"/>
          </a:solidFill>
          <a:ln/>
        </p:spPr>
      </p:sp>
      <p:sp>
        <p:nvSpPr>
          <p:cNvPr id="29" name="Text 27"/>
          <p:cNvSpPr/>
          <p:nvPr/>
        </p:nvSpPr>
        <p:spPr>
          <a:xfrm>
            <a:off x="5047488" y="4773168"/>
            <a:ext cx="2889504" cy="237744"/>
          </a:xfrm>
          <a:prstGeom prst="rect">
            <a:avLst/>
          </a:prstGeom>
          <a:noFill/>
          <a:ln/>
        </p:spPr>
        <p:txBody>
          <a:bodyPr wrap="square" lIns="0" tIns="0" rIns="0" bIns="0" rtlCol="0" anchor="ctr"/>
          <a:lstStyle/>
          <a:p>
            <a:pPr indent="0" marL="0">
              <a:buNone/>
            </a:pPr>
            <a:r>
              <a:rPr lang="en-US" sz="1150" b="1" dirty="0">
                <a:solidFill>
                  <a:srgbClr val="111827"/>
                </a:solidFill>
                <a:latin typeface="Calibri" pitchFamily="34" charset="0"/>
                <a:ea typeface="Calibri" pitchFamily="34" charset="-122"/>
                <a:cs typeface="Calibri" pitchFamily="34" charset="-120"/>
              </a:rPr>
              <a:t>executor</a:t>
            </a:r>
            <a:endParaRPr lang="en-US" sz="1150" dirty="0"/>
          </a:p>
        </p:txBody>
      </p:sp>
      <p:sp>
        <p:nvSpPr>
          <p:cNvPr id="30" name="Text 28"/>
          <p:cNvSpPr/>
          <p:nvPr/>
        </p:nvSpPr>
        <p:spPr>
          <a:xfrm>
            <a:off x="5047488" y="5010912"/>
            <a:ext cx="2889504" cy="22860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dispatches planned actions</a:t>
            </a:r>
            <a:endParaRPr lang="en-US" sz="950" dirty="0"/>
          </a:p>
        </p:txBody>
      </p:sp>
      <p:sp>
        <p:nvSpPr>
          <p:cNvPr id="31" name="Shape 29"/>
          <p:cNvSpPr/>
          <p:nvPr/>
        </p:nvSpPr>
        <p:spPr>
          <a:xfrm>
            <a:off x="9006840" y="1325880"/>
            <a:ext cx="2560320" cy="4343400"/>
          </a:xfrm>
          <a:prstGeom prst="roundRect">
            <a:avLst>
              <a:gd name="adj" fmla="val 3571"/>
            </a:avLst>
          </a:prstGeom>
          <a:solidFill>
            <a:srgbClr val="FFFFFF"/>
          </a:solidFill>
          <a:ln w="15875">
            <a:solidFill>
              <a:srgbClr val="E5E7EB"/>
            </a:solidFill>
            <a:prstDash val="solid"/>
          </a:ln>
        </p:spPr>
      </p:sp>
      <p:sp>
        <p:nvSpPr>
          <p:cNvPr id="32" name="Text 30"/>
          <p:cNvSpPr/>
          <p:nvPr/>
        </p:nvSpPr>
        <p:spPr>
          <a:xfrm>
            <a:off x="9189720" y="1481328"/>
            <a:ext cx="2194560" cy="320040"/>
          </a:xfrm>
          <a:prstGeom prst="rect">
            <a:avLst/>
          </a:prstGeom>
          <a:noFill/>
          <a:ln/>
        </p:spPr>
        <p:txBody>
          <a:bodyPr wrap="square" lIns="0" tIns="0" rIns="0" bIns="0" rtlCol="0" anchor="ctr"/>
          <a:lstStyle/>
          <a:p>
            <a:pPr indent="0" marL="0">
              <a:buNone/>
            </a:pPr>
            <a:r>
              <a:rPr lang="en-US" sz="1500" b="1" dirty="0">
                <a:solidFill>
                  <a:srgbClr val="111827"/>
                </a:solidFill>
                <a:latin typeface="Cambria" pitchFamily="34" charset="0"/>
                <a:ea typeface="Cambria" pitchFamily="34" charset="-122"/>
                <a:cs typeface="Cambria" pitchFamily="34" charset="-120"/>
              </a:rPr>
              <a:t>Laptop · browser</a:t>
            </a:r>
            <a:endParaRPr lang="en-US" sz="1500" dirty="0"/>
          </a:p>
        </p:txBody>
      </p:sp>
      <p:sp>
        <p:nvSpPr>
          <p:cNvPr id="33" name="Text 31"/>
          <p:cNvSpPr/>
          <p:nvPr/>
        </p:nvSpPr>
        <p:spPr>
          <a:xfrm>
            <a:off x="9189720" y="1938528"/>
            <a:ext cx="2194560" cy="228600"/>
          </a:xfrm>
          <a:prstGeom prst="rect">
            <a:avLst/>
          </a:prstGeom>
          <a:noFill/>
          <a:ln/>
        </p:spPr>
        <p:txBody>
          <a:bodyPr wrap="square" lIns="0" tIns="0" rIns="0" bIns="0" rtlCol="0" anchor="ctr"/>
          <a:lstStyle/>
          <a:p>
            <a:pPr indent="0" marL="0">
              <a:buNone/>
            </a:pPr>
            <a:r>
              <a:rPr lang="en-US" sz="950" b="1" spc="200" kern="0" dirty="0">
                <a:solidFill>
                  <a:srgbClr val="1D4ED8"/>
                </a:solidFill>
                <a:latin typeface="Calibri" pitchFamily="34" charset="0"/>
                <a:ea typeface="Calibri" pitchFamily="34" charset="-122"/>
                <a:cs typeface="Calibri" pitchFamily="34" charset="-120"/>
              </a:rPr>
              <a:t>LIVE DASHBOARD</a:t>
            </a:r>
            <a:endParaRPr lang="en-US" sz="950" dirty="0"/>
          </a:p>
        </p:txBody>
      </p:sp>
      <p:sp>
        <p:nvSpPr>
          <p:cNvPr id="34" name="Text 32"/>
          <p:cNvSpPr/>
          <p:nvPr/>
        </p:nvSpPr>
        <p:spPr>
          <a:xfrm>
            <a:off x="9189720" y="2194560"/>
            <a:ext cx="2240280" cy="1371600"/>
          </a:xfrm>
          <a:prstGeom prst="rect">
            <a:avLst/>
          </a:prstGeom>
          <a:noFill/>
          <a:ln/>
        </p:spPr>
        <p:txBody>
          <a:bodyPr wrap="square" lIns="0" tIns="0" rIns="0" bIns="0" rtlCol="0" anchor="ctr"/>
          <a:lstStyle/>
          <a:p>
            <a:pPr indent="0" marL="0">
              <a:lnSpc>
                <a:spcPct val="130000"/>
              </a:lnSpc>
              <a:buNone/>
            </a:pPr>
            <a:r>
              <a:rPr lang="en-US" sz="1200" dirty="0">
                <a:solidFill>
                  <a:srgbClr val="111827"/>
                </a:solidFill>
                <a:latin typeface="Calibri" pitchFamily="34" charset="0"/>
                <a:ea typeface="Calibri" pitchFamily="34" charset="-122"/>
                <a:cs typeface="Calibri" pitchFamily="34" charset="-120"/>
              </a:rPr>
              <a:t>seat floor plan + windows</a:t>
            </a:r>
            <a:endParaRPr lang="en-US" sz="1200" dirty="0"/>
          </a:p>
          <a:p>
            <a:pPr indent="0" marL="0">
              <a:lnSpc>
                <a:spcPct val="130000"/>
              </a:lnSpc>
              <a:buNone/>
            </a:pPr>
            <a:r>
              <a:rPr lang="en-US" sz="1200" dirty="0">
                <a:solidFill>
                  <a:srgbClr val="111827"/>
                </a:solidFill>
                <a:latin typeface="Calibri" pitchFamily="34" charset="0"/>
                <a:ea typeface="Calibri" pitchFamily="34" charset="-122"/>
                <a:cs typeface="Calibri" pitchFamily="34" charset="-120"/>
              </a:rPr>
              <a:t>current plan with cost</a:t>
            </a:r>
            <a:endParaRPr lang="en-US" sz="1200" dirty="0"/>
          </a:p>
          <a:p>
            <a:pPr indent="0" marL="0">
              <a:lnSpc>
                <a:spcPct val="130000"/>
              </a:lnSpc>
              <a:buNone/>
            </a:pPr>
            <a:r>
              <a:rPr lang="en-US" sz="1200" dirty="0">
                <a:solidFill>
                  <a:srgbClr val="111827"/>
                </a:solidFill>
                <a:latin typeface="Calibri" pitchFamily="34" charset="0"/>
                <a:ea typeface="Calibri" pitchFamily="34" charset="-122"/>
                <a:cs typeface="Calibri" pitchFamily="34" charset="-120"/>
              </a:rPr>
              <a:t>trend charts</a:t>
            </a:r>
            <a:endParaRPr lang="en-US" sz="1200" dirty="0"/>
          </a:p>
          <a:p>
            <a:pPr indent="0" marL="0">
              <a:lnSpc>
                <a:spcPct val="130000"/>
              </a:lnSpc>
              <a:buNone/>
            </a:pPr>
            <a:r>
              <a:rPr lang="en-US" sz="1200" dirty="0">
                <a:solidFill>
                  <a:srgbClr val="111827"/>
                </a:solidFill>
                <a:latin typeface="Calibri" pitchFamily="34" charset="0"/>
                <a:ea typeface="Calibri" pitchFamily="34" charset="-122"/>
                <a:cs typeface="Calibri" pitchFamily="34" charset="-120"/>
              </a:rPr>
              <a:t>Pomodoro session rings</a:t>
            </a:r>
            <a:endParaRPr lang="en-US" sz="1200" dirty="0"/>
          </a:p>
        </p:txBody>
      </p:sp>
      <p:sp>
        <p:nvSpPr>
          <p:cNvPr id="35" name="Text 33"/>
          <p:cNvSpPr/>
          <p:nvPr/>
        </p:nvSpPr>
        <p:spPr>
          <a:xfrm>
            <a:off x="9189720" y="4160520"/>
            <a:ext cx="2240280" cy="914400"/>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in demo mode the laptop joins the WiFi access point spanned by the Pi 5</a:t>
            </a:r>
            <a:endParaRPr lang="en-US" sz="1050" dirty="0"/>
          </a:p>
        </p:txBody>
      </p:sp>
      <p:sp>
        <p:nvSpPr>
          <p:cNvPr id="36" name="Shape 34"/>
          <p:cNvSpPr/>
          <p:nvPr/>
        </p:nvSpPr>
        <p:spPr>
          <a:xfrm>
            <a:off x="4059936" y="2148840"/>
            <a:ext cx="621792" cy="292608"/>
          </a:xfrm>
          <a:prstGeom prst="rightArrow">
            <a:avLst/>
          </a:prstGeom>
          <a:solidFill>
            <a:srgbClr val="15803D"/>
          </a:solidFill>
          <a:ln/>
        </p:spPr>
      </p:sp>
      <p:sp>
        <p:nvSpPr>
          <p:cNvPr id="37" name="Text 35"/>
          <p:cNvSpPr/>
          <p:nvPr/>
        </p:nvSpPr>
        <p:spPr>
          <a:xfrm>
            <a:off x="3913632" y="1847088"/>
            <a:ext cx="914400" cy="256032"/>
          </a:xfrm>
          <a:prstGeom prst="rect">
            <a:avLst/>
          </a:prstGeom>
          <a:noFill/>
          <a:ln/>
        </p:spPr>
        <p:txBody>
          <a:bodyPr wrap="square" lIns="0" tIns="0" rIns="0" bIns="0" rtlCol="0" anchor="ctr"/>
          <a:lstStyle/>
          <a:p>
            <a:pPr algn="ctr" indent="0" marL="0">
              <a:buNone/>
            </a:pPr>
            <a:r>
              <a:rPr lang="en-US" sz="950" dirty="0">
                <a:solidFill>
                  <a:srgbClr val="6B7280"/>
                </a:solidFill>
                <a:latin typeface="Calibri" pitchFamily="34" charset="0"/>
                <a:ea typeface="Calibri" pitchFamily="34" charset="-122"/>
                <a:cs typeface="Calibri" pitchFamily="34" charset="-120"/>
              </a:rPr>
              <a:t>sensor data</a:t>
            </a:r>
            <a:endParaRPr lang="en-US" sz="950" dirty="0"/>
          </a:p>
        </p:txBody>
      </p:sp>
      <p:sp>
        <p:nvSpPr>
          <p:cNvPr id="38" name="Shape 36"/>
          <p:cNvSpPr/>
          <p:nvPr/>
        </p:nvSpPr>
        <p:spPr>
          <a:xfrm>
            <a:off x="4059936" y="4297680"/>
            <a:ext cx="621792" cy="292608"/>
          </a:xfrm>
          <a:prstGeom prst="leftArrow">
            <a:avLst/>
          </a:prstGeom>
          <a:solidFill>
            <a:srgbClr val="D97706"/>
          </a:solidFill>
          <a:ln/>
        </p:spPr>
      </p:sp>
      <p:sp>
        <p:nvSpPr>
          <p:cNvPr id="39" name="Text 37"/>
          <p:cNvSpPr/>
          <p:nvPr/>
        </p:nvSpPr>
        <p:spPr>
          <a:xfrm>
            <a:off x="3913632" y="4626864"/>
            <a:ext cx="914400" cy="256032"/>
          </a:xfrm>
          <a:prstGeom prst="rect">
            <a:avLst/>
          </a:prstGeom>
          <a:noFill/>
          <a:ln/>
        </p:spPr>
        <p:txBody>
          <a:bodyPr wrap="square" lIns="0" tIns="0" rIns="0" bIns="0" rtlCol="0" anchor="ctr"/>
          <a:lstStyle/>
          <a:p>
            <a:pPr algn="ctr" indent="0" marL="0">
              <a:buNone/>
            </a:pPr>
            <a:r>
              <a:rPr lang="en-US" sz="950" dirty="0">
                <a:solidFill>
                  <a:srgbClr val="6B7280"/>
                </a:solidFill>
                <a:latin typeface="Calibri" pitchFamily="34" charset="0"/>
                <a:ea typeface="Calibri" pitchFamily="34" charset="-122"/>
                <a:cs typeface="Calibri" pitchFamily="34" charset="-120"/>
              </a:rPr>
              <a:t>actions</a:t>
            </a:r>
            <a:endParaRPr lang="en-US" sz="950" dirty="0"/>
          </a:p>
        </p:txBody>
      </p:sp>
      <p:sp>
        <p:nvSpPr>
          <p:cNvPr id="40" name="Shape 38"/>
          <p:cNvSpPr/>
          <p:nvPr/>
        </p:nvSpPr>
        <p:spPr>
          <a:xfrm>
            <a:off x="8311896" y="2148840"/>
            <a:ext cx="621792" cy="292608"/>
          </a:xfrm>
          <a:prstGeom prst="rightArrow">
            <a:avLst/>
          </a:prstGeom>
          <a:solidFill>
            <a:srgbClr val="1D4ED8"/>
          </a:solidFill>
          <a:ln/>
        </p:spPr>
      </p:sp>
      <p:sp>
        <p:nvSpPr>
          <p:cNvPr id="41" name="Text 39"/>
          <p:cNvSpPr/>
          <p:nvPr/>
        </p:nvSpPr>
        <p:spPr>
          <a:xfrm>
            <a:off x="8156448" y="1847088"/>
            <a:ext cx="960120" cy="256032"/>
          </a:xfrm>
          <a:prstGeom prst="rect">
            <a:avLst/>
          </a:prstGeom>
          <a:noFill/>
          <a:ln/>
        </p:spPr>
        <p:txBody>
          <a:bodyPr wrap="square" lIns="0" tIns="0" rIns="0" bIns="0" rtlCol="0" anchor="ctr"/>
          <a:lstStyle/>
          <a:p>
            <a:pPr algn="ctr" indent="0" marL="0">
              <a:buNone/>
            </a:pPr>
            <a:r>
              <a:rPr lang="en-US" sz="950" dirty="0">
                <a:solidFill>
                  <a:srgbClr val="6B7280"/>
                </a:solidFill>
                <a:latin typeface="Calibri" pitchFamily="34" charset="0"/>
                <a:ea typeface="Calibri" pitchFamily="34" charset="-122"/>
                <a:cs typeface="Calibri" pitchFamily="34" charset="-120"/>
              </a:rPr>
              <a:t>state + plan</a:t>
            </a:r>
            <a:endParaRPr lang="en-US" sz="950" dirty="0"/>
          </a:p>
        </p:txBody>
      </p:sp>
      <p:sp>
        <p:nvSpPr>
          <p:cNvPr id="42" name="Shape 40"/>
          <p:cNvSpPr/>
          <p:nvPr/>
        </p:nvSpPr>
        <p:spPr>
          <a:xfrm>
            <a:off x="640080" y="5989320"/>
            <a:ext cx="10927080" cy="0"/>
          </a:xfrm>
          <a:prstGeom prst="line">
            <a:avLst/>
          </a:prstGeom>
          <a:noFill/>
          <a:ln w="9525">
            <a:solidFill>
              <a:srgbClr val="E5E7EB"/>
            </a:solidFill>
            <a:prstDash val="solid"/>
          </a:ln>
        </p:spPr>
      </p:sp>
      <p:sp>
        <p:nvSpPr>
          <p:cNvPr id="43" name="Text 41"/>
          <p:cNvSpPr/>
          <p:nvPr/>
        </p:nvSpPr>
        <p:spPr>
          <a:xfrm>
            <a:off x="640080" y="6126480"/>
            <a:ext cx="10927080" cy="457200"/>
          </a:xfrm>
          <a:prstGeom prst="rect">
            <a:avLst/>
          </a:prstGeom>
          <a:noFill/>
          <a:ln/>
        </p:spPr>
        <p:txBody>
          <a:bodyPr wrap="square" lIns="0" tIns="0" rIns="0" bIns="0" rtlCol="0" anchor="ctr"/>
          <a:lstStyle/>
          <a:p>
            <a:pPr algn="ctr" indent="0" marL="0">
              <a:buNone/>
            </a:pPr>
            <a:r>
              <a:rPr lang="en-US" sz="1250" dirty="0">
                <a:solidFill>
                  <a:srgbClr val="6B7280"/>
                </a:solidFill>
                <a:latin typeface="Calibri" pitchFamily="34" charset="0"/>
                <a:ea typeface="Calibri" pitchFamily="34" charset="-122"/>
                <a:cs typeface="Calibri" pitchFamily="34" charset="-120"/>
              </a:rPr>
              <a:t>In effect: the lamp follows occupancy and darkness · the airing strategy follows weather costs · breaks are nudged after 2 min · disturbances are corrected in under 1 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19456"/>
            <a:ext cx="1088136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AI PLANNING · THE DECISION LOOP</a:t>
            </a:r>
            <a:endParaRPr lang="en-US" sz="1100" dirty="0"/>
          </a:p>
        </p:txBody>
      </p:sp>
      <p:sp>
        <p:nvSpPr>
          <p:cNvPr id="3" name="Text 1"/>
          <p:cNvSpPr/>
          <p:nvPr/>
        </p:nvSpPr>
        <p:spPr>
          <a:xfrm>
            <a:off x="640080" y="457200"/>
            <a:ext cx="10881360" cy="640080"/>
          </a:xfrm>
          <a:prstGeom prst="rect">
            <a:avLst/>
          </a:prstGeom>
          <a:noFill/>
          <a:ln/>
        </p:spPr>
        <p:txBody>
          <a:bodyPr wrap="square" lIns="0" tIns="0" rIns="0" bIns="0" rtlCol="0" anchor="ctr"/>
          <a:lstStyle/>
          <a:p>
            <a:pPr indent="0" marL="0">
              <a:buNone/>
            </a:pPr>
            <a:r>
              <a:rPr lang="en-US" sz="3000" b="1" dirty="0">
                <a:solidFill>
                  <a:srgbClr val="111827"/>
                </a:solidFill>
                <a:latin typeface="Cambria" pitchFamily="34" charset="0"/>
                <a:ea typeface="Cambria" pitchFamily="34" charset="-122"/>
                <a:cs typeface="Cambria" pitchFamily="34" charset="-120"/>
              </a:rPr>
              <a:t>From a sensor reading to an optimal action</a:t>
            </a:r>
            <a:endParaRPr lang="en-US" sz="3000" dirty="0"/>
          </a:p>
        </p:txBody>
      </p:sp>
      <p:sp>
        <p:nvSpPr>
          <p:cNvPr id="4" name="Shape 2"/>
          <p:cNvSpPr/>
          <p:nvPr/>
        </p:nvSpPr>
        <p:spPr>
          <a:xfrm>
            <a:off x="502920" y="1572768"/>
            <a:ext cx="2011680" cy="3401568"/>
          </a:xfrm>
          <a:prstGeom prst="roundRect">
            <a:avLst>
              <a:gd name="adj" fmla="val 3636"/>
            </a:avLst>
          </a:prstGeom>
          <a:solidFill>
            <a:srgbClr val="FFFFFF"/>
          </a:solidFill>
          <a:ln w="12700">
            <a:solidFill>
              <a:srgbClr val="E5E7EB"/>
            </a:solidFill>
            <a:prstDash val="solid"/>
          </a:ln>
        </p:spPr>
      </p:sp>
      <p:sp>
        <p:nvSpPr>
          <p:cNvPr id="5" name="Text 3"/>
          <p:cNvSpPr/>
          <p:nvPr/>
        </p:nvSpPr>
        <p:spPr>
          <a:xfrm>
            <a:off x="649224" y="1719072"/>
            <a:ext cx="1737360" cy="320040"/>
          </a:xfrm>
          <a:prstGeom prst="rect">
            <a:avLst/>
          </a:prstGeom>
          <a:noFill/>
          <a:ln/>
        </p:spPr>
        <p:txBody>
          <a:bodyPr wrap="square" lIns="0" tIns="0" rIns="0" bIns="0" rtlCol="0" anchor="ctr"/>
          <a:lstStyle/>
          <a:p>
            <a:pPr indent="0" marL="0">
              <a:buNone/>
            </a:pPr>
            <a:r>
              <a:rPr lang="en-US" sz="1300" b="1" dirty="0">
                <a:solidFill>
                  <a:srgbClr val="15803D"/>
                </a:solidFill>
                <a:latin typeface="Cambria" pitchFamily="34" charset="0"/>
                <a:ea typeface="Cambria" pitchFamily="34" charset="-122"/>
                <a:cs typeface="Cambria" pitchFamily="34" charset="-120"/>
              </a:rPr>
              <a:t>SENSE</a:t>
            </a:r>
            <a:endParaRPr lang="en-US" sz="1300" dirty="0"/>
          </a:p>
        </p:txBody>
      </p:sp>
      <p:sp>
        <p:nvSpPr>
          <p:cNvPr id="6" name="Text 4"/>
          <p:cNvSpPr/>
          <p:nvPr/>
        </p:nvSpPr>
        <p:spPr>
          <a:xfrm>
            <a:off x="649224" y="2048256"/>
            <a:ext cx="1737360" cy="256032"/>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world state · 2 Hz</a:t>
            </a:r>
            <a:endParaRPr lang="en-US" sz="950" dirty="0"/>
          </a:p>
        </p:txBody>
      </p:sp>
      <p:sp>
        <p:nvSpPr>
          <p:cNvPr id="7" name="Shape 5"/>
          <p:cNvSpPr/>
          <p:nvPr/>
        </p:nvSpPr>
        <p:spPr>
          <a:xfrm>
            <a:off x="649224" y="2322576"/>
            <a:ext cx="1719072" cy="0"/>
          </a:xfrm>
          <a:prstGeom prst="line">
            <a:avLst/>
          </a:prstGeom>
          <a:noFill/>
          <a:ln w="9525">
            <a:solidFill>
              <a:srgbClr val="E5E7EB"/>
            </a:solidFill>
            <a:prstDash val="solid"/>
          </a:ln>
        </p:spPr>
      </p:sp>
      <p:sp>
        <p:nvSpPr>
          <p:cNvPr id="8" name="Text 6"/>
          <p:cNvSpPr/>
          <p:nvPr/>
        </p:nvSpPr>
        <p:spPr>
          <a:xfrm>
            <a:off x="649224" y="2542032"/>
            <a:ext cx="1792224" cy="310896"/>
          </a:xfrm>
          <a:prstGeom prst="rect">
            <a:avLst/>
          </a:prstGeom>
          <a:noFill/>
          <a:ln/>
        </p:spPr>
        <p:txBody>
          <a:bodyPr wrap="square" lIns="0" tIns="0" rIns="0" bIns="0" rtlCol="0" anchor="ctr"/>
          <a:lstStyle/>
          <a:p>
            <a:pPr indent="0" marL="0">
              <a:buNone/>
            </a:pPr>
            <a:r>
              <a:rPr lang="en-US" sz="1050" dirty="0">
                <a:solidFill>
                  <a:srgbClr val="111827"/>
                </a:solidFill>
                <a:latin typeface="Calibri" pitchFamily="34" charset="0"/>
                <a:ea typeface="Calibri" pitchFamily="34" charset="-122"/>
                <a:cs typeface="Calibri" pitchFamily="34" charset="-120"/>
              </a:rPr>
              <a:t>occupied · yes</a:t>
            </a:r>
            <a:endParaRPr lang="en-US" sz="1050" dirty="0"/>
          </a:p>
        </p:txBody>
      </p:sp>
      <p:sp>
        <p:nvSpPr>
          <p:cNvPr id="9" name="Text 7"/>
          <p:cNvSpPr/>
          <p:nvPr/>
        </p:nvSpPr>
        <p:spPr>
          <a:xfrm>
            <a:off x="649224" y="2907792"/>
            <a:ext cx="1792224" cy="310896"/>
          </a:xfrm>
          <a:prstGeom prst="rect">
            <a:avLst/>
          </a:prstGeom>
          <a:noFill/>
          <a:ln/>
        </p:spPr>
        <p:txBody>
          <a:bodyPr wrap="square" lIns="0" tIns="0" rIns="0" bIns="0" rtlCol="0" anchor="ctr"/>
          <a:lstStyle/>
          <a:p>
            <a:pPr indent="0" marL="0">
              <a:buNone/>
            </a:pPr>
            <a:r>
              <a:rPr lang="en-US" sz="1050" dirty="0">
                <a:solidFill>
                  <a:srgbClr val="111827"/>
                </a:solidFill>
                <a:latin typeface="Calibri" pitchFamily="34" charset="0"/>
                <a:ea typeface="Calibri" pitchFamily="34" charset="-122"/>
                <a:cs typeface="Calibri" pitchFamily="34" charset="-120"/>
              </a:rPr>
              <a:t>light · 55 %</a:t>
            </a:r>
            <a:endParaRPr lang="en-US" sz="1050" dirty="0"/>
          </a:p>
        </p:txBody>
      </p:sp>
      <p:sp>
        <p:nvSpPr>
          <p:cNvPr id="10" name="Text 8"/>
          <p:cNvSpPr/>
          <p:nvPr/>
        </p:nvSpPr>
        <p:spPr>
          <a:xfrm>
            <a:off x="649224" y="3273552"/>
            <a:ext cx="1792224" cy="310896"/>
          </a:xfrm>
          <a:prstGeom prst="rect">
            <a:avLst/>
          </a:prstGeom>
          <a:noFill/>
          <a:ln/>
        </p:spPr>
        <p:txBody>
          <a:bodyPr wrap="square" lIns="0" tIns="0" rIns="0" bIns="0" rtlCol="0" anchor="ctr"/>
          <a:lstStyle/>
          <a:p>
            <a:pPr indent="0" marL="0">
              <a:buNone/>
            </a:pPr>
            <a:r>
              <a:rPr lang="en-US" sz="1050" dirty="0">
                <a:solidFill>
                  <a:srgbClr val="111827"/>
                </a:solidFill>
                <a:latin typeface="Calibri" pitchFamily="34" charset="0"/>
                <a:ea typeface="Calibri" pitchFamily="34" charset="-122"/>
                <a:cs typeface="Calibri" pitchFamily="34" charset="-120"/>
              </a:rPr>
              <a:t>CO₂ · 1547 ppm</a:t>
            </a:r>
            <a:endParaRPr lang="en-US" sz="1050" dirty="0"/>
          </a:p>
        </p:txBody>
      </p:sp>
      <p:sp>
        <p:nvSpPr>
          <p:cNvPr id="11" name="Text 9"/>
          <p:cNvSpPr/>
          <p:nvPr/>
        </p:nvSpPr>
        <p:spPr>
          <a:xfrm>
            <a:off x="649224" y="3639312"/>
            <a:ext cx="1792224" cy="310896"/>
          </a:xfrm>
          <a:prstGeom prst="rect">
            <a:avLst/>
          </a:prstGeom>
          <a:noFill/>
          <a:ln/>
        </p:spPr>
        <p:txBody>
          <a:bodyPr wrap="square" lIns="0" tIns="0" rIns="0" bIns="0" rtlCol="0" anchor="ctr"/>
          <a:lstStyle/>
          <a:p>
            <a:pPr indent="0" marL="0">
              <a:buNone/>
            </a:pPr>
            <a:r>
              <a:rPr lang="en-US" sz="1050" dirty="0">
                <a:solidFill>
                  <a:srgbClr val="111827"/>
                </a:solidFill>
                <a:latin typeface="Calibri" pitchFamily="34" charset="0"/>
                <a:ea typeface="Calibri" pitchFamily="34" charset="-122"/>
                <a:cs typeface="Calibri" pitchFamily="34" charset="-120"/>
              </a:rPr>
              <a:t>outdoor · 33 °C</a:t>
            </a:r>
            <a:endParaRPr lang="en-US" sz="1050" dirty="0"/>
          </a:p>
        </p:txBody>
      </p:sp>
      <p:sp>
        <p:nvSpPr>
          <p:cNvPr id="12" name="Shape 10"/>
          <p:cNvSpPr/>
          <p:nvPr/>
        </p:nvSpPr>
        <p:spPr>
          <a:xfrm>
            <a:off x="2795321" y="1572768"/>
            <a:ext cx="2011680" cy="3401568"/>
          </a:xfrm>
          <a:prstGeom prst="roundRect">
            <a:avLst>
              <a:gd name="adj" fmla="val 3636"/>
            </a:avLst>
          </a:prstGeom>
          <a:solidFill>
            <a:srgbClr val="FFFFFF"/>
          </a:solidFill>
          <a:ln w="12700">
            <a:solidFill>
              <a:srgbClr val="E5E7EB"/>
            </a:solidFill>
            <a:prstDash val="solid"/>
          </a:ln>
        </p:spPr>
      </p:sp>
      <p:sp>
        <p:nvSpPr>
          <p:cNvPr id="13" name="Text 11"/>
          <p:cNvSpPr/>
          <p:nvPr/>
        </p:nvSpPr>
        <p:spPr>
          <a:xfrm>
            <a:off x="2941625" y="1719072"/>
            <a:ext cx="1737360" cy="320040"/>
          </a:xfrm>
          <a:prstGeom prst="rect">
            <a:avLst/>
          </a:prstGeom>
          <a:noFill/>
          <a:ln/>
        </p:spPr>
        <p:txBody>
          <a:bodyPr wrap="square" lIns="0" tIns="0" rIns="0" bIns="0" rtlCol="0" anchor="ctr"/>
          <a:lstStyle/>
          <a:p>
            <a:pPr indent="0" marL="0">
              <a:buNone/>
            </a:pPr>
            <a:r>
              <a:rPr lang="en-US" sz="1300" b="1" dirty="0">
                <a:solidFill>
                  <a:srgbClr val="111827"/>
                </a:solidFill>
                <a:latin typeface="Cambria" pitchFamily="34" charset="0"/>
                <a:ea typeface="Cambria" pitchFamily="34" charset="-122"/>
                <a:cs typeface="Cambria" pitchFamily="34" charset="-120"/>
              </a:rPr>
              <a:t>DISCRETISE</a:t>
            </a:r>
            <a:endParaRPr lang="en-US" sz="1300" dirty="0"/>
          </a:p>
        </p:txBody>
      </p:sp>
      <p:sp>
        <p:nvSpPr>
          <p:cNvPr id="14" name="Text 12"/>
          <p:cNvSpPr/>
          <p:nvPr/>
        </p:nvSpPr>
        <p:spPr>
          <a:xfrm>
            <a:off x="2941625" y="2048256"/>
            <a:ext cx="1737360" cy="256032"/>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state → PDDL facts</a:t>
            </a:r>
            <a:endParaRPr lang="en-US" sz="950" dirty="0"/>
          </a:p>
        </p:txBody>
      </p:sp>
      <p:sp>
        <p:nvSpPr>
          <p:cNvPr id="15" name="Shape 13"/>
          <p:cNvSpPr/>
          <p:nvPr/>
        </p:nvSpPr>
        <p:spPr>
          <a:xfrm>
            <a:off x="2941625" y="2322576"/>
            <a:ext cx="1719072" cy="0"/>
          </a:xfrm>
          <a:prstGeom prst="line">
            <a:avLst/>
          </a:prstGeom>
          <a:noFill/>
          <a:ln w="9525">
            <a:solidFill>
              <a:srgbClr val="E5E7EB"/>
            </a:solidFill>
            <a:prstDash val="solid"/>
          </a:ln>
        </p:spPr>
      </p:sp>
      <p:sp>
        <p:nvSpPr>
          <p:cNvPr id="16" name="Text 14"/>
          <p:cNvSpPr/>
          <p:nvPr/>
        </p:nvSpPr>
        <p:spPr>
          <a:xfrm>
            <a:off x="2941625" y="2542032"/>
            <a:ext cx="1792224" cy="310896"/>
          </a:xfrm>
          <a:prstGeom prst="rect">
            <a:avLst/>
          </a:prstGeom>
          <a:noFill/>
          <a:ln/>
        </p:spPr>
        <p:txBody>
          <a:bodyPr wrap="square" lIns="0" tIns="0" rIns="0" bIns="0" rtlCol="0" anchor="ctr"/>
          <a:lstStyle/>
          <a:p>
            <a:pPr indent="0" marL="0">
              <a:buNone/>
            </a:pPr>
            <a:r>
              <a:rPr lang="en-US" sz="1000" dirty="0">
                <a:solidFill>
                  <a:srgbClr val="111827"/>
                </a:solidFill>
                <a:latin typeface="Courier New" pitchFamily="34" charset="0"/>
                <a:ea typeface="Courier New" pitchFamily="34" charset="-122"/>
                <a:cs typeface="Courier New" pitchFamily="34" charset="-120"/>
              </a:rPr>
              <a:t>(occupied r1)</a:t>
            </a:r>
            <a:endParaRPr lang="en-US" sz="1000" dirty="0"/>
          </a:p>
        </p:txBody>
      </p:sp>
      <p:sp>
        <p:nvSpPr>
          <p:cNvPr id="17" name="Text 15"/>
          <p:cNvSpPr/>
          <p:nvPr/>
        </p:nvSpPr>
        <p:spPr>
          <a:xfrm>
            <a:off x="2941625" y="2871216"/>
            <a:ext cx="1792224" cy="310896"/>
          </a:xfrm>
          <a:prstGeom prst="rect">
            <a:avLst/>
          </a:prstGeom>
          <a:noFill/>
          <a:ln/>
        </p:spPr>
        <p:txBody>
          <a:bodyPr wrap="square" lIns="0" tIns="0" rIns="0" bIns="0" rtlCol="0" anchor="ctr"/>
          <a:lstStyle/>
          <a:p>
            <a:pPr indent="0" marL="0">
              <a:buNone/>
            </a:pPr>
            <a:r>
              <a:rPr lang="en-US" sz="1000" dirty="0">
                <a:solidFill>
                  <a:srgbClr val="111827"/>
                </a:solidFill>
                <a:latin typeface="Courier New" pitchFamily="34" charset="0"/>
                <a:ea typeface="Courier New" pitchFamily="34" charset="-122"/>
                <a:cs typeface="Courier New" pitchFamily="34" charset="-120"/>
              </a:rPr>
              <a:t>(co2_high r1)</a:t>
            </a:r>
            <a:endParaRPr lang="en-US" sz="1000" dirty="0"/>
          </a:p>
        </p:txBody>
      </p:sp>
      <p:sp>
        <p:nvSpPr>
          <p:cNvPr id="18" name="Text 16"/>
          <p:cNvSpPr/>
          <p:nvPr/>
        </p:nvSpPr>
        <p:spPr>
          <a:xfrm>
            <a:off x="2941625" y="3346704"/>
            <a:ext cx="1792224" cy="31089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from thresholds:</a:t>
            </a:r>
            <a:endParaRPr lang="en-US" sz="1050" dirty="0"/>
          </a:p>
        </p:txBody>
      </p:sp>
      <p:sp>
        <p:nvSpPr>
          <p:cNvPr id="19" name="Text 17"/>
          <p:cNvSpPr/>
          <p:nvPr/>
        </p:nvSpPr>
        <p:spPr>
          <a:xfrm>
            <a:off x="2941625" y="3657600"/>
            <a:ext cx="1792224" cy="31089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light 55 % ≥ 40 %</a:t>
            </a:r>
            <a:endParaRPr lang="en-US" sz="1050" dirty="0"/>
          </a:p>
        </p:txBody>
      </p:sp>
      <p:sp>
        <p:nvSpPr>
          <p:cNvPr id="20" name="Text 18"/>
          <p:cNvSpPr/>
          <p:nvPr/>
        </p:nvSpPr>
        <p:spPr>
          <a:xfrm>
            <a:off x="2941625" y="3968496"/>
            <a:ext cx="1792224" cy="31089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CO₂ 1547 ≥ 1100</a:t>
            </a:r>
            <a:endParaRPr lang="en-US" sz="1050" dirty="0"/>
          </a:p>
        </p:txBody>
      </p:sp>
      <p:sp>
        <p:nvSpPr>
          <p:cNvPr id="21" name="Shape 19"/>
          <p:cNvSpPr/>
          <p:nvPr/>
        </p:nvSpPr>
        <p:spPr>
          <a:xfrm>
            <a:off x="5087722" y="1572768"/>
            <a:ext cx="2011680" cy="3401568"/>
          </a:xfrm>
          <a:prstGeom prst="roundRect">
            <a:avLst>
              <a:gd name="adj" fmla="val 3636"/>
            </a:avLst>
          </a:prstGeom>
          <a:solidFill>
            <a:srgbClr val="FBEFD9"/>
          </a:solidFill>
          <a:ln w="19050">
            <a:solidFill>
              <a:srgbClr val="D97706"/>
            </a:solidFill>
            <a:prstDash val="solid"/>
          </a:ln>
        </p:spPr>
      </p:sp>
      <p:sp>
        <p:nvSpPr>
          <p:cNvPr id="22" name="Text 20"/>
          <p:cNvSpPr/>
          <p:nvPr/>
        </p:nvSpPr>
        <p:spPr>
          <a:xfrm>
            <a:off x="5234026" y="1719072"/>
            <a:ext cx="1737360" cy="320040"/>
          </a:xfrm>
          <a:prstGeom prst="rect">
            <a:avLst/>
          </a:prstGeom>
          <a:noFill/>
          <a:ln/>
        </p:spPr>
        <p:txBody>
          <a:bodyPr wrap="square" lIns="0" tIns="0" rIns="0" bIns="0" rtlCol="0" anchor="ctr"/>
          <a:lstStyle/>
          <a:p>
            <a:pPr indent="0" marL="0">
              <a:buNone/>
            </a:pPr>
            <a:r>
              <a:rPr lang="en-US" sz="1300" b="1" dirty="0">
                <a:solidFill>
                  <a:srgbClr val="D97706"/>
                </a:solidFill>
                <a:latin typeface="Cambria" pitchFamily="34" charset="0"/>
                <a:ea typeface="Cambria" pitchFamily="34" charset="-122"/>
                <a:cs typeface="Cambria" pitchFamily="34" charset="-120"/>
              </a:rPr>
              <a:t>PDDL PROBLEM</a:t>
            </a:r>
            <a:endParaRPr lang="en-US" sz="1300" dirty="0"/>
          </a:p>
        </p:txBody>
      </p:sp>
      <p:sp>
        <p:nvSpPr>
          <p:cNvPr id="23" name="Text 21"/>
          <p:cNvSpPr/>
          <p:nvPr/>
        </p:nvSpPr>
        <p:spPr>
          <a:xfrm>
            <a:off x="5234026" y="2048256"/>
            <a:ext cx="1737360" cy="256032"/>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goal + action costs</a:t>
            </a:r>
            <a:endParaRPr lang="en-US" sz="950" dirty="0"/>
          </a:p>
        </p:txBody>
      </p:sp>
      <p:sp>
        <p:nvSpPr>
          <p:cNvPr id="24" name="Shape 22"/>
          <p:cNvSpPr/>
          <p:nvPr/>
        </p:nvSpPr>
        <p:spPr>
          <a:xfrm>
            <a:off x="5234026" y="2322576"/>
            <a:ext cx="1719072" cy="0"/>
          </a:xfrm>
          <a:prstGeom prst="line">
            <a:avLst/>
          </a:prstGeom>
          <a:noFill/>
          <a:ln w="9525">
            <a:solidFill>
              <a:srgbClr val="E5E7EB"/>
            </a:solidFill>
            <a:prstDash val="solid"/>
          </a:ln>
        </p:spPr>
      </p:sp>
      <p:sp>
        <p:nvSpPr>
          <p:cNvPr id="25" name="Text 23"/>
          <p:cNvSpPr/>
          <p:nvPr/>
        </p:nvSpPr>
        <p:spPr>
          <a:xfrm>
            <a:off x="5234026" y="2542032"/>
            <a:ext cx="1792224" cy="310896"/>
          </a:xfrm>
          <a:prstGeom prst="rect">
            <a:avLst/>
          </a:prstGeom>
          <a:noFill/>
          <a:ln/>
        </p:spPr>
        <p:txBody>
          <a:bodyPr wrap="square" lIns="0" tIns="0" rIns="0" bIns="0" rtlCol="0" anchor="ctr"/>
          <a:lstStyle/>
          <a:p>
            <a:pPr indent="0" marL="0">
              <a:buNone/>
            </a:pPr>
            <a:r>
              <a:rPr lang="en-US" sz="1000" dirty="0">
                <a:solidFill>
                  <a:srgbClr val="111827"/>
                </a:solidFill>
                <a:latin typeface="Courier New" pitchFamily="34" charset="0"/>
                <a:ea typeface="Courier New" pitchFamily="34" charset="-122"/>
                <a:cs typeface="Courier New" pitchFamily="34" charset="-120"/>
              </a:rPr>
              <a:t>:goal</a:t>
            </a:r>
            <a:endParaRPr lang="en-US" sz="1000" dirty="0"/>
          </a:p>
        </p:txBody>
      </p:sp>
      <p:sp>
        <p:nvSpPr>
          <p:cNvPr id="26" name="Text 24"/>
          <p:cNvSpPr/>
          <p:nvPr/>
        </p:nvSpPr>
        <p:spPr>
          <a:xfrm>
            <a:off x="5234026" y="2862072"/>
            <a:ext cx="1792224" cy="310896"/>
          </a:xfrm>
          <a:prstGeom prst="rect">
            <a:avLst/>
          </a:prstGeom>
          <a:noFill/>
          <a:ln/>
        </p:spPr>
        <p:txBody>
          <a:bodyPr wrap="square" lIns="0" tIns="0" rIns="0" bIns="0" rtlCol="0" anchor="ctr"/>
          <a:lstStyle/>
          <a:p>
            <a:pPr indent="0" marL="0">
              <a:buNone/>
            </a:pPr>
            <a:r>
              <a:rPr lang="en-US" sz="1000" dirty="0">
                <a:solidFill>
                  <a:srgbClr val="111827"/>
                </a:solidFill>
                <a:latin typeface="Courier New" pitchFamily="34" charset="0"/>
                <a:ea typeface="Courier New" pitchFamily="34" charset="-122"/>
                <a:cs typeface="Courier New" pitchFamily="34" charset="-120"/>
              </a:rPr>
              <a:t> (not (co2_high r1))</a:t>
            </a:r>
            <a:endParaRPr lang="en-US" sz="1000" dirty="0"/>
          </a:p>
        </p:txBody>
      </p:sp>
      <p:sp>
        <p:nvSpPr>
          <p:cNvPr id="27" name="Text 25"/>
          <p:cNvSpPr/>
          <p:nvPr/>
        </p:nvSpPr>
        <p:spPr>
          <a:xfrm>
            <a:off x="5234026" y="3364992"/>
            <a:ext cx="1792224" cy="310896"/>
          </a:xfrm>
          <a:prstGeom prst="rect">
            <a:avLst/>
          </a:prstGeom>
          <a:noFill/>
          <a:ln/>
        </p:spPr>
        <p:txBody>
          <a:bodyPr wrap="square" lIns="0" tIns="0" rIns="0" bIns="0" rtlCol="0" anchor="ctr"/>
          <a:lstStyle/>
          <a:p>
            <a:pPr indent="0" marL="0">
              <a:buNone/>
            </a:pPr>
            <a:r>
              <a:rPr lang="en-US" sz="1000" dirty="0">
                <a:solidFill>
                  <a:srgbClr val="111827"/>
                </a:solidFill>
                <a:latin typeface="Courier New" pitchFamily="34" charset="0"/>
                <a:ea typeface="Courier New" pitchFamily="34" charset="-122"/>
                <a:cs typeface="Courier New" pitchFamily="34" charset="-120"/>
              </a:rPr>
              <a:t>pulse-cost = 3</a:t>
            </a:r>
            <a:endParaRPr lang="en-US" sz="1000" dirty="0"/>
          </a:p>
        </p:txBody>
      </p:sp>
      <p:sp>
        <p:nvSpPr>
          <p:cNvPr id="28" name="Text 26"/>
          <p:cNvSpPr/>
          <p:nvPr/>
        </p:nvSpPr>
        <p:spPr>
          <a:xfrm>
            <a:off x="5234026" y="3685032"/>
            <a:ext cx="1792224" cy="310896"/>
          </a:xfrm>
          <a:prstGeom prst="rect">
            <a:avLst/>
          </a:prstGeom>
          <a:noFill/>
          <a:ln/>
        </p:spPr>
        <p:txBody>
          <a:bodyPr wrap="square" lIns="0" tIns="0" rIns="0" bIns="0" rtlCol="0" anchor="ctr"/>
          <a:lstStyle/>
          <a:p>
            <a:pPr indent="0" marL="0">
              <a:buNone/>
            </a:pPr>
            <a:r>
              <a:rPr lang="en-US" sz="1000" dirty="0">
                <a:solidFill>
                  <a:srgbClr val="111827"/>
                </a:solidFill>
                <a:latin typeface="Courier New" pitchFamily="34" charset="0"/>
                <a:ea typeface="Courier New" pitchFamily="34" charset="-122"/>
                <a:cs typeface="Courier New" pitchFamily="34" charset="-120"/>
              </a:rPr>
              <a:t>full-cost = 4 + ΔT/2</a:t>
            </a:r>
            <a:endParaRPr lang="en-US" sz="1000" dirty="0"/>
          </a:p>
        </p:txBody>
      </p:sp>
      <p:sp>
        <p:nvSpPr>
          <p:cNvPr id="29" name="Text 27"/>
          <p:cNvSpPr/>
          <p:nvPr/>
        </p:nvSpPr>
        <p:spPr>
          <a:xfrm>
            <a:off x="5234026" y="4041648"/>
            <a:ext cx="1792224" cy="310896"/>
          </a:xfrm>
          <a:prstGeom prst="rect">
            <a:avLst/>
          </a:prstGeom>
          <a:noFill/>
          <a:ln/>
        </p:spPr>
        <p:txBody>
          <a:bodyPr wrap="square" lIns="0" tIns="0" rIns="0" bIns="0" rtlCol="0" anchor="ctr"/>
          <a:lstStyle/>
          <a:p>
            <a:pPr indent="0" marL="0">
              <a:buNone/>
            </a:pPr>
            <a:r>
              <a:rPr lang="en-US" sz="1000" b="1" dirty="0">
                <a:solidFill>
                  <a:srgbClr val="D97706"/>
                </a:solidFill>
                <a:latin typeface="Courier New" pitchFamily="34" charset="0"/>
                <a:ea typeface="Courier New" pitchFamily="34" charset="-122"/>
                <a:cs typeface="Courier New" pitchFamily="34" charset="-120"/>
              </a:rPr>
              <a:t>ΔT = 0  →  full = 4</a:t>
            </a:r>
            <a:endParaRPr lang="en-US" sz="1000" dirty="0"/>
          </a:p>
        </p:txBody>
      </p:sp>
      <p:sp>
        <p:nvSpPr>
          <p:cNvPr id="30" name="Shape 28"/>
          <p:cNvSpPr/>
          <p:nvPr/>
        </p:nvSpPr>
        <p:spPr>
          <a:xfrm>
            <a:off x="7380122" y="1572768"/>
            <a:ext cx="2011680" cy="3401568"/>
          </a:xfrm>
          <a:prstGeom prst="roundRect">
            <a:avLst>
              <a:gd name="adj" fmla="val 3636"/>
            </a:avLst>
          </a:prstGeom>
          <a:solidFill>
            <a:srgbClr val="FFFFFF"/>
          </a:solidFill>
          <a:ln w="12700">
            <a:solidFill>
              <a:srgbClr val="E5E7EB"/>
            </a:solidFill>
            <a:prstDash val="solid"/>
          </a:ln>
        </p:spPr>
      </p:sp>
      <p:sp>
        <p:nvSpPr>
          <p:cNvPr id="31" name="Text 29"/>
          <p:cNvSpPr/>
          <p:nvPr/>
        </p:nvSpPr>
        <p:spPr>
          <a:xfrm>
            <a:off x="7526426" y="1719072"/>
            <a:ext cx="1737360" cy="320040"/>
          </a:xfrm>
          <a:prstGeom prst="rect">
            <a:avLst/>
          </a:prstGeom>
          <a:noFill/>
          <a:ln/>
        </p:spPr>
        <p:txBody>
          <a:bodyPr wrap="square" lIns="0" tIns="0" rIns="0" bIns="0" rtlCol="0" anchor="ctr"/>
          <a:lstStyle/>
          <a:p>
            <a:pPr indent="0" marL="0">
              <a:buNone/>
            </a:pPr>
            <a:r>
              <a:rPr lang="en-US" sz="1300" b="1" dirty="0">
                <a:solidFill>
                  <a:srgbClr val="D97706"/>
                </a:solidFill>
                <a:latin typeface="Cambria" pitchFamily="34" charset="0"/>
                <a:ea typeface="Cambria" pitchFamily="34" charset="-122"/>
                <a:cs typeface="Cambria" pitchFamily="34" charset="-120"/>
              </a:rPr>
              <a:t>PLAN</a:t>
            </a:r>
            <a:endParaRPr lang="en-US" sz="1300" dirty="0"/>
          </a:p>
        </p:txBody>
      </p:sp>
      <p:sp>
        <p:nvSpPr>
          <p:cNvPr id="32" name="Text 30"/>
          <p:cNvSpPr/>
          <p:nvPr/>
        </p:nvSpPr>
        <p:spPr>
          <a:xfrm>
            <a:off x="7526426" y="2048256"/>
            <a:ext cx="1737360" cy="256032"/>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Fast Downward</a:t>
            </a:r>
            <a:endParaRPr lang="en-US" sz="950" dirty="0"/>
          </a:p>
        </p:txBody>
      </p:sp>
      <p:sp>
        <p:nvSpPr>
          <p:cNvPr id="33" name="Shape 31"/>
          <p:cNvSpPr/>
          <p:nvPr/>
        </p:nvSpPr>
        <p:spPr>
          <a:xfrm>
            <a:off x="7526426" y="2322576"/>
            <a:ext cx="1719072" cy="0"/>
          </a:xfrm>
          <a:prstGeom prst="line">
            <a:avLst/>
          </a:prstGeom>
          <a:noFill/>
          <a:ln w="9525">
            <a:solidFill>
              <a:srgbClr val="E5E7EB"/>
            </a:solidFill>
            <a:prstDash val="solid"/>
          </a:ln>
        </p:spPr>
      </p:sp>
      <p:sp>
        <p:nvSpPr>
          <p:cNvPr id="34" name="Text 32"/>
          <p:cNvSpPr/>
          <p:nvPr/>
        </p:nvSpPr>
        <p:spPr>
          <a:xfrm>
            <a:off x="7526426" y="2542032"/>
            <a:ext cx="1792224" cy="310896"/>
          </a:xfrm>
          <a:prstGeom prst="rect">
            <a:avLst/>
          </a:prstGeom>
          <a:noFill/>
          <a:ln/>
        </p:spPr>
        <p:txBody>
          <a:bodyPr wrap="square" lIns="0" tIns="0" rIns="0" bIns="0" rtlCol="0" anchor="ctr"/>
          <a:lstStyle/>
          <a:p>
            <a:pPr indent="0" marL="0">
              <a:buNone/>
            </a:pPr>
            <a:r>
              <a:rPr lang="en-US" sz="1000" dirty="0">
                <a:solidFill>
                  <a:srgbClr val="111827"/>
                </a:solidFill>
                <a:latin typeface="Courier New" pitchFamily="34" charset="0"/>
                <a:ea typeface="Courier New" pitchFamily="34" charset="-122"/>
                <a:cs typeface="Courier New" pitchFamily="34" charset="-120"/>
              </a:rPr>
              <a:t>A* + LM-Cut</a:t>
            </a:r>
            <a:endParaRPr lang="en-US" sz="1000" dirty="0"/>
          </a:p>
        </p:txBody>
      </p:sp>
      <p:sp>
        <p:nvSpPr>
          <p:cNvPr id="35" name="Text 33"/>
          <p:cNvSpPr/>
          <p:nvPr/>
        </p:nvSpPr>
        <p:spPr>
          <a:xfrm>
            <a:off x="7526426" y="2999232"/>
            <a:ext cx="1792224" cy="310896"/>
          </a:xfrm>
          <a:prstGeom prst="rect">
            <a:avLst/>
          </a:prstGeom>
          <a:noFill/>
          <a:ln/>
        </p:spPr>
        <p:txBody>
          <a:bodyPr wrap="square" lIns="0" tIns="0" rIns="0" bIns="0" rtlCol="0" anchor="ctr"/>
          <a:lstStyle/>
          <a:p>
            <a:pPr indent="0" marL="0">
              <a:buNone/>
            </a:pPr>
            <a:r>
              <a:rPr lang="en-US" sz="1000" dirty="0">
                <a:solidFill>
                  <a:srgbClr val="6B7280"/>
                </a:solidFill>
                <a:latin typeface="Courier New" pitchFamily="34" charset="0"/>
                <a:ea typeface="Courier New" pitchFamily="34" charset="-122"/>
                <a:cs typeface="Courier New" pitchFamily="34" charset="-120"/>
              </a:rPr>
              <a:t>full 4  vs  pulse×2 6</a:t>
            </a:r>
            <a:endParaRPr lang="en-US" sz="1000" dirty="0"/>
          </a:p>
        </p:txBody>
      </p:sp>
      <p:sp>
        <p:nvSpPr>
          <p:cNvPr id="36" name="Text 34"/>
          <p:cNvSpPr/>
          <p:nvPr/>
        </p:nvSpPr>
        <p:spPr>
          <a:xfrm>
            <a:off x="7526426" y="3456432"/>
            <a:ext cx="1792224" cy="310896"/>
          </a:xfrm>
          <a:prstGeom prst="rect">
            <a:avLst/>
          </a:prstGeom>
          <a:noFill/>
          <a:ln/>
        </p:spPr>
        <p:txBody>
          <a:bodyPr wrap="square" lIns="0" tIns="0" rIns="0" bIns="0" rtlCol="0" anchor="ctr"/>
          <a:lstStyle/>
          <a:p>
            <a:pPr indent="0" marL="0">
              <a:buNone/>
            </a:pPr>
            <a:r>
              <a:rPr lang="en-US" sz="1000" b="1" dirty="0">
                <a:solidFill>
                  <a:srgbClr val="D97706"/>
                </a:solidFill>
                <a:latin typeface="Courier New" pitchFamily="34" charset="0"/>
                <a:ea typeface="Courier New" pitchFamily="34" charset="-122"/>
                <a:cs typeface="Courier New" pitchFamily="34" charset="-120"/>
              </a:rPr>
              <a:t>→ [full_ventilate]</a:t>
            </a:r>
            <a:endParaRPr lang="en-US" sz="1000" dirty="0"/>
          </a:p>
        </p:txBody>
      </p:sp>
      <p:sp>
        <p:nvSpPr>
          <p:cNvPr id="37" name="Text 35"/>
          <p:cNvSpPr/>
          <p:nvPr/>
        </p:nvSpPr>
        <p:spPr>
          <a:xfrm>
            <a:off x="7526426" y="3931920"/>
            <a:ext cx="1792224" cy="31089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cost-optimal, ~130 ms</a:t>
            </a:r>
            <a:endParaRPr lang="en-US" sz="1050" dirty="0"/>
          </a:p>
        </p:txBody>
      </p:sp>
      <p:sp>
        <p:nvSpPr>
          <p:cNvPr id="38" name="Shape 36"/>
          <p:cNvSpPr/>
          <p:nvPr/>
        </p:nvSpPr>
        <p:spPr>
          <a:xfrm>
            <a:off x="9672523" y="1572768"/>
            <a:ext cx="2011680" cy="3401568"/>
          </a:xfrm>
          <a:prstGeom prst="roundRect">
            <a:avLst>
              <a:gd name="adj" fmla="val 3636"/>
            </a:avLst>
          </a:prstGeom>
          <a:solidFill>
            <a:srgbClr val="FFFFFF"/>
          </a:solidFill>
          <a:ln w="12700">
            <a:solidFill>
              <a:srgbClr val="E5E7EB"/>
            </a:solidFill>
            <a:prstDash val="solid"/>
          </a:ln>
        </p:spPr>
      </p:sp>
      <p:sp>
        <p:nvSpPr>
          <p:cNvPr id="39" name="Text 37"/>
          <p:cNvSpPr/>
          <p:nvPr/>
        </p:nvSpPr>
        <p:spPr>
          <a:xfrm>
            <a:off x="9818827" y="1719072"/>
            <a:ext cx="1737360" cy="320040"/>
          </a:xfrm>
          <a:prstGeom prst="rect">
            <a:avLst/>
          </a:prstGeom>
          <a:noFill/>
          <a:ln/>
        </p:spPr>
        <p:txBody>
          <a:bodyPr wrap="square" lIns="0" tIns="0" rIns="0" bIns="0" rtlCol="0" anchor="ctr"/>
          <a:lstStyle/>
          <a:p>
            <a:pPr indent="0" marL="0">
              <a:buNone/>
            </a:pPr>
            <a:r>
              <a:rPr lang="en-US" sz="1300" b="1" dirty="0">
                <a:solidFill>
                  <a:srgbClr val="1D4ED8"/>
                </a:solidFill>
                <a:latin typeface="Cambria" pitchFamily="34" charset="0"/>
                <a:ea typeface="Cambria" pitchFamily="34" charset="-122"/>
                <a:cs typeface="Cambria" pitchFamily="34" charset="-120"/>
              </a:rPr>
              <a:t>ACT</a:t>
            </a:r>
            <a:endParaRPr lang="en-US" sz="1300" dirty="0"/>
          </a:p>
        </p:txBody>
      </p:sp>
      <p:sp>
        <p:nvSpPr>
          <p:cNvPr id="40" name="Text 38"/>
          <p:cNvSpPr/>
          <p:nvPr/>
        </p:nvSpPr>
        <p:spPr>
          <a:xfrm>
            <a:off x="9818827" y="2048256"/>
            <a:ext cx="1737360" cy="256032"/>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plan → actuators</a:t>
            </a:r>
            <a:endParaRPr lang="en-US" sz="950" dirty="0"/>
          </a:p>
        </p:txBody>
      </p:sp>
      <p:sp>
        <p:nvSpPr>
          <p:cNvPr id="41" name="Shape 39"/>
          <p:cNvSpPr/>
          <p:nvPr/>
        </p:nvSpPr>
        <p:spPr>
          <a:xfrm>
            <a:off x="9818827" y="2322576"/>
            <a:ext cx="1719072" cy="0"/>
          </a:xfrm>
          <a:prstGeom prst="line">
            <a:avLst/>
          </a:prstGeom>
          <a:noFill/>
          <a:ln w="9525">
            <a:solidFill>
              <a:srgbClr val="E5E7EB"/>
            </a:solidFill>
            <a:prstDash val="solid"/>
          </a:ln>
        </p:spPr>
      </p:sp>
      <p:sp>
        <p:nvSpPr>
          <p:cNvPr id="42" name="Text 40"/>
          <p:cNvSpPr/>
          <p:nvPr/>
        </p:nvSpPr>
        <p:spPr>
          <a:xfrm>
            <a:off x="9818827" y="2542032"/>
            <a:ext cx="1792224" cy="310896"/>
          </a:xfrm>
          <a:prstGeom prst="rect">
            <a:avLst/>
          </a:prstGeom>
          <a:noFill/>
          <a:ln/>
        </p:spPr>
        <p:txBody>
          <a:bodyPr wrap="square" lIns="0" tIns="0" rIns="0" bIns="0" rtlCol="0" anchor="ctr"/>
          <a:lstStyle/>
          <a:p>
            <a:pPr indent="0" marL="0">
              <a:buNone/>
            </a:pPr>
            <a:r>
              <a:rPr lang="en-US" sz="1000" dirty="0">
                <a:solidFill>
                  <a:srgbClr val="111827"/>
                </a:solidFill>
                <a:latin typeface="Courier New" pitchFamily="34" charset="0"/>
                <a:ea typeface="Courier New" pitchFamily="34" charset="-122"/>
                <a:cs typeface="Courier New" pitchFamily="34" charset="-120"/>
              </a:rPr>
              <a:t>[ full_ventilate ]</a:t>
            </a:r>
            <a:endParaRPr lang="en-US" sz="1000" dirty="0"/>
          </a:p>
        </p:txBody>
      </p:sp>
      <p:sp>
        <p:nvSpPr>
          <p:cNvPr id="43" name="Text 41"/>
          <p:cNvSpPr/>
          <p:nvPr/>
        </p:nvSpPr>
        <p:spPr>
          <a:xfrm>
            <a:off x="9818827" y="2999232"/>
            <a:ext cx="1792224" cy="310896"/>
          </a:xfrm>
          <a:prstGeom prst="rect">
            <a:avLst/>
          </a:prstGeom>
          <a:noFill/>
          <a:ln/>
        </p:spPr>
        <p:txBody>
          <a:bodyPr wrap="square" lIns="0" tIns="0" rIns="0" bIns="0" rtlCol="0" anchor="ctr"/>
          <a:lstStyle/>
          <a:p>
            <a:pPr indent="0" marL="0">
              <a:buNone/>
            </a:pPr>
            <a:r>
              <a:rPr lang="en-US" sz="1050" dirty="0">
                <a:solidFill>
                  <a:srgbClr val="111827"/>
                </a:solidFill>
                <a:latin typeface="Calibri" pitchFamily="34" charset="0"/>
                <a:ea typeface="Calibri" pitchFamily="34" charset="-122"/>
                <a:cs typeface="Calibri" pitchFamily="34" charset="-120"/>
              </a:rPr>
              <a:t>→ window opens</a:t>
            </a:r>
            <a:endParaRPr lang="en-US" sz="1050" dirty="0"/>
          </a:p>
        </p:txBody>
      </p:sp>
      <p:sp>
        <p:nvSpPr>
          <p:cNvPr id="44" name="Text 42"/>
          <p:cNvSpPr/>
          <p:nvPr/>
        </p:nvSpPr>
        <p:spPr>
          <a:xfrm>
            <a:off x="9818827" y="3310128"/>
            <a:ext cx="1792224" cy="310896"/>
          </a:xfrm>
          <a:prstGeom prst="rect">
            <a:avLst/>
          </a:prstGeom>
          <a:noFill/>
          <a:ln/>
        </p:spPr>
        <p:txBody>
          <a:bodyPr wrap="square" lIns="0" tIns="0" rIns="0" bIns="0" rtlCol="0" anchor="ctr"/>
          <a:lstStyle/>
          <a:p>
            <a:pPr indent="0" marL="0">
              <a:buNone/>
            </a:pPr>
            <a:r>
              <a:rPr lang="en-US" sz="1050" dirty="0">
                <a:solidFill>
                  <a:srgbClr val="111827"/>
                </a:solidFill>
                <a:latin typeface="Calibri" pitchFamily="34" charset="0"/>
                <a:ea typeface="Calibri" pitchFamily="34" charset="-122"/>
                <a:cs typeface="Calibri" pitchFamily="34" charset="-120"/>
              </a:rPr>
              <a:t>→ library/actions</a:t>
            </a:r>
            <a:endParaRPr lang="en-US" sz="1050" dirty="0"/>
          </a:p>
        </p:txBody>
      </p:sp>
      <p:sp>
        <p:nvSpPr>
          <p:cNvPr id="45" name="Text 43"/>
          <p:cNvSpPr/>
          <p:nvPr/>
        </p:nvSpPr>
        <p:spPr>
          <a:xfrm>
            <a:off x="9818827" y="3749040"/>
            <a:ext cx="1792224" cy="31089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CO₂ starts to fall,</a:t>
            </a:r>
            <a:endParaRPr lang="en-US" sz="1050" dirty="0"/>
          </a:p>
        </p:txBody>
      </p:sp>
      <p:sp>
        <p:nvSpPr>
          <p:cNvPr id="46" name="Text 44"/>
          <p:cNvSpPr/>
          <p:nvPr/>
        </p:nvSpPr>
        <p:spPr>
          <a:xfrm>
            <a:off x="9818827" y="4059936"/>
            <a:ext cx="1792224" cy="310896"/>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new world state</a:t>
            </a:r>
            <a:endParaRPr lang="en-US" sz="1050" dirty="0"/>
          </a:p>
        </p:txBody>
      </p:sp>
      <p:sp>
        <p:nvSpPr>
          <p:cNvPr id="47" name="Text 45"/>
          <p:cNvSpPr/>
          <p:nvPr/>
        </p:nvSpPr>
        <p:spPr>
          <a:xfrm>
            <a:off x="2496312" y="3017520"/>
            <a:ext cx="310896" cy="365760"/>
          </a:xfrm>
          <a:prstGeom prst="rect">
            <a:avLst/>
          </a:prstGeom>
          <a:noFill/>
          <a:ln/>
        </p:spPr>
        <p:txBody>
          <a:bodyPr wrap="square" lIns="0" tIns="0" rIns="0" bIns="0" rtlCol="0" anchor="ctr"/>
          <a:lstStyle/>
          <a:p>
            <a:pPr algn="ctr" indent="0" marL="0">
              <a:buNone/>
            </a:pPr>
            <a:r>
              <a:rPr lang="en-US" sz="1700" dirty="0">
                <a:solidFill>
                  <a:srgbClr val="6B7280"/>
                </a:solidFill>
                <a:latin typeface="Calibri" pitchFamily="34" charset="0"/>
                <a:ea typeface="Calibri" pitchFamily="34" charset="-122"/>
                <a:cs typeface="Calibri" pitchFamily="34" charset="-120"/>
              </a:rPr>
              <a:t>→</a:t>
            </a:r>
            <a:endParaRPr lang="en-US" sz="1700" dirty="0"/>
          </a:p>
        </p:txBody>
      </p:sp>
      <p:sp>
        <p:nvSpPr>
          <p:cNvPr id="48" name="Text 46"/>
          <p:cNvSpPr/>
          <p:nvPr/>
        </p:nvSpPr>
        <p:spPr>
          <a:xfrm>
            <a:off x="4791456" y="3017520"/>
            <a:ext cx="310896" cy="365760"/>
          </a:xfrm>
          <a:prstGeom prst="rect">
            <a:avLst/>
          </a:prstGeom>
          <a:noFill/>
          <a:ln/>
        </p:spPr>
        <p:txBody>
          <a:bodyPr wrap="square" lIns="0" tIns="0" rIns="0" bIns="0" rtlCol="0" anchor="ctr"/>
          <a:lstStyle/>
          <a:p>
            <a:pPr algn="ctr" indent="0" marL="0">
              <a:buNone/>
            </a:pPr>
            <a:r>
              <a:rPr lang="en-US" sz="1700" dirty="0">
                <a:solidFill>
                  <a:srgbClr val="6B7280"/>
                </a:solidFill>
                <a:latin typeface="Calibri" pitchFamily="34" charset="0"/>
                <a:ea typeface="Calibri" pitchFamily="34" charset="-122"/>
                <a:cs typeface="Calibri" pitchFamily="34" charset="-120"/>
              </a:rPr>
              <a:t>→</a:t>
            </a:r>
            <a:endParaRPr lang="en-US" sz="1700" dirty="0"/>
          </a:p>
        </p:txBody>
      </p:sp>
      <p:sp>
        <p:nvSpPr>
          <p:cNvPr id="49" name="Text 47"/>
          <p:cNvSpPr/>
          <p:nvPr/>
        </p:nvSpPr>
        <p:spPr>
          <a:xfrm>
            <a:off x="7086600" y="3017520"/>
            <a:ext cx="310896" cy="365760"/>
          </a:xfrm>
          <a:prstGeom prst="rect">
            <a:avLst/>
          </a:prstGeom>
          <a:noFill/>
          <a:ln/>
        </p:spPr>
        <p:txBody>
          <a:bodyPr wrap="square" lIns="0" tIns="0" rIns="0" bIns="0" rtlCol="0" anchor="ctr"/>
          <a:lstStyle/>
          <a:p>
            <a:pPr algn="ctr" indent="0" marL="0">
              <a:buNone/>
            </a:pPr>
            <a:r>
              <a:rPr lang="en-US" sz="1700" dirty="0">
                <a:solidFill>
                  <a:srgbClr val="6B7280"/>
                </a:solidFill>
                <a:latin typeface="Calibri" pitchFamily="34" charset="0"/>
                <a:ea typeface="Calibri" pitchFamily="34" charset="-122"/>
                <a:cs typeface="Calibri" pitchFamily="34" charset="-120"/>
              </a:rPr>
              <a:t>→</a:t>
            </a:r>
            <a:endParaRPr lang="en-US" sz="1700" dirty="0"/>
          </a:p>
        </p:txBody>
      </p:sp>
      <p:sp>
        <p:nvSpPr>
          <p:cNvPr id="50" name="Text 48"/>
          <p:cNvSpPr/>
          <p:nvPr/>
        </p:nvSpPr>
        <p:spPr>
          <a:xfrm>
            <a:off x="9372600" y="3017520"/>
            <a:ext cx="310896" cy="365760"/>
          </a:xfrm>
          <a:prstGeom prst="rect">
            <a:avLst/>
          </a:prstGeom>
          <a:noFill/>
          <a:ln/>
        </p:spPr>
        <p:txBody>
          <a:bodyPr wrap="square" lIns="0" tIns="0" rIns="0" bIns="0" rtlCol="0" anchor="ctr"/>
          <a:lstStyle/>
          <a:p>
            <a:pPr algn="ctr" indent="0" marL="0">
              <a:buNone/>
            </a:pPr>
            <a:r>
              <a:rPr lang="en-US" sz="1700" dirty="0">
                <a:solidFill>
                  <a:srgbClr val="6B7280"/>
                </a:solidFill>
                <a:latin typeface="Calibri" pitchFamily="34" charset="0"/>
                <a:ea typeface="Calibri" pitchFamily="34" charset="-122"/>
                <a:cs typeface="Calibri" pitchFamily="34" charset="-120"/>
              </a:rPr>
              <a:t>→</a:t>
            </a:r>
            <a:endParaRPr lang="en-US" sz="1700" dirty="0"/>
          </a:p>
        </p:txBody>
      </p:sp>
      <p:sp>
        <p:nvSpPr>
          <p:cNvPr id="51" name="Shape 49"/>
          <p:cNvSpPr/>
          <p:nvPr/>
        </p:nvSpPr>
        <p:spPr>
          <a:xfrm>
            <a:off x="502920" y="5230368"/>
            <a:ext cx="11183112" cy="548640"/>
          </a:xfrm>
          <a:prstGeom prst="roundRect">
            <a:avLst>
              <a:gd name="adj" fmla="val 13333"/>
            </a:avLst>
          </a:prstGeom>
          <a:solidFill>
            <a:srgbClr val="FBEFD9"/>
          </a:solidFill>
          <a:ln/>
        </p:spPr>
      </p:sp>
      <p:sp>
        <p:nvSpPr>
          <p:cNvPr id="52" name="Text 50"/>
          <p:cNvSpPr/>
          <p:nvPr/>
        </p:nvSpPr>
        <p:spPr>
          <a:xfrm>
            <a:off x="822960" y="5230368"/>
            <a:ext cx="10607040" cy="548640"/>
          </a:xfrm>
          <a:prstGeom prst="rect">
            <a:avLst/>
          </a:prstGeom>
          <a:noFill/>
          <a:ln/>
        </p:spPr>
        <p:txBody>
          <a:bodyPr wrap="square" lIns="0" tIns="0" rIns="0" bIns="0" rtlCol="0" anchor="ctr"/>
          <a:lstStyle/>
          <a:p>
            <a:pPr algn="ctr" indent="0" marL="0">
              <a:buNone/>
            </a:pPr>
            <a:r>
              <a:rPr lang="en-US" sz="1250" b="1" dirty="0">
                <a:solidFill>
                  <a:srgbClr val="D97706"/>
                </a:solidFill>
                <a:latin typeface="Calibri" pitchFamily="34" charset="0"/>
                <a:ea typeface="Calibri" pitchFamily="34" charset="-122"/>
                <a:cs typeface="Calibri" pitchFamily="34" charset="-120"/>
              </a:rPr>
              <a:t>↻  closed loop   </a:t>
            </a:r>
            <a:pPr algn="ctr" indent="0" marL="0">
              <a:buNone/>
            </a:pPr>
            <a:r>
              <a:rPr lang="en-US" sz="1250" dirty="0">
                <a:solidFill>
                  <a:srgbClr val="111827"/>
                </a:solidFill>
                <a:latin typeface="Calibri" pitchFamily="34" charset="0"/>
                <a:ea typeface="Calibri" pitchFamily="34" charset="-122"/>
                <a:cs typeface="Calibri" pitchFamily="34" charset="-120"/>
              </a:rPr>
              <a:t>every change in the discretised state regenerates the PDDL problem and triggers a re-plan; the room self-corrects in under one second</a:t>
            </a:r>
            <a:endParaRPr lang="en-US" sz="1250" dirty="0"/>
          </a:p>
        </p:txBody>
      </p:sp>
      <p:sp>
        <p:nvSpPr>
          <p:cNvPr id="53" name="Text 51"/>
          <p:cNvSpPr/>
          <p:nvPr/>
        </p:nvSpPr>
        <p:spPr>
          <a:xfrm>
            <a:off x="502920" y="5943600"/>
            <a:ext cx="11183112" cy="365760"/>
          </a:xfrm>
          <a:prstGeom prst="rect">
            <a:avLst/>
          </a:prstGeom>
          <a:noFill/>
          <a:ln/>
        </p:spPr>
        <p:txBody>
          <a:bodyPr wrap="square" lIns="0" tIns="0" rIns="0" bIns="0" rtlCol="0" anchor="ctr"/>
          <a:lstStyle/>
          <a:p>
            <a:pPr algn="ctr" indent="0" marL="0">
              <a:buNone/>
            </a:pPr>
            <a:r>
              <a:rPr lang="en-US" sz="1100" i="1" dirty="0">
                <a:solidFill>
                  <a:srgbClr val="6B7280"/>
                </a:solidFill>
                <a:latin typeface="Calibri" pitchFamily="34" charset="0"/>
                <a:ea typeface="Calibri" pitchFamily="34" charset="-122"/>
                <a:cs typeface="Calibri" pitchFamily="34" charset="-120"/>
              </a:rPr>
              <a:t>This is the summer case from the opening scene: 33 °C outside, so one full airing wins. In winter the same state yields two short pulses (slide 9).</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19456"/>
            <a:ext cx="1088136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SYSTEM OVERVIEW</a:t>
            </a:r>
            <a:endParaRPr lang="en-US" sz="1100" dirty="0"/>
          </a:p>
        </p:txBody>
      </p:sp>
      <p:sp>
        <p:nvSpPr>
          <p:cNvPr id="3" name="Text 1"/>
          <p:cNvSpPr/>
          <p:nvPr/>
        </p:nvSpPr>
        <p:spPr>
          <a:xfrm>
            <a:off x="640080" y="457200"/>
            <a:ext cx="10881360" cy="640080"/>
          </a:xfrm>
          <a:prstGeom prst="rect">
            <a:avLst/>
          </a:prstGeom>
          <a:noFill/>
          <a:ln/>
        </p:spPr>
        <p:txBody>
          <a:bodyPr wrap="square" lIns="0" tIns="0" rIns="0" bIns="0" rtlCol="0" anchor="ctr"/>
          <a:lstStyle/>
          <a:p>
            <a:pPr indent="0" marL="0">
              <a:buNone/>
            </a:pPr>
            <a:r>
              <a:rPr lang="en-US" sz="3000" b="1" dirty="0">
                <a:solidFill>
                  <a:srgbClr val="111827"/>
                </a:solidFill>
                <a:latin typeface="Cambria" pitchFamily="34" charset="0"/>
                <a:ea typeface="Cambria" pitchFamily="34" charset="-122"/>
                <a:cs typeface="Cambria" pitchFamily="34" charset="-120"/>
              </a:rPr>
              <a:t>Sensors, actuators and functionality</a:t>
            </a:r>
            <a:endParaRPr lang="en-US" sz="3000" dirty="0"/>
          </a:p>
        </p:txBody>
      </p:sp>
      <p:sp>
        <p:nvSpPr>
          <p:cNvPr id="4" name="Text 2"/>
          <p:cNvSpPr/>
          <p:nvPr/>
        </p:nvSpPr>
        <p:spPr>
          <a:xfrm>
            <a:off x="640080" y="1417320"/>
            <a:ext cx="3566160" cy="365760"/>
          </a:xfrm>
          <a:prstGeom prst="rect">
            <a:avLst/>
          </a:prstGeom>
          <a:noFill/>
          <a:ln/>
        </p:spPr>
        <p:txBody>
          <a:bodyPr wrap="square" lIns="0" tIns="0" rIns="0" bIns="0" rtlCol="0" anchor="ctr"/>
          <a:lstStyle/>
          <a:p>
            <a:pPr indent="0" marL="0">
              <a:buNone/>
            </a:pPr>
            <a:r>
              <a:rPr lang="en-US" sz="1700" b="1" dirty="0">
                <a:solidFill>
                  <a:srgbClr val="111827"/>
                </a:solidFill>
                <a:latin typeface="Cambria" pitchFamily="34" charset="0"/>
                <a:ea typeface="Cambria" pitchFamily="34" charset="-122"/>
                <a:cs typeface="Cambria" pitchFamily="34" charset="-120"/>
              </a:rPr>
              <a:t>Sensors  ·  5</a:t>
            </a:r>
            <a:endParaRPr lang="en-US" sz="1700" dirty="0"/>
          </a:p>
        </p:txBody>
      </p:sp>
      <p:sp>
        <p:nvSpPr>
          <p:cNvPr id="5" name="Text 3"/>
          <p:cNvSpPr/>
          <p:nvPr/>
        </p:nvSpPr>
        <p:spPr>
          <a:xfrm>
            <a:off x="4572000" y="1417320"/>
            <a:ext cx="3566160" cy="365760"/>
          </a:xfrm>
          <a:prstGeom prst="rect">
            <a:avLst/>
          </a:prstGeom>
          <a:noFill/>
          <a:ln/>
        </p:spPr>
        <p:txBody>
          <a:bodyPr wrap="square" lIns="0" tIns="0" rIns="0" bIns="0" rtlCol="0" anchor="ctr"/>
          <a:lstStyle/>
          <a:p>
            <a:pPr indent="0" marL="0">
              <a:buNone/>
            </a:pPr>
            <a:r>
              <a:rPr lang="en-US" sz="1700" b="1" dirty="0">
                <a:solidFill>
                  <a:srgbClr val="111827"/>
                </a:solidFill>
                <a:latin typeface="Cambria" pitchFamily="34" charset="0"/>
                <a:ea typeface="Cambria" pitchFamily="34" charset="-122"/>
                <a:cs typeface="Cambria" pitchFamily="34" charset="-120"/>
              </a:rPr>
              <a:t>Actuators  ·  6</a:t>
            </a:r>
            <a:endParaRPr lang="en-US" sz="1700" dirty="0"/>
          </a:p>
        </p:txBody>
      </p:sp>
      <p:sp>
        <p:nvSpPr>
          <p:cNvPr id="6" name="Text 4"/>
          <p:cNvSpPr/>
          <p:nvPr/>
        </p:nvSpPr>
        <p:spPr>
          <a:xfrm>
            <a:off x="8503920" y="1417320"/>
            <a:ext cx="3566160" cy="365760"/>
          </a:xfrm>
          <a:prstGeom prst="rect">
            <a:avLst/>
          </a:prstGeom>
          <a:noFill/>
          <a:ln/>
        </p:spPr>
        <p:txBody>
          <a:bodyPr wrap="square" lIns="0" tIns="0" rIns="0" bIns="0" rtlCol="0" anchor="ctr"/>
          <a:lstStyle/>
          <a:p>
            <a:pPr indent="0" marL="0">
              <a:buNone/>
            </a:pPr>
            <a:r>
              <a:rPr lang="en-US" sz="1700" b="1" dirty="0">
                <a:solidFill>
                  <a:srgbClr val="111827"/>
                </a:solidFill>
                <a:latin typeface="Cambria" pitchFamily="34" charset="0"/>
                <a:ea typeface="Cambria" pitchFamily="34" charset="-122"/>
                <a:cs typeface="Cambria" pitchFamily="34" charset="-120"/>
              </a:rPr>
              <a:t>Functionality</a:t>
            </a:r>
            <a:endParaRPr lang="en-US" sz="1700" dirty="0"/>
          </a:p>
        </p:txBody>
      </p:sp>
      <p:sp>
        <p:nvSpPr>
          <p:cNvPr id="7" name="Shape 5"/>
          <p:cNvSpPr/>
          <p:nvPr/>
        </p:nvSpPr>
        <p:spPr>
          <a:xfrm>
            <a:off x="640080" y="2532888"/>
            <a:ext cx="3291840" cy="0"/>
          </a:xfrm>
          <a:prstGeom prst="line">
            <a:avLst/>
          </a:prstGeom>
          <a:noFill/>
          <a:ln w="9525">
            <a:solidFill>
              <a:srgbClr val="E5E7EB"/>
            </a:solidFill>
            <a:prstDash val="solid"/>
          </a:ln>
        </p:spPr>
      </p:sp>
      <p:sp>
        <p:nvSpPr>
          <p:cNvPr id="8" name="Text 6"/>
          <p:cNvSpPr/>
          <p:nvPr/>
        </p:nvSpPr>
        <p:spPr>
          <a:xfrm>
            <a:off x="640080" y="1984248"/>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Motion / occupancy · 2 Hz</a:t>
            </a:r>
            <a:endParaRPr lang="en-US" sz="1300" dirty="0"/>
          </a:p>
        </p:txBody>
      </p:sp>
      <p:sp>
        <p:nvSpPr>
          <p:cNvPr id="9" name="Text 7"/>
          <p:cNvSpPr/>
          <p:nvPr/>
        </p:nvSpPr>
        <p:spPr>
          <a:xfrm>
            <a:off x="640080" y="2295144"/>
            <a:ext cx="3291840" cy="228600"/>
          </a:xfrm>
          <a:prstGeom prst="rect">
            <a:avLst/>
          </a:prstGeom>
          <a:noFill/>
          <a:ln/>
        </p:spPr>
        <p:txBody>
          <a:bodyPr wrap="square" lIns="0" tIns="0" rIns="0" bIns="0" rtlCol="0" anchor="ctr"/>
          <a:lstStyle/>
          <a:p>
            <a:pPr indent="0" marL="0">
              <a:buNone/>
            </a:pPr>
            <a:r>
              <a:rPr lang="en-US" sz="950" b="1" spc="150" kern="0" dirty="0">
                <a:solidFill>
                  <a:srgbClr val="15803D"/>
                </a:solidFill>
                <a:latin typeface="Calibri" pitchFamily="34" charset="0"/>
                <a:ea typeface="Calibri" pitchFamily="34" charset="-122"/>
                <a:cs typeface="Calibri" pitchFamily="34" charset="-120"/>
              </a:rPr>
              <a:t>physical</a:t>
            </a:r>
            <a:endParaRPr lang="en-US" sz="950" dirty="0"/>
          </a:p>
        </p:txBody>
      </p:sp>
      <p:sp>
        <p:nvSpPr>
          <p:cNvPr id="10" name="Shape 8"/>
          <p:cNvSpPr/>
          <p:nvPr/>
        </p:nvSpPr>
        <p:spPr>
          <a:xfrm>
            <a:off x="640080" y="3246120"/>
            <a:ext cx="3291840" cy="0"/>
          </a:xfrm>
          <a:prstGeom prst="line">
            <a:avLst/>
          </a:prstGeom>
          <a:noFill/>
          <a:ln w="9525">
            <a:solidFill>
              <a:srgbClr val="E5E7EB"/>
            </a:solidFill>
            <a:prstDash val="solid"/>
          </a:ln>
        </p:spPr>
      </p:sp>
      <p:sp>
        <p:nvSpPr>
          <p:cNvPr id="11" name="Text 9"/>
          <p:cNvSpPr/>
          <p:nvPr/>
        </p:nvSpPr>
        <p:spPr>
          <a:xfrm>
            <a:off x="640080" y="2697480"/>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Illuminance · 2 Hz</a:t>
            </a:r>
            <a:endParaRPr lang="en-US" sz="1300" dirty="0"/>
          </a:p>
        </p:txBody>
      </p:sp>
      <p:sp>
        <p:nvSpPr>
          <p:cNvPr id="12" name="Text 10"/>
          <p:cNvSpPr/>
          <p:nvPr/>
        </p:nvSpPr>
        <p:spPr>
          <a:xfrm>
            <a:off x="640080" y="3008376"/>
            <a:ext cx="3291840" cy="228600"/>
          </a:xfrm>
          <a:prstGeom prst="rect">
            <a:avLst/>
          </a:prstGeom>
          <a:noFill/>
          <a:ln/>
        </p:spPr>
        <p:txBody>
          <a:bodyPr wrap="square" lIns="0" tIns="0" rIns="0" bIns="0" rtlCol="0" anchor="ctr"/>
          <a:lstStyle/>
          <a:p>
            <a:pPr indent="0" marL="0">
              <a:buNone/>
            </a:pPr>
            <a:r>
              <a:rPr lang="en-US" sz="950" b="1" spc="150" kern="0" dirty="0">
                <a:solidFill>
                  <a:srgbClr val="15803D"/>
                </a:solidFill>
                <a:latin typeface="Calibri" pitchFamily="34" charset="0"/>
                <a:ea typeface="Calibri" pitchFamily="34" charset="-122"/>
                <a:cs typeface="Calibri" pitchFamily="34" charset="-120"/>
              </a:rPr>
              <a:t>physical</a:t>
            </a:r>
            <a:endParaRPr lang="en-US" sz="950" dirty="0"/>
          </a:p>
        </p:txBody>
      </p:sp>
      <p:sp>
        <p:nvSpPr>
          <p:cNvPr id="13" name="Shape 11"/>
          <p:cNvSpPr/>
          <p:nvPr/>
        </p:nvSpPr>
        <p:spPr>
          <a:xfrm>
            <a:off x="640080" y="3959352"/>
            <a:ext cx="3291840" cy="0"/>
          </a:xfrm>
          <a:prstGeom prst="line">
            <a:avLst/>
          </a:prstGeom>
          <a:noFill/>
          <a:ln w="9525">
            <a:solidFill>
              <a:srgbClr val="E5E7EB"/>
            </a:solidFill>
            <a:prstDash val="solid"/>
          </a:ln>
        </p:spPr>
      </p:sp>
      <p:sp>
        <p:nvSpPr>
          <p:cNvPr id="14" name="Text 12"/>
          <p:cNvSpPr/>
          <p:nvPr/>
        </p:nvSpPr>
        <p:spPr>
          <a:xfrm>
            <a:off x="640080" y="3410712"/>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CO₂ concentration proxy</a:t>
            </a:r>
            <a:endParaRPr lang="en-US" sz="1300" dirty="0"/>
          </a:p>
        </p:txBody>
      </p:sp>
      <p:sp>
        <p:nvSpPr>
          <p:cNvPr id="15" name="Text 13"/>
          <p:cNvSpPr/>
          <p:nvPr/>
        </p:nvSpPr>
        <p:spPr>
          <a:xfrm>
            <a:off x="640080" y="3721608"/>
            <a:ext cx="3291840" cy="228600"/>
          </a:xfrm>
          <a:prstGeom prst="rect">
            <a:avLst/>
          </a:prstGeom>
          <a:noFill/>
          <a:ln/>
        </p:spPr>
        <p:txBody>
          <a:bodyPr wrap="square" lIns="0" tIns="0" rIns="0" bIns="0" rtlCol="0" anchor="ctr"/>
          <a:lstStyle/>
          <a:p>
            <a:pPr indent="0" marL="0">
              <a:buNone/>
            </a:pPr>
            <a:r>
              <a:rPr lang="en-US" sz="950" b="1" spc="150" kern="0" dirty="0">
                <a:solidFill>
                  <a:srgbClr val="1D4ED8"/>
                </a:solidFill>
                <a:latin typeface="Calibri" pitchFamily="34" charset="0"/>
                <a:ea typeface="Calibri" pitchFamily="34" charset="-122"/>
                <a:cs typeface="Calibri" pitchFamily="34" charset="-120"/>
              </a:rPr>
              <a:t>simulated</a:t>
            </a:r>
            <a:endParaRPr lang="en-US" sz="950" dirty="0"/>
          </a:p>
        </p:txBody>
      </p:sp>
      <p:sp>
        <p:nvSpPr>
          <p:cNvPr id="16" name="Shape 14"/>
          <p:cNvSpPr/>
          <p:nvPr/>
        </p:nvSpPr>
        <p:spPr>
          <a:xfrm>
            <a:off x="640080" y="4672584"/>
            <a:ext cx="3291840" cy="0"/>
          </a:xfrm>
          <a:prstGeom prst="line">
            <a:avLst/>
          </a:prstGeom>
          <a:noFill/>
          <a:ln w="9525">
            <a:solidFill>
              <a:srgbClr val="E5E7EB"/>
            </a:solidFill>
            <a:prstDash val="solid"/>
          </a:ln>
        </p:spPr>
      </p:sp>
      <p:sp>
        <p:nvSpPr>
          <p:cNvPr id="17" name="Text 15"/>
          <p:cNvSpPr/>
          <p:nvPr/>
        </p:nvSpPr>
        <p:spPr>
          <a:xfrm>
            <a:off x="640080" y="4123944"/>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Outdoor weather (REST API)</a:t>
            </a:r>
            <a:endParaRPr lang="en-US" sz="1300" dirty="0"/>
          </a:p>
        </p:txBody>
      </p:sp>
      <p:sp>
        <p:nvSpPr>
          <p:cNvPr id="18" name="Text 16"/>
          <p:cNvSpPr/>
          <p:nvPr/>
        </p:nvSpPr>
        <p:spPr>
          <a:xfrm>
            <a:off x="640080" y="4434840"/>
            <a:ext cx="3291840" cy="228600"/>
          </a:xfrm>
          <a:prstGeom prst="rect">
            <a:avLst/>
          </a:prstGeom>
          <a:noFill/>
          <a:ln/>
        </p:spPr>
        <p:txBody>
          <a:bodyPr wrap="square" lIns="0" tIns="0" rIns="0" bIns="0" rtlCol="0" anchor="ctr"/>
          <a:lstStyle/>
          <a:p>
            <a:pPr indent="0" marL="0">
              <a:buNone/>
            </a:pPr>
            <a:r>
              <a:rPr lang="en-US" sz="950" b="1" spc="150" kern="0" dirty="0">
                <a:solidFill>
                  <a:srgbClr val="6B7280"/>
                </a:solidFill>
                <a:latin typeface="Calibri" pitchFamily="34" charset="0"/>
                <a:ea typeface="Calibri" pitchFamily="34" charset="-122"/>
                <a:cs typeface="Calibri" pitchFamily="34" charset="-120"/>
              </a:rPr>
              <a:t>software</a:t>
            </a:r>
            <a:endParaRPr lang="en-US" sz="950" dirty="0"/>
          </a:p>
        </p:txBody>
      </p:sp>
      <p:sp>
        <p:nvSpPr>
          <p:cNvPr id="19" name="Shape 17"/>
          <p:cNvSpPr/>
          <p:nvPr/>
        </p:nvSpPr>
        <p:spPr>
          <a:xfrm>
            <a:off x="640080" y="5385816"/>
            <a:ext cx="3291840" cy="0"/>
          </a:xfrm>
          <a:prstGeom prst="line">
            <a:avLst/>
          </a:prstGeom>
          <a:noFill/>
          <a:ln w="9525">
            <a:solidFill>
              <a:srgbClr val="E5E7EB"/>
            </a:solidFill>
            <a:prstDash val="solid"/>
          </a:ln>
        </p:spPr>
      </p:sp>
      <p:sp>
        <p:nvSpPr>
          <p:cNvPr id="20" name="Text 18"/>
          <p:cNvSpPr/>
          <p:nvPr/>
        </p:nvSpPr>
        <p:spPr>
          <a:xfrm>
            <a:off x="640080" y="4837176"/>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Focus-session FSM (4 states)</a:t>
            </a:r>
            <a:endParaRPr lang="en-US" sz="1300" dirty="0"/>
          </a:p>
        </p:txBody>
      </p:sp>
      <p:sp>
        <p:nvSpPr>
          <p:cNvPr id="21" name="Text 19"/>
          <p:cNvSpPr/>
          <p:nvPr/>
        </p:nvSpPr>
        <p:spPr>
          <a:xfrm>
            <a:off x="640080" y="5148072"/>
            <a:ext cx="3291840" cy="228600"/>
          </a:xfrm>
          <a:prstGeom prst="rect">
            <a:avLst/>
          </a:prstGeom>
          <a:noFill/>
          <a:ln/>
        </p:spPr>
        <p:txBody>
          <a:bodyPr wrap="square" lIns="0" tIns="0" rIns="0" bIns="0" rtlCol="0" anchor="ctr"/>
          <a:lstStyle/>
          <a:p>
            <a:pPr indent="0" marL="0">
              <a:buNone/>
            </a:pPr>
            <a:r>
              <a:rPr lang="en-US" sz="950" b="1" spc="150" kern="0" dirty="0">
                <a:solidFill>
                  <a:srgbClr val="6B7280"/>
                </a:solidFill>
                <a:latin typeface="Calibri" pitchFamily="34" charset="0"/>
                <a:ea typeface="Calibri" pitchFamily="34" charset="-122"/>
                <a:cs typeface="Calibri" pitchFamily="34" charset="-120"/>
              </a:rPr>
              <a:t>software</a:t>
            </a:r>
            <a:endParaRPr lang="en-US" sz="950" dirty="0"/>
          </a:p>
        </p:txBody>
      </p:sp>
      <p:sp>
        <p:nvSpPr>
          <p:cNvPr id="22" name="Shape 20"/>
          <p:cNvSpPr/>
          <p:nvPr/>
        </p:nvSpPr>
        <p:spPr>
          <a:xfrm>
            <a:off x="4572000" y="2532888"/>
            <a:ext cx="3291840" cy="0"/>
          </a:xfrm>
          <a:prstGeom prst="line">
            <a:avLst/>
          </a:prstGeom>
          <a:noFill/>
          <a:ln w="9525">
            <a:solidFill>
              <a:srgbClr val="E5E7EB"/>
            </a:solidFill>
            <a:prstDash val="solid"/>
          </a:ln>
        </p:spPr>
      </p:sp>
      <p:sp>
        <p:nvSpPr>
          <p:cNvPr id="23" name="Text 21"/>
          <p:cNvSpPr/>
          <p:nvPr/>
        </p:nvSpPr>
        <p:spPr>
          <a:xfrm>
            <a:off x="4572000" y="1984248"/>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Reading lamp · ZigBee relay</a:t>
            </a:r>
            <a:endParaRPr lang="en-US" sz="1300" dirty="0"/>
          </a:p>
        </p:txBody>
      </p:sp>
      <p:sp>
        <p:nvSpPr>
          <p:cNvPr id="24" name="Text 22"/>
          <p:cNvSpPr/>
          <p:nvPr/>
        </p:nvSpPr>
        <p:spPr>
          <a:xfrm>
            <a:off x="4572000" y="2295144"/>
            <a:ext cx="3291840" cy="228600"/>
          </a:xfrm>
          <a:prstGeom prst="rect">
            <a:avLst/>
          </a:prstGeom>
          <a:noFill/>
          <a:ln/>
        </p:spPr>
        <p:txBody>
          <a:bodyPr wrap="square" lIns="0" tIns="0" rIns="0" bIns="0" rtlCol="0" anchor="ctr"/>
          <a:lstStyle/>
          <a:p>
            <a:pPr indent="0" marL="0">
              <a:buNone/>
            </a:pPr>
            <a:r>
              <a:rPr lang="en-US" sz="950" b="1" spc="150" kern="0" dirty="0">
                <a:solidFill>
                  <a:srgbClr val="15803D"/>
                </a:solidFill>
                <a:latin typeface="Calibri" pitchFamily="34" charset="0"/>
                <a:ea typeface="Calibri" pitchFamily="34" charset="-122"/>
                <a:cs typeface="Calibri" pitchFamily="34" charset="-120"/>
              </a:rPr>
              <a:t>physical</a:t>
            </a:r>
            <a:endParaRPr lang="en-US" sz="950" dirty="0"/>
          </a:p>
        </p:txBody>
      </p:sp>
      <p:sp>
        <p:nvSpPr>
          <p:cNvPr id="25" name="Shape 23"/>
          <p:cNvSpPr/>
          <p:nvPr/>
        </p:nvSpPr>
        <p:spPr>
          <a:xfrm>
            <a:off x="4572000" y="3246120"/>
            <a:ext cx="3291840" cy="0"/>
          </a:xfrm>
          <a:prstGeom prst="line">
            <a:avLst/>
          </a:prstGeom>
          <a:noFill/>
          <a:ln w="9525">
            <a:solidFill>
              <a:srgbClr val="E5E7EB"/>
            </a:solidFill>
            <a:prstDash val="solid"/>
          </a:ln>
        </p:spPr>
      </p:sp>
      <p:sp>
        <p:nvSpPr>
          <p:cNvPr id="26" name="Text 24"/>
          <p:cNvSpPr/>
          <p:nvPr/>
        </p:nvSpPr>
        <p:spPr>
          <a:xfrm>
            <a:off x="4572000" y="2697480"/>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Break LED</a:t>
            </a:r>
            <a:endParaRPr lang="en-US" sz="1300" dirty="0"/>
          </a:p>
        </p:txBody>
      </p:sp>
      <p:sp>
        <p:nvSpPr>
          <p:cNvPr id="27" name="Text 25"/>
          <p:cNvSpPr/>
          <p:nvPr/>
        </p:nvSpPr>
        <p:spPr>
          <a:xfrm>
            <a:off x="4572000" y="3008376"/>
            <a:ext cx="3291840" cy="228600"/>
          </a:xfrm>
          <a:prstGeom prst="rect">
            <a:avLst/>
          </a:prstGeom>
          <a:noFill/>
          <a:ln/>
        </p:spPr>
        <p:txBody>
          <a:bodyPr wrap="square" lIns="0" tIns="0" rIns="0" bIns="0" rtlCol="0" anchor="ctr"/>
          <a:lstStyle/>
          <a:p>
            <a:pPr indent="0" marL="0">
              <a:buNone/>
            </a:pPr>
            <a:r>
              <a:rPr lang="en-US" sz="950" b="1" spc="150" kern="0" dirty="0">
                <a:solidFill>
                  <a:srgbClr val="15803D"/>
                </a:solidFill>
                <a:latin typeface="Calibri" pitchFamily="34" charset="0"/>
                <a:ea typeface="Calibri" pitchFamily="34" charset="-122"/>
                <a:cs typeface="Calibri" pitchFamily="34" charset="-120"/>
              </a:rPr>
              <a:t>physical</a:t>
            </a:r>
            <a:endParaRPr lang="en-US" sz="950" dirty="0"/>
          </a:p>
        </p:txBody>
      </p:sp>
      <p:sp>
        <p:nvSpPr>
          <p:cNvPr id="28" name="Shape 26"/>
          <p:cNvSpPr/>
          <p:nvPr/>
        </p:nvSpPr>
        <p:spPr>
          <a:xfrm>
            <a:off x="4572000" y="3959352"/>
            <a:ext cx="3291840" cy="0"/>
          </a:xfrm>
          <a:prstGeom prst="line">
            <a:avLst/>
          </a:prstGeom>
          <a:noFill/>
          <a:ln w="9525">
            <a:solidFill>
              <a:srgbClr val="E5E7EB"/>
            </a:solidFill>
            <a:prstDash val="solid"/>
          </a:ln>
        </p:spPr>
      </p:sp>
      <p:sp>
        <p:nvSpPr>
          <p:cNvPr id="29" name="Text 27"/>
          <p:cNvSpPr/>
          <p:nvPr/>
        </p:nvSpPr>
        <p:spPr>
          <a:xfrm>
            <a:off x="4572000" y="3410712"/>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Break buzzer · PWM, quiet</a:t>
            </a:r>
            <a:endParaRPr lang="en-US" sz="1300" dirty="0"/>
          </a:p>
        </p:txBody>
      </p:sp>
      <p:sp>
        <p:nvSpPr>
          <p:cNvPr id="30" name="Text 28"/>
          <p:cNvSpPr/>
          <p:nvPr/>
        </p:nvSpPr>
        <p:spPr>
          <a:xfrm>
            <a:off x="4572000" y="3721608"/>
            <a:ext cx="3291840" cy="228600"/>
          </a:xfrm>
          <a:prstGeom prst="rect">
            <a:avLst/>
          </a:prstGeom>
          <a:noFill/>
          <a:ln/>
        </p:spPr>
        <p:txBody>
          <a:bodyPr wrap="square" lIns="0" tIns="0" rIns="0" bIns="0" rtlCol="0" anchor="ctr"/>
          <a:lstStyle/>
          <a:p>
            <a:pPr indent="0" marL="0">
              <a:buNone/>
            </a:pPr>
            <a:r>
              <a:rPr lang="en-US" sz="950" b="1" spc="150" kern="0" dirty="0">
                <a:solidFill>
                  <a:srgbClr val="15803D"/>
                </a:solidFill>
                <a:latin typeface="Calibri" pitchFamily="34" charset="0"/>
                <a:ea typeface="Calibri" pitchFamily="34" charset="-122"/>
                <a:cs typeface="Calibri" pitchFamily="34" charset="-120"/>
              </a:rPr>
              <a:t>physical</a:t>
            </a:r>
            <a:endParaRPr lang="en-US" sz="950" dirty="0"/>
          </a:p>
        </p:txBody>
      </p:sp>
      <p:sp>
        <p:nvSpPr>
          <p:cNvPr id="31" name="Shape 29"/>
          <p:cNvSpPr/>
          <p:nvPr/>
        </p:nvSpPr>
        <p:spPr>
          <a:xfrm>
            <a:off x="4572000" y="4672584"/>
            <a:ext cx="3291840" cy="0"/>
          </a:xfrm>
          <a:prstGeom prst="line">
            <a:avLst/>
          </a:prstGeom>
          <a:noFill/>
          <a:ln w="9525">
            <a:solidFill>
              <a:srgbClr val="E5E7EB"/>
            </a:solidFill>
            <a:prstDash val="solid"/>
          </a:ln>
        </p:spPr>
      </p:sp>
      <p:sp>
        <p:nvSpPr>
          <p:cNvPr id="32" name="Text 30"/>
          <p:cNvSpPr/>
          <p:nvPr/>
        </p:nvSpPr>
        <p:spPr>
          <a:xfrm>
            <a:off x="4572000" y="4123944"/>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Status LCD · CO₂ traffic light</a:t>
            </a:r>
            <a:endParaRPr lang="en-US" sz="1300" dirty="0"/>
          </a:p>
        </p:txBody>
      </p:sp>
      <p:sp>
        <p:nvSpPr>
          <p:cNvPr id="33" name="Text 31"/>
          <p:cNvSpPr/>
          <p:nvPr/>
        </p:nvSpPr>
        <p:spPr>
          <a:xfrm>
            <a:off x="4572000" y="4434840"/>
            <a:ext cx="3291840" cy="228600"/>
          </a:xfrm>
          <a:prstGeom prst="rect">
            <a:avLst/>
          </a:prstGeom>
          <a:noFill/>
          <a:ln/>
        </p:spPr>
        <p:txBody>
          <a:bodyPr wrap="square" lIns="0" tIns="0" rIns="0" bIns="0" rtlCol="0" anchor="ctr"/>
          <a:lstStyle/>
          <a:p>
            <a:pPr indent="0" marL="0">
              <a:buNone/>
            </a:pPr>
            <a:r>
              <a:rPr lang="en-US" sz="950" b="1" spc="150" kern="0" dirty="0">
                <a:solidFill>
                  <a:srgbClr val="15803D"/>
                </a:solidFill>
                <a:latin typeface="Calibri" pitchFamily="34" charset="0"/>
                <a:ea typeface="Calibri" pitchFamily="34" charset="-122"/>
                <a:cs typeface="Calibri" pitchFamily="34" charset="-120"/>
              </a:rPr>
              <a:t>physical</a:t>
            </a:r>
            <a:endParaRPr lang="en-US" sz="950" dirty="0"/>
          </a:p>
        </p:txBody>
      </p:sp>
      <p:sp>
        <p:nvSpPr>
          <p:cNvPr id="34" name="Shape 32"/>
          <p:cNvSpPr/>
          <p:nvPr/>
        </p:nvSpPr>
        <p:spPr>
          <a:xfrm>
            <a:off x="4572000" y="5385816"/>
            <a:ext cx="3291840" cy="0"/>
          </a:xfrm>
          <a:prstGeom prst="line">
            <a:avLst/>
          </a:prstGeom>
          <a:noFill/>
          <a:ln w="9525">
            <a:solidFill>
              <a:srgbClr val="E5E7EB"/>
            </a:solidFill>
            <a:prstDash val="solid"/>
          </a:ln>
        </p:spPr>
      </p:sp>
      <p:sp>
        <p:nvSpPr>
          <p:cNvPr id="35" name="Text 33"/>
          <p:cNvSpPr/>
          <p:nvPr/>
        </p:nvSpPr>
        <p:spPr>
          <a:xfrm>
            <a:off x="4572000" y="4837176"/>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Window ventilation · 2 levels</a:t>
            </a:r>
            <a:endParaRPr lang="en-US" sz="1300" dirty="0"/>
          </a:p>
        </p:txBody>
      </p:sp>
      <p:sp>
        <p:nvSpPr>
          <p:cNvPr id="36" name="Text 34"/>
          <p:cNvSpPr/>
          <p:nvPr/>
        </p:nvSpPr>
        <p:spPr>
          <a:xfrm>
            <a:off x="4572000" y="5148072"/>
            <a:ext cx="3291840" cy="228600"/>
          </a:xfrm>
          <a:prstGeom prst="rect">
            <a:avLst/>
          </a:prstGeom>
          <a:noFill/>
          <a:ln/>
        </p:spPr>
        <p:txBody>
          <a:bodyPr wrap="square" lIns="0" tIns="0" rIns="0" bIns="0" rtlCol="0" anchor="ctr"/>
          <a:lstStyle/>
          <a:p>
            <a:pPr indent="0" marL="0">
              <a:buNone/>
            </a:pPr>
            <a:r>
              <a:rPr lang="en-US" sz="950" b="1" spc="150" kern="0" dirty="0">
                <a:solidFill>
                  <a:srgbClr val="1D4ED8"/>
                </a:solidFill>
                <a:latin typeface="Calibri" pitchFamily="34" charset="0"/>
                <a:ea typeface="Calibri" pitchFamily="34" charset="-122"/>
                <a:cs typeface="Calibri" pitchFamily="34" charset="-120"/>
              </a:rPr>
              <a:t>virtual</a:t>
            </a:r>
            <a:endParaRPr lang="en-US" sz="950" dirty="0"/>
          </a:p>
        </p:txBody>
      </p:sp>
      <p:sp>
        <p:nvSpPr>
          <p:cNvPr id="37" name="Shape 35"/>
          <p:cNvSpPr/>
          <p:nvPr/>
        </p:nvSpPr>
        <p:spPr>
          <a:xfrm>
            <a:off x="4572000" y="6099048"/>
            <a:ext cx="3291840" cy="0"/>
          </a:xfrm>
          <a:prstGeom prst="line">
            <a:avLst/>
          </a:prstGeom>
          <a:noFill/>
          <a:ln w="9525">
            <a:solidFill>
              <a:srgbClr val="E5E7EB"/>
            </a:solidFill>
            <a:prstDash val="solid"/>
          </a:ln>
        </p:spPr>
      </p:sp>
      <p:sp>
        <p:nvSpPr>
          <p:cNvPr id="38" name="Text 36"/>
          <p:cNvSpPr/>
          <p:nvPr/>
        </p:nvSpPr>
        <p:spPr>
          <a:xfrm>
            <a:off x="4572000" y="5550408"/>
            <a:ext cx="3291840" cy="384048"/>
          </a:xfrm>
          <a:prstGeom prst="rect">
            <a:avLst/>
          </a:prstGeom>
          <a:noFill/>
          <a:ln/>
        </p:spPr>
        <p:txBody>
          <a:bodyPr wrap="square" lIns="0" tIns="0" rIns="0" bIns="0" rtlCol="0" anchor="ctr"/>
          <a:lstStyle/>
          <a:p>
            <a:pPr indent="0" marL="0">
              <a:buNone/>
            </a:pPr>
            <a:r>
              <a:rPr lang="en-US" sz="1300" dirty="0">
                <a:solidFill>
                  <a:srgbClr val="111827"/>
                </a:solidFill>
                <a:latin typeface="Calibri" pitchFamily="34" charset="0"/>
                <a:ea typeface="Calibri" pitchFamily="34" charset="-122"/>
                <a:cs typeface="Calibri" pitchFamily="34" charset="-120"/>
              </a:rPr>
              <a:t>Dashboard break banner</a:t>
            </a:r>
            <a:endParaRPr lang="en-US" sz="1300" dirty="0"/>
          </a:p>
        </p:txBody>
      </p:sp>
      <p:sp>
        <p:nvSpPr>
          <p:cNvPr id="39" name="Text 37"/>
          <p:cNvSpPr/>
          <p:nvPr/>
        </p:nvSpPr>
        <p:spPr>
          <a:xfrm>
            <a:off x="4572000" y="5861304"/>
            <a:ext cx="3291840" cy="228600"/>
          </a:xfrm>
          <a:prstGeom prst="rect">
            <a:avLst/>
          </a:prstGeom>
          <a:noFill/>
          <a:ln/>
        </p:spPr>
        <p:txBody>
          <a:bodyPr wrap="square" lIns="0" tIns="0" rIns="0" bIns="0" rtlCol="0" anchor="ctr"/>
          <a:lstStyle/>
          <a:p>
            <a:pPr indent="0" marL="0">
              <a:buNone/>
            </a:pPr>
            <a:r>
              <a:rPr lang="en-US" sz="950" b="1" spc="150" kern="0" dirty="0">
                <a:solidFill>
                  <a:srgbClr val="6B7280"/>
                </a:solidFill>
                <a:latin typeface="Calibri" pitchFamily="34" charset="0"/>
                <a:ea typeface="Calibri" pitchFamily="34" charset="-122"/>
                <a:cs typeface="Calibri" pitchFamily="34" charset="-120"/>
              </a:rPr>
              <a:t>software</a:t>
            </a:r>
            <a:endParaRPr lang="en-US" sz="950" dirty="0"/>
          </a:p>
        </p:txBody>
      </p:sp>
      <p:sp>
        <p:nvSpPr>
          <p:cNvPr id="40" name="Shape 38"/>
          <p:cNvSpPr/>
          <p:nvPr/>
        </p:nvSpPr>
        <p:spPr>
          <a:xfrm>
            <a:off x="8503920" y="2624328"/>
            <a:ext cx="3291840" cy="0"/>
          </a:xfrm>
          <a:prstGeom prst="line">
            <a:avLst/>
          </a:prstGeom>
          <a:noFill/>
          <a:ln w="9525">
            <a:solidFill>
              <a:srgbClr val="E5E7EB"/>
            </a:solidFill>
            <a:prstDash val="solid"/>
          </a:ln>
        </p:spPr>
      </p:sp>
      <p:sp>
        <p:nvSpPr>
          <p:cNvPr id="41" name="Text 39"/>
          <p:cNvSpPr/>
          <p:nvPr/>
        </p:nvSpPr>
        <p:spPr>
          <a:xfrm>
            <a:off x="8503920" y="1965960"/>
            <a:ext cx="3291840" cy="640080"/>
          </a:xfrm>
          <a:prstGeom prst="rect">
            <a:avLst/>
          </a:prstGeom>
          <a:noFill/>
          <a:ln/>
        </p:spPr>
        <p:txBody>
          <a:bodyPr wrap="square" lIns="0" tIns="0" rIns="0" bIns="0" rtlCol="0" anchor="ctr"/>
          <a:lstStyle/>
          <a:p>
            <a:pPr indent="0" marL="0">
              <a:buNone/>
            </a:pPr>
            <a:r>
              <a:rPr lang="en-US" sz="1250" dirty="0">
                <a:solidFill>
                  <a:srgbClr val="111827"/>
                </a:solidFill>
                <a:latin typeface="Calibri" pitchFamily="34" charset="0"/>
                <a:ea typeface="Calibri" pitchFamily="34" charset="-122"/>
                <a:cs typeface="Calibri" pitchFamily="34" charset="-120"/>
              </a:rPr>
              <a:t>Light the seat when occupied and dark; off when empty</a:t>
            </a:r>
            <a:endParaRPr lang="en-US" sz="1250" dirty="0"/>
          </a:p>
        </p:txBody>
      </p:sp>
      <p:sp>
        <p:nvSpPr>
          <p:cNvPr id="42" name="Shape 40"/>
          <p:cNvSpPr/>
          <p:nvPr/>
        </p:nvSpPr>
        <p:spPr>
          <a:xfrm>
            <a:off x="8503920" y="3447288"/>
            <a:ext cx="3291840" cy="0"/>
          </a:xfrm>
          <a:prstGeom prst="line">
            <a:avLst/>
          </a:prstGeom>
          <a:noFill/>
          <a:ln w="9525">
            <a:solidFill>
              <a:srgbClr val="E5E7EB"/>
            </a:solidFill>
            <a:prstDash val="solid"/>
          </a:ln>
        </p:spPr>
      </p:sp>
      <p:sp>
        <p:nvSpPr>
          <p:cNvPr id="43" name="Text 41"/>
          <p:cNvSpPr/>
          <p:nvPr/>
        </p:nvSpPr>
        <p:spPr>
          <a:xfrm>
            <a:off x="8503920" y="2788920"/>
            <a:ext cx="3291840" cy="640080"/>
          </a:xfrm>
          <a:prstGeom prst="rect">
            <a:avLst/>
          </a:prstGeom>
          <a:noFill/>
          <a:ln/>
        </p:spPr>
        <p:txBody>
          <a:bodyPr wrap="square" lIns="0" tIns="0" rIns="0" bIns="0" rtlCol="0" anchor="ctr"/>
          <a:lstStyle/>
          <a:p>
            <a:pPr indent="0" marL="0">
              <a:buNone/>
            </a:pPr>
            <a:r>
              <a:rPr lang="en-US" sz="1250" dirty="0">
                <a:solidFill>
                  <a:srgbClr val="111827"/>
                </a:solidFill>
                <a:latin typeface="Calibri" pitchFamily="34" charset="0"/>
                <a:ea typeface="Calibri" pitchFamily="34" charset="-122"/>
                <a:cs typeface="Calibri" pitchFamily="34" charset="-120"/>
              </a:rPr>
              <a:t>Air the room by pulse or full opening, picked by cost</a:t>
            </a:r>
            <a:endParaRPr lang="en-US" sz="1250" dirty="0"/>
          </a:p>
        </p:txBody>
      </p:sp>
      <p:sp>
        <p:nvSpPr>
          <p:cNvPr id="44" name="Shape 42"/>
          <p:cNvSpPr/>
          <p:nvPr/>
        </p:nvSpPr>
        <p:spPr>
          <a:xfrm>
            <a:off x="8503920" y="4270248"/>
            <a:ext cx="3291840" cy="0"/>
          </a:xfrm>
          <a:prstGeom prst="line">
            <a:avLst/>
          </a:prstGeom>
          <a:noFill/>
          <a:ln w="9525">
            <a:solidFill>
              <a:srgbClr val="E5E7EB"/>
            </a:solidFill>
            <a:prstDash val="solid"/>
          </a:ln>
        </p:spPr>
      </p:sp>
      <p:sp>
        <p:nvSpPr>
          <p:cNvPr id="45" name="Text 43"/>
          <p:cNvSpPr/>
          <p:nvPr/>
        </p:nvSpPr>
        <p:spPr>
          <a:xfrm>
            <a:off x="8503920" y="3611880"/>
            <a:ext cx="3291840" cy="640080"/>
          </a:xfrm>
          <a:prstGeom prst="rect">
            <a:avLst/>
          </a:prstGeom>
          <a:noFill/>
          <a:ln/>
        </p:spPr>
        <p:txBody>
          <a:bodyPr wrap="square" lIns="0" tIns="0" rIns="0" bIns="0" rtlCol="0" anchor="ctr"/>
          <a:lstStyle/>
          <a:p>
            <a:pPr indent="0" marL="0">
              <a:buNone/>
            </a:pPr>
            <a:r>
              <a:rPr lang="en-US" sz="1250" dirty="0">
                <a:solidFill>
                  <a:srgbClr val="111827"/>
                </a:solidFill>
                <a:latin typeface="Calibri" pitchFamily="34" charset="0"/>
                <a:ea typeface="Calibri" pitchFamily="34" charset="-122"/>
                <a:cs typeface="Calibri" pitchFamily="34" charset="-120"/>
              </a:rPr>
              <a:t>Suggest breaks via LED + buzzer after 2 min of focus</a:t>
            </a:r>
            <a:endParaRPr lang="en-US" sz="1250" dirty="0"/>
          </a:p>
        </p:txBody>
      </p:sp>
      <p:sp>
        <p:nvSpPr>
          <p:cNvPr id="46" name="Shape 44"/>
          <p:cNvSpPr/>
          <p:nvPr/>
        </p:nvSpPr>
        <p:spPr>
          <a:xfrm>
            <a:off x="8503920" y="5093208"/>
            <a:ext cx="3291840" cy="0"/>
          </a:xfrm>
          <a:prstGeom prst="line">
            <a:avLst/>
          </a:prstGeom>
          <a:noFill/>
          <a:ln w="9525">
            <a:solidFill>
              <a:srgbClr val="E5E7EB"/>
            </a:solidFill>
            <a:prstDash val="solid"/>
          </a:ln>
        </p:spPr>
      </p:sp>
      <p:sp>
        <p:nvSpPr>
          <p:cNvPr id="47" name="Text 45"/>
          <p:cNvSpPr/>
          <p:nvPr/>
        </p:nvSpPr>
        <p:spPr>
          <a:xfrm>
            <a:off x="8503920" y="4434840"/>
            <a:ext cx="3291840" cy="640080"/>
          </a:xfrm>
          <a:prstGeom prst="rect">
            <a:avLst/>
          </a:prstGeom>
          <a:noFill/>
          <a:ln/>
        </p:spPr>
        <p:txBody>
          <a:bodyPr wrap="square" lIns="0" tIns="0" rIns="0" bIns="0" rtlCol="0" anchor="ctr"/>
          <a:lstStyle/>
          <a:p>
            <a:pPr indent="0" marL="0">
              <a:buNone/>
            </a:pPr>
            <a:r>
              <a:rPr lang="en-US" sz="1250" dirty="0">
                <a:solidFill>
                  <a:srgbClr val="111827"/>
                </a:solidFill>
                <a:latin typeface="Calibri" pitchFamily="34" charset="0"/>
                <a:ea typeface="Calibri" pitchFamily="34" charset="-122"/>
                <a:cs typeface="Calibri" pitchFamily="34" charset="-120"/>
              </a:rPr>
              <a:t>Show state + current plan on dashboard and LCD</a:t>
            </a:r>
            <a:endParaRPr lang="en-US" sz="1250" dirty="0"/>
          </a:p>
        </p:txBody>
      </p:sp>
      <p:sp>
        <p:nvSpPr>
          <p:cNvPr id="48" name="Shape 46"/>
          <p:cNvSpPr/>
          <p:nvPr/>
        </p:nvSpPr>
        <p:spPr>
          <a:xfrm>
            <a:off x="8503920" y="5916168"/>
            <a:ext cx="3291840" cy="0"/>
          </a:xfrm>
          <a:prstGeom prst="line">
            <a:avLst/>
          </a:prstGeom>
          <a:noFill/>
          <a:ln w="9525">
            <a:solidFill>
              <a:srgbClr val="E5E7EB"/>
            </a:solidFill>
            <a:prstDash val="solid"/>
          </a:ln>
        </p:spPr>
      </p:sp>
      <p:sp>
        <p:nvSpPr>
          <p:cNvPr id="49" name="Text 47"/>
          <p:cNvSpPr/>
          <p:nvPr/>
        </p:nvSpPr>
        <p:spPr>
          <a:xfrm>
            <a:off x="8503920" y="5257800"/>
            <a:ext cx="3291840" cy="640080"/>
          </a:xfrm>
          <a:prstGeom prst="rect">
            <a:avLst/>
          </a:prstGeom>
          <a:noFill/>
          <a:ln/>
        </p:spPr>
        <p:txBody>
          <a:bodyPr wrap="square" lIns="0" tIns="0" rIns="0" bIns="0" rtlCol="0" anchor="ctr"/>
          <a:lstStyle/>
          <a:p>
            <a:pPr indent="0" marL="0">
              <a:buNone/>
            </a:pPr>
            <a:r>
              <a:rPr lang="en-US" sz="1250" dirty="0">
                <a:solidFill>
                  <a:srgbClr val="111827"/>
                </a:solidFill>
                <a:latin typeface="Calibri" pitchFamily="34" charset="0"/>
                <a:ea typeface="Calibri" pitchFamily="34" charset="-122"/>
                <a:cs typeface="Calibri" pitchFamily="34" charset="-120"/>
              </a:rPr>
              <a:t>Re-plan on every state change; recover in &lt; 1 s</a:t>
            </a:r>
            <a:endParaRPr lang="en-US" sz="1250" dirty="0"/>
          </a:p>
        </p:txBody>
      </p:sp>
      <p:sp>
        <p:nvSpPr>
          <p:cNvPr id="50" name="Text 48"/>
          <p:cNvSpPr/>
          <p:nvPr/>
        </p:nvSpPr>
        <p:spPr>
          <a:xfrm>
            <a:off x="640080" y="6400800"/>
            <a:ext cx="10881360" cy="320040"/>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2 physical sensors + 4 physical actuators on the desk · simulated parts are always labelled as such</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19456"/>
            <a:ext cx="1088136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ARCHITECTURE</a:t>
            </a:r>
            <a:endParaRPr lang="en-US" sz="1100" dirty="0"/>
          </a:p>
        </p:txBody>
      </p:sp>
      <p:sp>
        <p:nvSpPr>
          <p:cNvPr id="3" name="Text 1"/>
          <p:cNvSpPr/>
          <p:nvPr/>
        </p:nvSpPr>
        <p:spPr>
          <a:xfrm>
            <a:off x="640080" y="457200"/>
            <a:ext cx="10881360" cy="640080"/>
          </a:xfrm>
          <a:prstGeom prst="rect">
            <a:avLst/>
          </a:prstGeom>
          <a:noFill/>
          <a:ln/>
        </p:spPr>
        <p:txBody>
          <a:bodyPr wrap="square" lIns="0" tIns="0" rIns="0" bIns="0" rtlCol="0" anchor="ctr"/>
          <a:lstStyle/>
          <a:p>
            <a:pPr indent="0" marL="0">
              <a:buNone/>
            </a:pPr>
            <a:r>
              <a:rPr lang="en-US" sz="3000" b="1" dirty="0">
                <a:solidFill>
                  <a:srgbClr val="111827"/>
                </a:solidFill>
                <a:latin typeface="Cambria" pitchFamily="34" charset="0"/>
                <a:ea typeface="Cambria" pitchFamily="34" charset="-122"/>
                <a:cs typeface="Cambria" pitchFamily="34" charset="-120"/>
              </a:rPr>
              <a:t>Eight modules, communicating only via MQTT</a:t>
            </a:r>
            <a:endParaRPr lang="en-US" sz="3000" dirty="0"/>
          </a:p>
        </p:txBody>
      </p:sp>
      <p:sp>
        <p:nvSpPr>
          <p:cNvPr id="4" name="Shape 2"/>
          <p:cNvSpPr/>
          <p:nvPr/>
        </p:nvSpPr>
        <p:spPr>
          <a:xfrm>
            <a:off x="640080" y="1737360"/>
            <a:ext cx="2057400" cy="1051560"/>
          </a:xfrm>
          <a:prstGeom prst="roundRect">
            <a:avLst>
              <a:gd name="adj" fmla="val 6957"/>
            </a:avLst>
          </a:prstGeom>
          <a:solidFill>
            <a:srgbClr val="FFFFFF"/>
          </a:solidFill>
          <a:ln w="12700">
            <a:solidFill>
              <a:srgbClr val="E5E7EB"/>
            </a:solidFill>
            <a:prstDash val="solid"/>
          </a:ln>
        </p:spPr>
      </p:sp>
      <p:sp>
        <p:nvSpPr>
          <p:cNvPr id="5" name="Text 3"/>
          <p:cNvSpPr/>
          <p:nvPr/>
        </p:nvSpPr>
        <p:spPr>
          <a:xfrm>
            <a:off x="731520" y="1874520"/>
            <a:ext cx="1874520" cy="365760"/>
          </a:xfrm>
          <a:prstGeom prst="rect">
            <a:avLst/>
          </a:prstGeom>
          <a:noFill/>
          <a:ln/>
        </p:spPr>
        <p:txBody>
          <a:bodyPr wrap="square" lIns="0" tIns="0" rIns="0" bIns="0" rtlCol="0" anchor="ctr"/>
          <a:lstStyle/>
          <a:p>
            <a:pPr algn="ctr" indent="0" marL="0">
              <a:buNone/>
            </a:pPr>
            <a:r>
              <a:rPr lang="en-US" sz="1450" b="1" dirty="0">
                <a:solidFill>
                  <a:srgbClr val="111827"/>
                </a:solidFill>
                <a:latin typeface="Cambria" pitchFamily="34" charset="0"/>
                <a:ea typeface="Cambria" pitchFamily="34" charset="-122"/>
                <a:cs typeface="Cambria" pitchFamily="34" charset="-120"/>
              </a:rPr>
              <a:t>Sensing</a:t>
            </a:r>
            <a:endParaRPr lang="en-US" sz="1450" dirty="0"/>
          </a:p>
        </p:txBody>
      </p:sp>
      <p:sp>
        <p:nvSpPr>
          <p:cNvPr id="6" name="Text 4"/>
          <p:cNvSpPr/>
          <p:nvPr/>
        </p:nvSpPr>
        <p:spPr>
          <a:xfrm>
            <a:off x="731520" y="2286000"/>
            <a:ext cx="1874520" cy="365760"/>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motion · light · weather</a:t>
            </a:r>
            <a:endParaRPr lang="en-US" sz="1050" dirty="0"/>
          </a:p>
        </p:txBody>
      </p:sp>
      <p:sp>
        <p:nvSpPr>
          <p:cNvPr id="7" name="Text 5"/>
          <p:cNvSpPr/>
          <p:nvPr/>
        </p:nvSpPr>
        <p:spPr>
          <a:xfrm>
            <a:off x="2706624" y="2084832"/>
            <a:ext cx="292608" cy="365760"/>
          </a:xfrm>
          <a:prstGeom prst="rect">
            <a:avLst/>
          </a:prstGeom>
          <a:noFill/>
          <a:ln/>
        </p:spPr>
        <p:txBody>
          <a:bodyPr wrap="square" lIns="0" tIns="0" rIns="0" bIns="0" rtlCol="0" anchor="ctr"/>
          <a:lstStyle/>
          <a:p>
            <a:pPr algn="ctr" indent="0" marL="0">
              <a:buNone/>
            </a:pPr>
            <a:r>
              <a:rPr lang="en-US" sz="1600" dirty="0">
                <a:solidFill>
                  <a:srgbClr val="6B7280"/>
                </a:solidFill>
                <a:latin typeface="Calibri" pitchFamily="34" charset="0"/>
                <a:ea typeface="Calibri" pitchFamily="34" charset="-122"/>
                <a:cs typeface="Calibri" pitchFamily="34" charset="-120"/>
              </a:rPr>
              <a:t>→</a:t>
            </a:r>
            <a:endParaRPr lang="en-US" sz="1600" dirty="0"/>
          </a:p>
        </p:txBody>
      </p:sp>
      <p:sp>
        <p:nvSpPr>
          <p:cNvPr id="8" name="Shape 6"/>
          <p:cNvSpPr/>
          <p:nvPr/>
        </p:nvSpPr>
        <p:spPr>
          <a:xfrm>
            <a:off x="2971800" y="1737360"/>
            <a:ext cx="2057400" cy="1051560"/>
          </a:xfrm>
          <a:prstGeom prst="roundRect">
            <a:avLst>
              <a:gd name="adj" fmla="val 6957"/>
            </a:avLst>
          </a:prstGeom>
          <a:solidFill>
            <a:srgbClr val="FFFFFF"/>
          </a:solidFill>
          <a:ln w="12700">
            <a:solidFill>
              <a:srgbClr val="E5E7EB"/>
            </a:solidFill>
            <a:prstDash val="solid"/>
          </a:ln>
        </p:spPr>
      </p:sp>
      <p:sp>
        <p:nvSpPr>
          <p:cNvPr id="9" name="Text 7"/>
          <p:cNvSpPr/>
          <p:nvPr/>
        </p:nvSpPr>
        <p:spPr>
          <a:xfrm>
            <a:off x="3063240" y="1874520"/>
            <a:ext cx="1874520" cy="365760"/>
          </a:xfrm>
          <a:prstGeom prst="rect">
            <a:avLst/>
          </a:prstGeom>
          <a:noFill/>
          <a:ln/>
        </p:spPr>
        <p:txBody>
          <a:bodyPr wrap="square" lIns="0" tIns="0" rIns="0" bIns="0" rtlCol="0" anchor="ctr"/>
          <a:lstStyle/>
          <a:p>
            <a:pPr algn="ctr" indent="0" marL="0">
              <a:buNone/>
            </a:pPr>
            <a:r>
              <a:rPr lang="en-US" sz="1450" b="1" dirty="0">
                <a:solidFill>
                  <a:srgbClr val="111827"/>
                </a:solidFill>
                <a:latin typeface="Cambria" pitchFamily="34" charset="0"/>
                <a:ea typeface="Cambria" pitchFamily="34" charset="-122"/>
                <a:cs typeface="Cambria" pitchFamily="34" charset="-120"/>
              </a:rPr>
              <a:t>Context</a:t>
            </a:r>
            <a:endParaRPr lang="en-US" sz="1450" dirty="0"/>
          </a:p>
        </p:txBody>
      </p:sp>
      <p:sp>
        <p:nvSpPr>
          <p:cNvPr id="10" name="Text 8"/>
          <p:cNvSpPr/>
          <p:nvPr/>
        </p:nvSpPr>
        <p:spPr>
          <a:xfrm>
            <a:off x="3063240" y="2286000"/>
            <a:ext cx="1874520" cy="365760"/>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world state · CO₂ · FSM</a:t>
            </a:r>
            <a:endParaRPr lang="en-US" sz="1050" dirty="0"/>
          </a:p>
        </p:txBody>
      </p:sp>
      <p:sp>
        <p:nvSpPr>
          <p:cNvPr id="11" name="Text 9"/>
          <p:cNvSpPr/>
          <p:nvPr/>
        </p:nvSpPr>
        <p:spPr>
          <a:xfrm>
            <a:off x="5038344" y="2084832"/>
            <a:ext cx="292608" cy="365760"/>
          </a:xfrm>
          <a:prstGeom prst="rect">
            <a:avLst/>
          </a:prstGeom>
          <a:noFill/>
          <a:ln/>
        </p:spPr>
        <p:txBody>
          <a:bodyPr wrap="square" lIns="0" tIns="0" rIns="0" bIns="0" rtlCol="0" anchor="ctr"/>
          <a:lstStyle/>
          <a:p>
            <a:pPr algn="ctr" indent="0" marL="0">
              <a:buNone/>
            </a:pPr>
            <a:r>
              <a:rPr lang="en-US" sz="1600" dirty="0">
                <a:solidFill>
                  <a:srgbClr val="6B7280"/>
                </a:solidFill>
                <a:latin typeface="Calibri" pitchFamily="34" charset="0"/>
                <a:ea typeface="Calibri" pitchFamily="34" charset="-122"/>
                <a:cs typeface="Calibri" pitchFamily="34" charset="-120"/>
              </a:rPr>
              <a:t>→</a:t>
            </a:r>
            <a:endParaRPr lang="en-US" sz="1600" dirty="0"/>
          </a:p>
        </p:txBody>
      </p:sp>
      <p:sp>
        <p:nvSpPr>
          <p:cNvPr id="12" name="Shape 10"/>
          <p:cNvSpPr/>
          <p:nvPr/>
        </p:nvSpPr>
        <p:spPr>
          <a:xfrm>
            <a:off x="5303520" y="1737360"/>
            <a:ext cx="2057400" cy="1051560"/>
          </a:xfrm>
          <a:prstGeom prst="roundRect">
            <a:avLst>
              <a:gd name="adj" fmla="val 6957"/>
            </a:avLst>
          </a:prstGeom>
          <a:solidFill>
            <a:srgbClr val="FFFFFF"/>
          </a:solidFill>
          <a:ln w="12700">
            <a:solidFill>
              <a:srgbClr val="E5E7EB"/>
            </a:solidFill>
            <a:prstDash val="solid"/>
          </a:ln>
        </p:spPr>
      </p:sp>
      <p:sp>
        <p:nvSpPr>
          <p:cNvPr id="13" name="Text 11"/>
          <p:cNvSpPr/>
          <p:nvPr/>
        </p:nvSpPr>
        <p:spPr>
          <a:xfrm>
            <a:off x="5394960" y="1874520"/>
            <a:ext cx="1874520" cy="365760"/>
          </a:xfrm>
          <a:prstGeom prst="rect">
            <a:avLst/>
          </a:prstGeom>
          <a:noFill/>
          <a:ln/>
        </p:spPr>
        <p:txBody>
          <a:bodyPr wrap="square" lIns="0" tIns="0" rIns="0" bIns="0" rtlCol="0" anchor="ctr"/>
          <a:lstStyle/>
          <a:p>
            <a:pPr algn="ctr" indent="0" marL="0">
              <a:buNone/>
            </a:pPr>
            <a:r>
              <a:rPr lang="en-US" sz="1450" b="1" dirty="0">
                <a:solidFill>
                  <a:srgbClr val="111827"/>
                </a:solidFill>
                <a:latin typeface="Cambria" pitchFamily="34" charset="0"/>
                <a:ea typeface="Cambria" pitchFamily="34" charset="-122"/>
                <a:cs typeface="Cambria" pitchFamily="34" charset="-120"/>
              </a:rPr>
              <a:t>Problem Gen.</a:t>
            </a:r>
            <a:endParaRPr lang="en-US" sz="1450" dirty="0"/>
          </a:p>
        </p:txBody>
      </p:sp>
      <p:sp>
        <p:nvSpPr>
          <p:cNvPr id="14" name="Text 12"/>
          <p:cNvSpPr/>
          <p:nvPr/>
        </p:nvSpPr>
        <p:spPr>
          <a:xfrm>
            <a:off x="5394960" y="2286000"/>
            <a:ext cx="1874520" cy="365760"/>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state → PDDL + costs</a:t>
            </a:r>
            <a:endParaRPr lang="en-US" sz="1050" dirty="0"/>
          </a:p>
        </p:txBody>
      </p:sp>
      <p:sp>
        <p:nvSpPr>
          <p:cNvPr id="15" name="Text 13"/>
          <p:cNvSpPr/>
          <p:nvPr/>
        </p:nvSpPr>
        <p:spPr>
          <a:xfrm>
            <a:off x="7370064" y="2084832"/>
            <a:ext cx="292608" cy="365760"/>
          </a:xfrm>
          <a:prstGeom prst="rect">
            <a:avLst/>
          </a:prstGeom>
          <a:noFill/>
          <a:ln/>
        </p:spPr>
        <p:txBody>
          <a:bodyPr wrap="square" lIns="0" tIns="0" rIns="0" bIns="0" rtlCol="0" anchor="ctr"/>
          <a:lstStyle/>
          <a:p>
            <a:pPr algn="ctr" indent="0" marL="0">
              <a:buNone/>
            </a:pPr>
            <a:r>
              <a:rPr lang="en-US" sz="1600" dirty="0">
                <a:solidFill>
                  <a:srgbClr val="6B7280"/>
                </a:solidFill>
                <a:latin typeface="Calibri" pitchFamily="34" charset="0"/>
                <a:ea typeface="Calibri" pitchFamily="34" charset="-122"/>
                <a:cs typeface="Calibri" pitchFamily="34" charset="-120"/>
              </a:rPr>
              <a:t>→</a:t>
            </a:r>
            <a:endParaRPr lang="en-US" sz="1600" dirty="0"/>
          </a:p>
        </p:txBody>
      </p:sp>
      <p:sp>
        <p:nvSpPr>
          <p:cNvPr id="16" name="Shape 14"/>
          <p:cNvSpPr/>
          <p:nvPr/>
        </p:nvSpPr>
        <p:spPr>
          <a:xfrm>
            <a:off x="7635240" y="1737360"/>
            <a:ext cx="2057400" cy="1051560"/>
          </a:xfrm>
          <a:prstGeom prst="roundRect">
            <a:avLst>
              <a:gd name="adj" fmla="val 6957"/>
            </a:avLst>
          </a:prstGeom>
          <a:solidFill>
            <a:srgbClr val="FBEFD9"/>
          </a:solidFill>
          <a:ln w="12700">
            <a:solidFill>
              <a:srgbClr val="D97706"/>
            </a:solidFill>
            <a:prstDash val="solid"/>
          </a:ln>
        </p:spPr>
      </p:sp>
      <p:sp>
        <p:nvSpPr>
          <p:cNvPr id="17" name="Text 15"/>
          <p:cNvSpPr/>
          <p:nvPr/>
        </p:nvSpPr>
        <p:spPr>
          <a:xfrm>
            <a:off x="7726680" y="1874520"/>
            <a:ext cx="1874520" cy="365760"/>
          </a:xfrm>
          <a:prstGeom prst="rect">
            <a:avLst/>
          </a:prstGeom>
          <a:noFill/>
          <a:ln/>
        </p:spPr>
        <p:txBody>
          <a:bodyPr wrap="square" lIns="0" tIns="0" rIns="0" bIns="0" rtlCol="0" anchor="ctr"/>
          <a:lstStyle/>
          <a:p>
            <a:pPr algn="ctr" indent="0" marL="0">
              <a:buNone/>
            </a:pPr>
            <a:r>
              <a:rPr lang="en-US" sz="1450" b="1" dirty="0">
                <a:solidFill>
                  <a:srgbClr val="D97706"/>
                </a:solidFill>
                <a:latin typeface="Cambria" pitchFamily="34" charset="0"/>
                <a:ea typeface="Cambria" pitchFamily="34" charset="-122"/>
                <a:cs typeface="Cambria" pitchFamily="34" charset="-120"/>
              </a:rPr>
              <a:t>Planner</a:t>
            </a:r>
            <a:endParaRPr lang="en-US" sz="1450" dirty="0"/>
          </a:p>
        </p:txBody>
      </p:sp>
      <p:sp>
        <p:nvSpPr>
          <p:cNvPr id="18" name="Text 16"/>
          <p:cNvSpPr/>
          <p:nvPr/>
        </p:nvSpPr>
        <p:spPr>
          <a:xfrm>
            <a:off x="7726680" y="2286000"/>
            <a:ext cx="1874520" cy="365760"/>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Fast Downward</a:t>
            </a:r>
            <a:endParaRPr lang="en-US" sz="1050" dirty="0"/>
          </a:p>
        </p:txBody>
      </p:sp>
      <p:sp>
        <p:nvSpPr>
          <p:cNvPr id="19" name="Text 17"/>
          <p:cNvSpPr/>
          <p:nvPr/>
        </p:nvSpPr>
        <p:spPr>
          <a:xfrm>
            <a:off x="9701784" y="2084832"/>
            <a:ext cx="292608" cy="365760"/>
          </a:xfrm>
          <a:prstGeom prst="rect">
            <a:avLst/>
          </a:prstGeom>
          <a:noFill/>
          <a:ln/>
        </p:spPr>
        <p:txBody>
          <a:bodyPr wrap="square" lIns="0" tIns="0" rIns="0" bIns="0" rtlCol="0" anchor="ctr"/>
          <a:lstStyle/>
          <a:p>
            <a:pPr algn="ctr" indent="0" marL="0">
              <a:buNone/>
            </a:pPr>
            <a:r>
              <a:rPr lang="en-US" sz="1600" dirty="0">
                <a:solidFill>
                  <a:srgbClr val="6B7280"/>
                </a:solidFill>
                <a:latin typeface="Calibri" pitchFamily="34" charset="0"/>
                <a:ea typeface="Calibri" pitchFamily="34" charset="-122"/>
                <a:cs typeface="Calibri" pitchFamily="34" charset="-120"/>
              </a:rPr>
              <a:t>→</a:t>
            </a:r>
            <a:endParaRPr lang="en-US" sz="1600" dirty="0"/>
          </a:p>
        </p:txBody>
      </p:sp>
      <p:sp>
        <p:nvSpPr>
          <p:cNvPr id="20" name="Shape 18"/>
          <p:cNvSpPr/>
          <p:nvPr/>
        </p:nvSpPr>
        <p:spPr>
          <a:xfrm>
            <a:off x="9966960" y="1737360"/>
            <a:ext cx="2057400" cy="1051560"/>
          </a:xfrm>
          <a:prstGeom prst="roundRect">
            <a:avLst>
              <a:gd name="adj" fmla="val 6957"/>
            </a:avLst>
          </a:prstGeom>
          <a:solidFill>
            <a:srgbClr val="FFFFFF"/>
          </a:solidFill>
          <a:ln w="12700">
            <a:solidFill>
              <a:srgbClr val="E5E7EB"/>
            </a:solidFill>
            <a:prstDash val="solid"/>
          </a:ln>
        </p:spPr>
      </p:sp>
      <p:sp>
        <p:nvSpPr>
          <p:cNvPr id="21" name="Text 19"/>
          <p:cNvSpPr/>
          <p:nvPr/>
        </p:nvSpPr>
        <p:spPr>
          <a:xfrm>
            <a:off x="10058400" y="1874520"/>
            <a:ext cx="1874520" cy="365760"/>
          </a:xfrm>
          <a:prstGeom prst="rect">
            <a:avLst/>
          </a:prstGeom>
          <a:noFill/>
          <a:ln/>
        </p:spPr>
        <p:txBody>
          <a:bodyPr wrap="square" lIns="0" tIns="0" rIns="0" bIns="0" rtlCol="0" anchor="ctr"/>
          <a:lstStyle/>
          <a:p>
            <a:pPr algn="ctr" indent="0" marL="0">
              <a:buNone/>
            </a:pPr>
            <a:r>
              <a:rPr lang="en-US" sz="1450" b="1" dirty="0">
                <a:solidFill>
                  <a:srgbClr val="111827"/>
                </a:solidFill>
                <a:latin typeface="Cambria" pitchFamily="34" charset="0"/>
                <a:ea typeface="Cambria" pitchFamily="34" charset="-122"/>
                <a:cs typeface="Cambria" pitchFamily="34" charset="-120"/>
              </a:rPr>
              <a:t>Execution</a:t>
            </a:r>
            <a:endParaRPr lang="en-US" sz="1450" dirty="0"/>
          </a:p>
        </p:txBody>
      </p:sp>
      <p:sp>
        <p:nvSpPr>
          <p:cNvPr id="22" name="Text 20"/>
          <p:cNvSpPr/>
          <p:nvPr/>
        </p:nvSpPr>
        <p:spPr>
          <a:xfrm>
            <a:off x="10058400" y="2286000"/>
            <a:ext cx="1874520" cy="365760"/>
          </a:xfrm>
          <a:prstGeom prst="rect">
            <a:avLst/>
          </a:prstGeom>
          <a:noFill/>
          <a:ln/>
        </p:spPr>
        <p:txBody>
          <a:bodyPr wrap="square" lIns="0" tIns="0" rIns="0" bIns="0" rtlCol="0" anchor="ctr"/>
          <a:lstStyle/>
          <a:p>
            <a:pPr algn="ctr" indent="0" marL="0">
              <a:buNone/>
            </a:pPr>
            <a:r>
              <a:rPr lang="en-US" sz="1050" dirty="0">
                <a:solidFill>
                  <a:srgbClr val="6B7280"/>
                </a:solidFill>
                <a:latin typeface="Calibri" pitchFamily="34" charset="0"/>
                <a:ea typeface="Calibri" pitchFamily="34" charset="-122"/>
                <a:cs typeface="Calibri" pitchFamily="34" charset="-120"/>
              </a:rPr>
              <a:t>dispatch actions</a:t>
            </a:r>
            <a:endParaRPr lang="en-US" sz="1050" dirty="0"/>
          </a:p>
        </p:txBody>
      </p:sp>
      <p:sp>
        <p:nvSpPr>
          <p:cNvPr id="23" name="Shape 21"/>
          <p:cNvSpPr/>
          <p:nvPr/>
        </p:nvSpPr>
        <p:spPr>
          <a:xfrm>
            <a:off x="640080" y="3337560"/>
            <a:ext cx="10927080" cy="0"/>
          </a:xfrm>
          <a:prstGeom prst="line">
            <a:avLst/>
          </a:prstGeom>
          <a:noFill/>
          <a:ln w="19050">
            <a:solidFill>
              <a:srgbClr val="D97706"/>
            </a:solidFill>
            <a:prstDash val="solid"/>
          </a:ln>
        </p:spPr>
      </p:sp>
      <p:sp>
        <p:nvSpPr>
          <p:cNvPr id="24" name="Text 22"/>
          <p:cNvSpPr/>
          <p:nvPr/>
        </p:nvSpPr>
        <p:spPr>
          <a:xfrm>
            <a:off x="640080" y="3456432"/>
            <a:ext cx="10927080" cy="320040"/>
          </a:xfrm>
          <a:prstGeom prst="rect">
            <a:avLst/>
          </a:prstGeom>
          <a:noFill/>
          <a:ln/>
        </p:spPr>
        <p:txBody>
          <a:bodyPr wrap="square" lIns="0" tIns="0" rIns="0" bIns="0" rtlCol="0" anchor="ctr"/>
          <a:lstStyle/>
          <a:p>
            <a:pPr algn="ctr" indent="0" marL="0">
              <a:buNone/>
            </a:pPr>
            <a:r>
              <a:rPr lang="en-US" sz="1200" dirty="0">
                <a:solidFill>
                  <a:srgbClr val="111827"/>
                </a:solidFill>
                <a:latin typeface="Calibri" pitchFamily="34" charset="0"/>
                <a:ea typeface="Calibri" pitchFamily="34" charset="-122"/>
                <a:cs typeface="Calibri" pitchFamily="34" charset="-120"/>
              </a:rPr>
              <a:t>MQTT bus (Eclipse Mosquitto) · retained topics: sensors → state → problem → plan → actions → actuator feedback</a:t>
            </a:r>
            <a:endParaRPr lang="en-US" sz="1200" dirty="0"/>
          </a:p>
        </p:txBody>
      </p:sp>
      <p:sp>
        <p:nvSpPr>
          <p:cNvPr id="25" name="Text 23"/>
          <p:cNvSpPr/>
          <p:nvPr/>
        </p:nvSpPr>
        <p:spPr>
          <a:xfrm>
            <a:off x="640080" y="4297680"/>
            <a:ext cx="3474720" cy="365760"/>
          </a:xfrm>
          <a:prstGeom prst="rect">
            <a:avLst/>
          </a:prstGeom>
          <a:noFill/>
          <a:ln/>
        </p:spPr>
        <p:txBody>
          <a:bodyPr wrap="square" lIns="0" tIns="0" rIns="0" bIns="0" rtlCol="0" anchor="ctr"/>
          <a:lstStyle/>
          <a:p>
            <a:pPr indent="0" marL="0">
              <a:buNone/>
            </a:pPr>
            <a:r>
              <a:rPr lang="en-US" sz="1500" b="1" dirty="0">
                <a:solidFill>
                  <a:srgbClr val="111827"/>
                </a:solidFill>
                <a:latin typeface="Cambria" pitchFamily="34" charset="0"/>
                <a:ea typeface="Cambria" pitchFamily="34" charset="-122"/>
                <a:cs typeface="Cambria" pitchFamily="34" charset="-120"/>
              </a:rPr>
              <a:t>2 machines</a:t>
            </a:r>
            <a:endParaRPr lang="en-US" sz="1500" dirty="0"/>
          </a:p>
        </p:txBody>
      </p:sp>
      <p:sp>
        <p:nvSpPr>
          <p:cNvPr id="26" name="Text 24"/>
          <p:cNvSpPr/>
          <p:nvPr/>
        </p:nvSpPr>
        <p:spPr>
          <a:xfrm>
            <a:off x="640080" y="4709160"/>
            <a:ext cx="3429000" cy="137160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Pi 5 runs broker, context, planner, dashboard (7 services). Pi 3 B+ runs sensors, actuators, LCD (3 services).</a:t>
            </a:r>
            <a:endParaRPr lang="en-US" sz="1250" dirty="0"/>
          </a:p>
        </p:txBody>
      </p:sp>
      <p:sp>
        <p:nvSpPr>
          <p:cNvPr id="27" name="Text 25"/>
          <p:cNvSpPr/>
          <p:nvPr/>
        </p:nvSpPr>
        <p:spPr>
          <a:xfrm>
            <a:off x="4480560" y="4297680"/>
            <a:ext cx="3474720" cy="365760"/>
          </a:xfrm>
          <a:prstGeom prst="rect">
            <a:avLst/>
          </a:prstGeom>
          <a:noFill/>
          <a:ln/>
        </p:spPr>
        <p:txBody>
          <a:bodyPr wrap="square" lIns="0" tIns="0" rIns="0" bIns="0" rtlCol="0" anchor="ctr"/>
          <a:lstStyle/>
          <a:p>
            <a:pPr indent="0" marL="0">
              <a:buNone/>
            </a:pPr>
            <a:r>
              <a:rPr lang="en-US" sz="1500" b="1" dirty="0">
                <a:solidFill>
                  <a:srgbClr val="111827"/>
                </a:solidFill>
                <a:latin typeface="Cambria" pitchFamily="34" charset="0"/>
                <a:ea typeface="Cambria" pitchFamily="34" charset="-122"/>
                <a:cs typeface="Cambria" pitchFamily="34" charset="-120"/>
              </a:rPr>
              <a:t>Closed loop</a:t>
            </a:r>
            <a:endParaRPr lang="en-US" sz="1500" dirty="0"/>
          </a:p>
        </p:txBody>
      </p:sp>
      <p:sp>
        <p:nvSpPr>
          <p:cNvPr id="28" name="Text 26"/>
          <p:cNvSpPr/>
          <p:nvPr/>
        </p:nvSpPr>
        <p:spPr>
          <a:xfrm>
            <a:off x="4480560" y="4709160"/>
            <a:ext cx="3429000" cy="137160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Actuator effects are sensed again and trigger re-planning. No module calls another directly.</a:t>
            </a:r>
            <a:endParaRPr lang="en-US" sz="1250" dirty="0"/>
          </a:p>
        </p:txBody>
      </p:sp>
      <p:sp>
        <p:nvSpPr>
          <p:cNvPr id="29" name="Text 27"/>
          <p:cNvSpPr/>
          <p:nvPr/>
        </p:nvSpPr>
        <p:spPr>
          <a:xfrm>
            <a:off x="8321040" y="4297680"/>
            <a:ext cx="3474720" cy="365760"/>
          </a:xfrm>
          <a:prstGeom prst="rect">
            <a:avLst/>
          </a:prstGeom>
          <a:noFill/>
          <a:ln/>
        </p:spPr>
        <p:txBody>
          <a:bodyPr wrap="square" lIns="0" tIns="0" rIns="0" bIns="0" rtlCol="0" anchor="ctr"/>
          <a:lstStyle/>
          <a:p>
            <a:pPr indent="0" marL="0">
              <a:buNone/>
            </a:pPr>
            <a:r>
              <a:rPr lang="en-US" sz="1500" b="1" dirty="0">
                <a:solidFill>
                  <a:srgbClr val="111827"/>
                </a:solidFill>
                <a:latin typeface="Cambria" pitchFamily="34" charset="0"/>
                <a:ea typeface="Cambria" pitchFamily="34" charset="-122"/>
                <a:cs typeface="Cambria" pitchFamily="34" charset="-120"/>
              </a:rPr>
              <a:t>Self-contained demo</a:t>
            </a:r>
            <a:endParaRPr lang="en-US" sz="1500" dirty="0"/>
          </a:p>
        </p:txBody>
      </p:sp>
      <p:sp>
        <p:nvSpPr>
          <p:cNvPr id="30" name="Text 28"/>
          <p:cNvSpPr/>
          <p:nvPr/>
        </p:nvSpPr>
        <p:spPr>
          <a:xfrm>
            <a:off x="8321040" y="4709160"/>
            <a:ext cx="3429000" cy="137160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The core Pi spans its own WiFi access point; edge Pi and dashboard laptop join it.</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19456"/>
            <a:ext cx="1088136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AI PLANNING · 1/2</a:t>
            </a:r>
            <a:endParaRPr lang="en-US" sz="1100" dirty="0"/>
          </a:p>
        </p:txBody>
      </p:sp>
      <p:sp>
        <p:nvSpPr>
          <p:cNvPr id="3" name="Text 1"/>
          <p:cNvSpPr/>
          <p:nvPr/>
        </p:nvSpPr>
        <p:spPr>
          <a:xfrm>
            <a:off x="640080" y="457200"/>
            <a:ext cx="10881360" cy="640080"/>
          </a:xfrm>
          <a:prstGeom prst="rect">
            <a:avLst/>
          </a:prstGeom>
          <a:noFill/>
          <a:ln/>
        </p:spPr>
        <p:txBody>
          <a:bodyPr wrap="square" lIns="0" tIns="0" rIns="0" bIns="0" rtlCol="0" anchor="ctr"/>
          <a:lstStyle/>
          <a:p>
            <a:pPr indent="0" marL="0">
              <a:buNone/>
            </a:pPr>
            <a:r>
              <a:rPr lang="en-US" sz="3000" b="1" dirty="0">
                <a:solidFill>
                  <a:srgbClr val="111827"/>
                </a:solidFill>
                <a:latin typeface="Cambria" pitchFamily="34" charset="0"/>
                <a:ea typeface="Cambria" pitchFamily="34" charset="-122"/>
                <a:cs typeface="Cambria" pitchFamily="34" charset="-120"/>
              </a:rPr>
              <a:t>The model: classical PDDL with action costs</a:t>
            </a:r>
            <a:endParaRPr lang="en-US" sz="3000" dirty="0"/>
          </a:p>
        </p:txBody>
      </p:sp>
      <p:sp>
        <p:nvSpPr>
          <p:cNvPr id="4" name="Shape 2"/>
          <p:cNvSpPr/>
          <p:nvPr/>
        </p:nvSpPr>
        <p:spPr>
          <a:xfrm>
            <a:off x="640080" y="1463040"/>
            <a:ext cx="5669280" cy="3977640"/>
          </a:xfrm>
          <a:prstGeom prst="roundRect">
            <a:avLst>
              <a:gd name="adj" fmla="val 1839"/>
            </a:avLst>
          </a:prstGeom>
          <a:solidFill>
            <a:srgbClr val="F3F4F6"/>
          </a:solidFill>
          <a:ln/>
        </p:spPr>
      </p:sp>
      <p:sp>
        <p:nvSpPr>
          <p:cNvPr id="5" name="Text 3"/>
          <p:cNvSpPr/>
          <p:nvPr/>
        </p:nvSpPr>
        <p:spPr>
          <a:xfrm>
            <a:off x="868680" y="1645920"/>
            <a:ext cx="5303520" cy="3657600"/>
          </a:xfrm>
          <a:prstGeom prst="rect">
            <a:avLst/>
          </a:prstGeom>
          <a:noFill/>
          <a:ln/>
        </p:spPr>
        <p:txBody>
          <a:bodyPr wrap="square" lIns="0" tIns="0" rIns="0" bIns="0" rtlCol="0" anchor="ctr"/>
          <a:lstStyle/>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(:action pulse_ventilate_step</a:t>
            </a: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  :parameters (?z - zone)</a:t>
            </a: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  :precondition (and (occupied ?z)</a:t>
            </a: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                     (co2_high ?z))</a:t>
            </a: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  :effect (and (not (co2_high ?z))</a:t>
            </a: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               (co2_elevated ?z)</a:t>
            </a: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               (increase (total-cost)</a:t>
            </a: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                 (pulse-vent-cost))))</a:t>
            </a:r>
            <a:endParaRPr lang="en-US" sz="1250" dirty="0"/>
          </a:p>
          <a:p>
            <a:pPr indent="0" marL="0">
              <a:lnSpc>
                <a:spcPct val="112000"/>
              </a:lnSpc>
              <a:buNone/>
            </a:pP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(:goal (and (not (dark r1))</a:t>
            </a: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            (not (co2_high r1))</a:t>
            </a: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            (not (co2_elevated r1))))</a:t>
            </a:r>
            <a:endParaRPr lang="en-US" sz="1250" dirty="0"/>
          </a:p>
          <a:p>
            <a:pPr indent="0" marL="0">
              <a:lnSpc>
                <a:spcPct val="112000"/>
              </a:lnSpc>
              <a:buNone/>
            </a:pPr>
            <a:r>
              <a:rPr lang="en-US" sz="1250" dirty="0">
                <a:solidFill>
                  <a:srgbClr val="111827"/>
                </a:solidFill>
                <a:latin typeface="Courier New" pitchFamily="34" charset="0"/>
                <a:ea typeface="Courier New" pitchFamily="34" charset="-122"/>
                <a:cs typeface="Courier New" pitchFamily="34" charset="-120"/>
              </a:rPr>
              <a:t>(:metric minimize (total-cost))</a:t>
            </a:r>
            <a:endParaRPr lang="en-US" sz="1250" dirty="0"/>
          </a:p>
        </p:txBody>
      </p:sp>
      <p:sp>
        <p:nvSpPr>
          <p:cNvPr id="6" name="Text 4"/>
          <p:cNvSpPr/>
          <p:nvPr/>
        </p:nvSpPr>
        <p:spPr>
          <a:xfrm>
            <a:off x="868680" y="5486400"/>
            <a:ext cx="5212080" cy="274320"/>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real excerpt from librisense.pddl</a:t>
            </a:r>
            <a:endParaRPr lang="en-US" sz="1050" dirty="0"/>
          </a:p>
        </p:txBody>
      </p:sp>
      <p:sp>
        <p:nvSpPr>
          <p:cNvPr id="7" name="Text 5"/>
          <p:cNvSpPr/>
          <p:nvPr/>
        </p:nvSpPr>
        <p:spPr>
          <a:xfrm>
            <a:off x="6675120" y="1508760"/>
            <a:ext cx="4846320" cy="365760"/>
          </a:xfrm>
          <a:prstGeom prst="rect">
            <a:avLst/>
          </a:prstGeom>
          <a:noFill/>
          <a:ln/>
        </p:spPr>
        <p:txBody>
          <a:bodyPr wrap="square" lIns="0" tIns="0" rIns="0" bIns="0" rtlCol="0" anchor="ctr"/>
          <a:lstStyle/>
          <a:p>
            <a:pPr indent="0" marL="0">
              <a:buNone/>
            </a:pPr>
            <a:r>
              <a:rPr lang="en-US" sz="1450" b="1" dirty="0">
                <a:solidFill>
                  <a:srgbClr val="111827"/>
                </a:solidFill>
                <a:latin typeface="Cambria" pitchFamily="34" charset="0"/>
                <a:ea typeface="Cambria" pitchFamily="34" charset="-122"/>
                <a:cs typeface="Cambria" pitchFamily="34" charset="-120"/>
              </a:rPr>
              <a:t>1 type · 8 predicates</a:t>
            </a:r>
            <a:endParaRPr lang="en-US" sz="1450" dirty="0"/>
          </a:p>
        </p:txBody>
      </p:sp>
      <p:sp>
        <p:nvSpPr>
          <p:cNvPr id="8" name="Text 6"/>
          <p:cNvSpPr/>
          <p:nvPr/>
        </p:nvSpPr>
        <p:spPr>
          <a:xfrm>
            <a:off x="6675120" y="1892808"/>
            <a:ext cx="4846320" cy="59436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zone; occupied, dark, lamp_on, co2_elevated, co2_high, ventilating, break_due, break_suggested</a:t>
            </a:r>
            <a:endParaRPr lang="en-US" sz="1200" dirty="0"/>
          </a:p>
        </p:txBody>
      </p:sp>
      <p:sp>
        <p:nvSpPr>
          <p:cNvPr id="9" name="Text 7"/>
          <p:cNvSpPr/>
          <p:nvPr/>
        </p:nvSpPr>
        <p:spPr>
          <a:xfrm>
            <a:off x="6675120" y="2560320"/>
            <a:ext cx="4846320" cy="365760"/>
          </a:xfrm>
          <a:prstGeom prst="rect">
            <a:avLst/>
          </a:prstGeom>
          <a:noFill/>
          <a:ln/>
        </p:spPr>
        <p:txBody>
          <a:bodyPr wrap="square" lIns="0" tIns="0" rIns="0" bIns="0" rtlCol="0" anchor="ctr"/>
          <a:lstStyle/>
          <a:p>
            <a:pPr indent="0" marL="0">
              <a:buNone/>
            </a:pPr>
            <a:r>
              <a:rPr lang="en-US" sz="1450" b="1" dirty="0">
                <a:solidFill>
                  <a:srgbClr val="111827"/>
                </a:solidFill>
                <a:latin typeface="Cambria" pitchFamily="34" charset="0"/>
                <a:ea typeface="Cambria" pitchFamily="34" charset="-122"/>
                <a:cs typeface="Cambria" pitchFamily="34" charset="-120"/>
              </a:rPr>
              <a:t>6 actions, all cost-annotated</a:t>
            </a:r>
            <a:endParaRPr lang="en-US" sz="1450" dirty="0"/>
          </a:p>
        </p:txBody>
      </p:sp>
      <p:sp>
        <p:nvSpPr>
          <p:cNvPr id="10" name="Text 8"/>
          <p:cNvSpPr/>
          <p:nvPr/>
        </p:nvSpPr>
        <p:spPr>
          <a:xfrm>
            <a:off x="6675120" y="2944368"/>
            <a:ext cx="4846320" cy="59436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lamp on/off · suggest_break · pulse / pulse-step / full ventilation</a:t>
            </a:r>
            <a:endParaRPr lang="en-US" sz="1200" dirty="0"/>
          </a:p>
        </p:txBody>
      </p:sp>
      <p:sp>
        <p:nvSpPr>
          <p:cNvPr id="11" name="Text 9"/>
          <p:cNvSpPr/>
          <p:nvPr/>
        </p:nvSpPr>
        <p:spPr>
          <a:xfrm>
            <a:off x="6675120" y="3611880"/>
            <a:ext cx="4846320" cy="365760"/>
          </a:xfrm>
          <a:prstGeom prst="rect">
            <a:avLst/>
          </a:prstGeom>
          <a:noFill/>
          <a:ln/>
        </p:spPr>
        <p:txBody>
          <a:bodyPr wrap="square" lIns="0" tIns="0" rIns="0" bIns="0" rtlCol="0" anchor="ctr"/>
          <a:lstStyle/>
          <a:p>
            <a:pPr indent="0" marL="0">
              <a:buNone/>
            </a:pPr>
            <a:r>
              <a:rPr lang="en-US" sz="1450" b="1" dirty="0">
                <a:solidFill>
                  <a:srgbClr val="111827"/>
                </a:solidFill>
                <a:latin typeface="Cambria" pitchFamily="34" charset="0"/>
                <a:ea typeface="Cambria" pitchFamily="34" charset="-122"/>
                <a:cs typeface="Cambria" pitchFamily="34" charset="-120"/>
              </a:rPr>
              <a:t>Discretisation thresholds</a:t>
            </a:r>
            <a:endParaRPr lang="en-US" sz="1450" dirty="0"/>
          </a:p>
        </p:txBody>
      </p:sp>
      <p:sp>
        <p:nvSpPr>
          <p:cNvPr id="12" name="Text 10"/>
          <p:cNvSpPr/>
          <p:nvPr/>
        </p:nvSpPr>
        <p:spPr>
          <a:xfrm>
            <a:off x="6675120" y="3995928"/>
            <a:ext cx="4846320" cy="59436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dark below 40 % light · CO₂ bands at 800 and 1100 ppm · FSM sets break_due</a:t>
            </a:r>
            <a:endParaRPr lang="en-US" sz="1200" dirty="0"/>
          </a:p>
        </p:txBody>
      </p:sp>
      <p:sp>
        <p:nvSpPr>
          <p:cNvPr id="13" name="Text 11"/>
          <p:cNvSpPr/>
          <p:nvPr/>
        </p:nvSpPr>
        <p:spPr>
          <a:xfrm>
            <a:off x="6675120" y="4663440"/>
            <a:ext cx="4846320" cy="365760"/>
          </a:xfrm>
          <a:prstGeom prst="rect">
            <a:avLst/>
          </a:prstGeom>
          <a:noFill/>
          <a:ln/>
        </p:spPr>
        <p:txBody>
          <a:bodyPr wrap="square" lIns="0" tIns="0" rIns="0" bIns="0" rtlCol="0" anchor="ctr"/>
          <a:lstStyle/>
          <a:p>
            <a:pPr indent="0" marL="0">
              <a:buNone/>
            </a:pPr>
            <a:r>
              <a:rPr lang="en-US" sz="1450" b="1" dirty="0">
                <a:solidFill>
                  <a:srgbClr val="111827"/>
                </a:solidFill>
                <a:latin typeface="Cambria" pitchFamily="34" charset="0"/>
                <a:ea typeface="Cambria" pitchFamily="34" charset="-122"/>
                <a:cs typeface="Cambria" pitchFamily="34" charset="-120"/>
              </a:rPr>
              <a:t>Costs are per-instance fluents</a:t>
            </a:r>
            <a:endParaRPr lang="en-US" sz="1450" dirty="0"/>
          </a:p>
        </p:txBody>
      </p:sp>
      <p:sp>
        <p:nvSpPr>
          <p:cNvPr id="14" name="Text 12"/>
          <p:cNvSpPr/>
          <p:nvPr/>
        </p:nvSpPr>
        <p:spPr>
          <a:xfrm>
            <a:off x="6675120" y="5047488"/>
            <a:ext cx="4846320" cy="59436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pulse = 3 fixed · full = 4 + ΔT/2 with ΔT = max(0, 22 °C − T_outdoor), from the heat-loss relation Q ∝ Q_v · ΔT</a:t>
            </a:r>
            <a:endParaRPr lang="en-US" sz="1200" dirty="0"/>
          </a:p>
        </p:txBody>
      </p:sp>
      <p:sp>
        <p:nvSpPr>
          <p:cNvPr id="15" name="Text 13"/>
          <p:cNvSpPr/>
          <p:nvPr/>
        </p:nvSpPr>
        <p:spPr>
          <a:xfrm>
            <a:off x="6675120" y="5715000"/>
            <a:ext cx="4846320" cy="6400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Continuous values are discretised before planning, so the domain stays classical and plans remain provably optimal.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19456"/>
            <a:ext cx="1088136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AI PLANNING · THE SEARCH</a:t>
            </a:r>
            <a:endParaRPr lang="en-US" sz="1100" dirty="0"/>
          </a:p>
        </p:txBody>
      </p:sp>
      <p:sp>
        <p:nvSpPr>
          <p:cNvPr id="3" name="Text 1"/>
          <p:cNvSpPr/>
          <p:nvPr/>
        </p:nvSpPr>
        <p:spPr>
          <a:xfrm>
            <a:off x="640080" y="457200"/>
            <a:ext cx="10881360" cy="640080"/>
          </a:xfrm>
          <a:prstGeom prst="rect">
            <a:avLst/>
          </a:prstGeom>
          <a:noFill/>
          <a:ln/>
        </p:spPr>
        <p:txBody>
          <a:bodyPr wrap="square" lIns="0" tIns="0" rIns="0" bIns="0" rtlCol="0" anchor="ctr"/>
          <a:lstStyle/>
          <a:p>
            <a:pPr indent="0" marL="0">
              <a:buNone/>
            </a:pPr>
            <a:r>
              <a:rPr lang="en-US" sz="3000" b="1" dirty="0">
                <a:solidFill>
                  <a:srgbClr val="111827"/>
                </a:solidFill>
                <a:latin typeface="Cambria" pitchFamily="34" charset="0"/>
                <a:ea typeface="Cambria" pitchFamily="34" charset="-122"/>
                <a:cs typeface="Cambria" pitchFamily="34" charset="-120"/>
              </a:rPr>
              <a:t>Finding the optimum: A* guided by LM-Cut</a:t>
            </a:r>
            <a:endParaRPr lang="en-US" sz="3000" dirty="0"/>
          </a:p>
        </p:txBody>
      </p:sp>
      <p:sp>
        <p:nvSpPr>
          <p:cNvPr id="4" name="Shape 2"/>
          <p:cNvSpPr/>
          <p:nvPr/>
        </p:nvSpPr>
        <p:spPr>
          <a:xfrm>
            <a:off x="2331720" y="2148840"/>
            <a:ext cx="-777240" cy="914400"/>
          </a:xfrm>
          <a:prstGeom prst="line">
            <a:avLst/>
          </a:prstGeom>
          <a:noFill/>
          <a:ln w="25400">
            <a:solidFill>
              <a:srgbClr val="D97706"/>
            </a:solidFill>
            <a:prstDash val="solid"/>
          </a:ln>
        </p:spPr>
      </p:sp>
      <p:sp>
        <p:nvSpPr>
          <p:cNvPr id="5" name="Shape 3"/>
          <p:cNvSpPr/>
          <p:nvPr/>
        </p:nvSpPr>
        <p:spPr>
          <a:xfrm>
            <a:off x="3611880" y="2148840"/>
            <a:ext cx="1325880" cy="914400"/>
          </a:xfrm>
          <a:prstGeom prst="line">
            <a:avLst/>
          </a:prstGeom>
          <a:noFill/>
          <a:ln w="19050">
            <a:solidFill>
              <a:srgbClr val="E5E7EB"/>
            </a:solidFill>
            <a:prstDash val="solid"/>
          </a:ln>
        </p:spPr>
      </p:sp>
      <p:sp>
        <p:nvSpPr>
          <p:cNvPr id="6" name="Shape 4"/>
          <p:cNvSpPr/>
          <p:nvPr/>
        </p:nvSpPr>
        <p:spPr>
          <a:xfrm>
            <a:off x="4937760" y="3566160"/>
            <a:ext cx="0" cy="960120"/>
          </a:xfrm>
          <a:prstGeom prst="line">
            <a:avLst/>
          </a:prstGeom>
          <a:noFill/>
          <a:ln w="19050">
            <a:solidFill>
              <a:srgbClr val="E5E7EB"/>
            </a:solidFill>
            <a:prstDash val="solid"/>
          </a:ln>
        </p:spPr>
      </p:sp>
      <p:sp>
        <p:nvSpPr>
          <p:cNvPr id="7" name="Shape 5"/>
          <p:cNvSpPr/>
          <p:nvPr/>
        </p:nvSpPr>
        <p:spPr>
          <a:xfrm>
            <a:off x="2240280" y="1645920"/>
            <a:ext cx="1874520" cy="502920"/>
          </a:xfrm>
          <a:prstGeom prst="roundRect">
            <a:avLst>
              <a:gd name="adj" fmla="val 12727"/>
            </a:avLst>
          </a:prstGeom>
          <a:solidFill>
            <a:srgbClr val="FFFFFF"/>
          </a:solidFill>
          <a:ln w="12700">
            <a:solidFill>
              <a:srgbClr val="E5E7EB"/>
            </a:solidFill>
            <a:prstDash val="solid"/>
          </a:ln>
        </p:spPr>
      </p:sp>
      <p:sp>
        <p:nvSpPr>
          <p:cNvPr id="8" name="Text 6"/>
          <p:cNvSpPr/>
          <p:nvPr/>
        </p:nvSpPr>
        <p:spPr>
          <a:xfrm>
            <a:off x="2295144" y="1664208"/>
            <a:ext cx="1764792" cy="457200"/>
          </a:xfrm>
          <a:prstGeom prst="rect">
            <a:avLst/>
          </a:prstGeom>
          <a:noFill/>
          <a:ln/>
        </p:spPr>
        <p:txBody>
          <a:bodyPr wrap="square" lIns="0" tIns="0" rIns="0" bIns="0" rtlCol="0" anchor="ctr"/>
          <a:lstStyle/>
          <a:p>
            <a:pPr algn="ctr" indent="0" marL="0">
              <a:buNone/>
            </a:pPr>
            <a:r>
              <a:rPr lang="en-US" sz="1050" dirty="0">
                <a:solidFill>
                  <a:srgbClr val="111827"/>
                </a:solidFill>
                <a:latin typeface="Courier New" pitchFamily="34" charset="0"/>
                <a:ea typeface="Courier New" pitchFamily="34" charset="-122"/>
                <a:cs typeface="Courier New" pitchFamily="34" charset="-120"/>
              </a:rPr>
              <a:t>co2_high · g=0</a:t>
            </a:r>
            <a:endParaRPr lang="en-US" sz="1050" dirty="0"/>
          </a:p>
        </p:txBody>
      </p:sp>
      <p:sp>
        <p:nvSpPr>
          <p:cNvPr id="9" name="Shape 7"/>
          <p:cNvSpPr/>
          <p:nvPr/>
        </p:nvSpPr>
        <p:spPr>
          <a:xfrm>
            <a:off x="640080" y="3063240"/>
            <a:ext cx="1874520" cy="502920"/>
          </a:xfrm>
          <a:prstGeom prst="roundRect">
            <a:avLst>
              <a:gd name="adj" fmla="val 12727"/>
            </a:avLst>
          </a:prstGeom>
          <a:solidFill>
            <a:srgbClr val="E7F3EC"/>
          </a:solidFill>
          <a:ln w="19050">
            <a:solidFill>
              <a:srgbClr val="15803D"/>
            </a:solidFill>
            <a:prstDash val="solid"/>
          </a:ln>
        </p:spPr>
      </p:sp>
      <p:sp>
        <p:nvSpPr>
          <p:cNvPr id="10" name="Text 8"/>
          <p:cNvSpPr/>
          <p:nvPr/>
        </p:nvSpPr>
        <p:spPr>
          <a:xfrm>
            <a:off x="694944" y="3081528"/>
            <a:ext cx="1764792" cy="457200"/>
          </a:xfrm>
          <a:prstGeom prst="rect">
            <a:avLst/>
          </a:prstGeom>
          <a:noFill/>
          <a:ln/>
        </p:spPr>
        <p:txBody>
          <a:bodyPr wrap="square" lIns="0" tIns="0" rIns="0" bIns="0" rtlCol="0" anchor="ctr"/>
          <a:lstStyle/>
          <a:p>
            <a:pPr algn="ctr" indent="0" marL="0">
              <a:buNone/>
            </a:pPr>
            <a:r>
              <a:rPr lang="en-US" sz="1050" b="1" dirty="0">
                <a:solidFill>
                  <a:srgbClr val="15803D"/>
                </a:solidFill>
                <a:latin typeface="Courier New" pitchFamily="34" charset="0"/>
                <a:ea typeface="Courier New" pitchFamily="34" charset="-122"/>
                <a:cs typeface="Courier New" pitchFamily="34" charset="-120"/>
              </a:rPr>
              <a:t>goal ✓ · f=4</a:t>
            </a:r>
            <a:endParaRPr lang="en-US" sz="1050" dirty="0"/>
          </a:p>
        </p:txBody>
      </p:sp>
      <p:sp>
        <p:nvSpPr>
          <p:cNvPr id="11" name="Shape 9"/>
          <p:cNvSpPr/>
          <p:nvPr/>
        </p:nvSpPr>
        <p:spPr>
          <a:xfrm>
            <a:off x="3977640" y="3063240"/>
            <a:ext cx="1874520" cy="502920"/>
          </a:xfrm>
          <a:prstGeom prst="roundRect">
            <a:avLst>
              <a:gd name="adj" fmla="val 12727"/>
            </a:avLst>
          </a:prstGeom>
          <a:solidFill>
            <a:srgbClr val="FFFFFF"/>
          </a:solidFill>
          <a:ln w="12700">
            <a:solidFill>
              <a:srgbClr val="E5E7EB"/>
            </a:solidFill>
            <a:prstDash val="solid"/>
          </a:ln>
        </p:spPr>
      </p:sp>
      <p:sp>
        <p:nvSpPr>
          <p:cNvPr id="12" name="Text 10"/>
          <p:cNvSpPr/>
          <p:nvPr/>
        </p:nvSpPr>
        <p:spPr>
          <a:xfrm>
            <a:off x="4032504" y="3081528"/>
            <a:ext cx="1764792" cy="457200"/>
          </a:xfrm>
          <a:prstGeom prst="rect">
            <a:avLst/>
          </a:prstGeom>
          <a:noFill/>
          <a:ln/>
        </p:spPr>
        <p:txBody>
          <a:bodyPr wrap="square" lIns="0" tIns="0" rIns="0" bIns="0" rtlCol="0" anchor="ctr"/>
          <a:lstStyle/>
          <a:p>
            <a:pPr algn="ctr" indent="0" marL="0">
              <a:buNone/>
            </a:pPr>
            <a:r>
              <a:rPr lang="en-US" sz="1050" dirty="0">
                <a:solidFill>
                  <a:srgbClr val="111827"/>
                </a:solidFill>
                <a:latin typeface="Courier New" pitchFamily="34" charset="0"/>
                <a:ea typeface="Courier New" pitchFamily="34" charset="-122"/>
                <a:cs typeface="Courier New" pitchFamily="34" charset="-120"/>
              </a:rPr>
              <a:t>co2_elevated · g=3</a:t>
            </a:r>
            <a:endParaRPr lang="en-US" sz="1050" dirty="0"/>
          </a:p>
        </p:txBody>
      </p:sp>
      <p:sp>
        <p:nvSpPr>
          <p:cNvPr id="13" name="Shape 11"/>
          <p:cNvSpPr/>
          <p:nvPr/>
        </p:nvSpPr>
        <p:spPr>
          <a:xfrm>
            <a:off x="3977640" y="4526280"/>
            <a:ext cx="1874520" cy="502920"/>
          </a:xfrm>
          <a:prstGeom prst="roundRect">
            <a:avLst>
              <a:gd name="adj" fmla="val 12727"/>
            </a:avLst>
          </a:prstGeom>
          <a:solidFill>
            <a:srgbClr val="FFFFFF"/>
          </a:solidFill>
          <a:ln w="12700">
            <a:solidFill>
              <a:srgbClr val="E5E7EB"/>
            </a:solidFill>
            <a:prstDash val="solid"/>
          </a:ln>
        </p:spPr>
      </p:sp>
      <p:sp>
        <p:nvSpPr>
          <p:cNvPr id="14" name="Text 12"/>
          <p:cNvSpPr/>
          <p:nvPr/>
        </p:nvSpPr>
        <p:spPr>
          <a:xfrm>
            <a:off x="4032504" y="4544568"/>
            <a:ext cx="1764792" cy="457200"/>
          </a:xfrm>
          <a:prstGeom prst="rect">
            <a:avLst/>
          </a:prstGeom>
          <a:noFill/>
          <a:ln/>
        </p:spPr>
        <p:txBody>
          <a:bodyPr wrap="square" lIns="0" tIns="0" rIns="0" bIns="0" rtlCol="0" anchor="ctr"/>
          <a:lstStyle/>
          <a:p>
            <a:pPr algn="ctr" indent="0" marL="0">
              <a:buNone/>
            </a:pPr>
            <a:r>
              <a:rPr lang="en-US" sz="1050" dirty="0">
                <a:solidFill>
                  <a:srgbClr val="111827"/>
                </a:solidFill>
                <a:latin typeface="Courier New" pitchFamily="34" charset="0"/>
                <a:ea typeface="Courier New" pitchFamily="34" charset="-122"/>
                <a:cs typeface="Courier New" pitchFamily="34" charset="-120"/>
              </a:rPr>
              <a:t>goal · f=6</a:t>
            </a:r>
            <a:endParaRPr lang="en-US" sz="1050" dirty="0"/>
          </a:p>
        </p:txBody>
      </p:sp>
      <p:sp>
        <p:nvSpPr>
          <p:cNvPr id="15" name="Text 13"/>
          <p:cNvSpPr/>
          <p:nvPr/>
        </p:nvSpPr>
        <p:spPr>
          <a:xfrm>
            <a:off x="502920" y="2487168"/>
            <a:ext cx="2011680" cy="274320"/>
          </a:xfrm>
          <a:prstGeom prst="rect">
            <a:avLst/>
          </a:prstGeom>
          <a:noFill/>
          <a:ln/>
        </p:spPr>
        <p:txBody>
          <a:bodyPr wrap="square" lIns="0" tIns="0" rIns="0" bIns="0" rtlCol="0" anchor="ctr"/>
          <a:lstStyle/>
          <a:p>
            <a:pPr indent="0" marL="0">
              <a:buNone/>
            </a:pPr>
            <a:r>
              <a:rPr lang="en-US" sz="1000" b="1" dirty="0">
                <a:solidFill>
                  <a:srgbClr val="D97706"/>
                </a:solidFill>
                <a:latin typeface="Courier New" pitchFamily="34" charset="0"/>
                <a:ea typeface="Courier New" pitchFamily="34" charset="-122"/>
                <a:cs typeface="Courier New" pitchFamily="34" charset="-120"/>
              </a:rPr>
              <a:t>full_ventilate  +4</a:t>
            </a:r>
            <a:endParaRPr lang="en-US" sz="1000" dirty="0"/>
          </a:p>
        </p:txBody>
      </p:sp>
      <p:sp>
        <p:nvSpPr>
          <p:cNvPr id="16" name="Text 14"/>
          <p:cNvSpPr/>
          <p:nvPr/>
        </p:nvSpPr>
        <p:spPr>
          <a:xfrm>
            <a:off x="3977640" y="2487168"/>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ourier New" pitchFamily="34" charset="0"/>
                <a:ea typeface="Courier New" pitchFamily="34" charset="-122"/>
                <a:cs typeface="Courier New" pitchFamily="34" charset="-120"/>
              </a:rPr>
              <a:t>pulse_step  +3</a:t>
            </a:r>
            <a:endParaRPr lang="en-US" sz="1000" dirty="0"/>
          </a:p>
        </p:txBody>
      </p:sp>
      <p:sp>
        <p:nvSpPr>
          <p:cNvPr id="17" name="Text 15"/>
          <p:cNvSpPr/>
          <p:nvPr/>
        </p:nvSpPr>
        <p:spPr>
          <a:xfrm>
            <a:off x="5074920" y="3931920"/>
            <a:ext cx="1371600" cy="274320"/>
          </a:xfrm>
          <a:prstGeom prst="rect">
            <a:avLst/>
          </a:prstGeom>
          <a:noFill/>
          <a:ln/>
        </p:spPr>
        <p:txBody>
          <a:bodyPr wrap="square" lIns="0" tIns="0" rIns="0" bIns="0" rtlCol="0" anchor="ctr"/>
          <a:lstStyle/>
          <a:p>
            <a:pPr indent="0" marL="0">
              <a:buNone/>
            </a:pPr>
            <a:r>
              <a:rPr lang="en-US" sz="1000" dirty="0">
                <a:solidFill>
                  <a:srgbClr val="6B7280"/>
                </a:solidFill>
                <a:latin typeface="Courier New" pitchFamily="34" charset="0"/>
                <a:ea typeface="Courier New" pitchFamily="34" charset="-122"/>
                <a:cs typeface="Courier New" pitchFamily="34" charset="-120"/>
              </a:rPr>
              <a:t>pulse  +3</a:t>
            </a:r>
            <a:endParaRPr lang="en-US" sz="1000" dirty="0"/>
          </a:p>
        </p:txBody>
      </p:sp>
      <p:sp>
        <p:nvSpPr>
          <p:cNvPr id="18" name="Text 16"/>
          <p:cNvSpPr/>
          <p:nvPr/>
        </p:nvSpPr>
        <p:spPr>
          <a:xfrm>
            <a:off x="640080" y="5440680"/>
            <a:ext cx="5760720" cy="86868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A* expands the frontier by lowest f. The f=4 goal is reached before the f=6 branch, so [full_ventilate] is returned — guaranteed minimum cost.</a:t>
            </a:r>
            <a:endParaRPr lang="en-US" sz="1200" dirty="0"/>
          </a:p>
        </p:txBody>
      </p:sp>
      <p:sp>
        <p:nvSpPr>
          <p:cNvPr id="19" name="Shape 17"/>
          <p:cNvSpPr/>
          <p:nvPr/>
        </p:nvSpPr>
        <p:spPr>
          <a:xfrm>
            <a:off x="6720840" y="1554480"/>
            <a:ext cx="0" cy="4023360"/>
          </a:xfrm>
          <a:prstGeom prst="line">
            <a:avLst/>
          </a:prstGeom>
          <a:noFill/>
          <a:ln w="12700">
            <a:solidFill>
              <a:srgbClr val="E5E7EB"/>
            </a:solidFill>
            <a:prstDash val="solid"/>
          </a:ln>
        </p:spPr>
      </p:sp>
      <p:sp>
        <p:nvSpPr>
          <p:cNvPr id="20" name="Text 18"/>
          <p:cNvSpPr/>
          <p:nvPr/>
        </p:nvSpPr>
        <p:spPr>
          <a:xfrm>
            <a:off x="6949440" y="1554480"/>
            <a:ext cx="4572000" cy="365760"/>
          </a:xfrm>
          <a:prstGeom prst="rect">
            <a:avLst/>
          </a:prstGeom>
          <a:noFill/>
          <a:ln/>
        </p:spPr>
        <p:txBody>
          <a:bodyPr wrap="square" lIns="0" tIns="0" rIns="0" bIns="0" rtlCol="0" anchor="ctr"/>
          <a:lstStyle/>
          <a:p>
            <a:pPr indent="0" marL="0">
              <a:buNone/>
            </a:pPr>
            <a:r>
              <a:rPr lang="en-US" sz="1500" b="1" dirty="0">
                <a:solidFill>
                  <a:srgbClr val="111827"/>
                </a:solidFill>
                <a:latin typeface="Cambria" pitchFamily="34" charset="0"/>
                <a:ea typeface="Cambria" pitchFamily="34" charset="-122"/>
                <a:cs typeface="Cambria" pitchFamily="34" charset="-120"/>
              </a:rPr>
              <a:t>A*  ·  best-first search</a:t>
            </a:r>
            <a:endParaRPr lang="en-US" sz="1500" dirty="0"/>
          </a:p>
        </p:txBody>
      </p:sp>
      <p:sp>
        <p:nvSpPr>
          <p:cNvPr id="21" name="Text 19"/>
          <p:cNvSpPr/>
          <p:nvPr/>
        </p:nvSpPr>
        <p:spPr>
          <a:xfrm>
            <a:off x="6949440" y="1938528"/>
            <a:ext cx="4617720" cy="914400"/>
          </a:xfrm>
          <a:prstGeom prst="rect">
            <a:avLst/>
          </a:prstGeom>
          <a:noFill/>
          <a:ln/>
        </p:spPr>
        <p:txBody>
          <a:bodyPr wrap="square" lIns="0" tIns="0" rIns="0" bIns="0" rtlCol="0" anchor="ctr"/>
          <a:lstStyle/>
          <a:p>
            <a:pPr indent="0" marL="0">
              <a:lnSpc>
                <a:spcPct val="120000"/>
              </a:lnSpc>
              <a:buNone/>
            </a:pPr>
            <a:r>
              <a:rPr lang="en-US" sz="1250" dirty="0">
                <a:solidFill>
                  <a:srgbClr val="6B7280"/>
                </a:solidFill>
                <a:latin typeface="Calibri" pitchFamily="34" charset="0"/>
                <a:ea typeface="Calibri" pitchFamily="34" charset="-122"/>
                <a:cs typeface="Calibri" pitchFamily="34" charset="-120"/>
              </a:rPr>
              <a:t>Expands states in order of  f = g + h</a:t>
            </a:r>
            <a:endParaRPr lang="en-US" sz="1250" dirty="0"/>
          </a:p>
          <a:p>
            <a:pPr indent="0" marL="0">
              <a:lnSpc>
                <a:spcPct val="120000"/>
              </a:lnSpc>
              <a:buNone/>
            </a:pPr>
            <a:r>
              <a:rPr lang="en-US" sz="1250" dirty="0">
                <a:solidFill>
                  <a:srgbClr val="6B7280"/>
                </a:solidFill>
                <a:latin typeface="Calibri" pitchFamily="34" charset="0"/>
                <a:ea typeface="Calibri" pitchFamily="34" charset="-122"/>
                <a:cs typeface="Calibri" pitchFamily="34" charset="-120"/>
              </a:rPr>
              <a:t> g = cost of the plan so far</a:t>
            </a:r>
            <a:endParaRPr lang="en-US" sz="1250" dirty="0"/>
          </a:p>
          <a:p>
            <a:pPr indent="0" marL="0">
              <a:lnSpc>
                <a:spcPct val="120000"/>
              </a:lnSpc>
              <a:buNone/>
            </a:pPr>
            <a:r>
              <a:rPr lang="en-US" sz="1250" dirty="0">
                <a:solidFill>
                  <a:srgbClr val="6B7280"/>
                </a:solidFill>
                <a:latin typeface="Calibri" pitchFamily="34" charset="0"/>
                <a:ea typeface="Calibri" pitchFamily="34" charset="-122"/>
                <a:cs typeface="Calibri" pitchFamily="34" charset="-120"/>
              </a:rPr>
              <a:t> h = LM-Cut estimate of the cost still to go</a:t>
            </a:r>
            <a:endParaRPr lang="en-US" sz="1250" dirty="0"/>
          </a:p>
        </p:txBody>
      </p:sp>
      <p:sp>
        <p:nvSpPr>
          <p:cNvPr id="22" name="Text 20"/>
          <p:cNvSpPr/>
          <p:nvPr/>
        </p:nvSpPr>
        <p:spPr>
          <a:xfrm>
            <a:off x="6949440" y="3063240"/>
            <a:ext cx="4572000" cy="365760"/>
          </a:xfrm>
          <a:prstGeom prst="rect">
            <a:avLst/>
          </a:prstGeom>
          <a:noFill/>
          <a:ln/>
        </p:spPr>
        <p:txBody>
          <a:bodyPr wrap="square" lIns="0" tIns="0" rIns="0" bIns="0" rtlCol="0" anchor="ctr"/>
          <a:lstStyle/>
          <a:p>
            <a:pPr indent="0" marL="0">
              <a:buNone/>
            </a:pPr>
            <a:r>
              <a:rPr lang="en-US" sz="1500" b="1" dirty="0">
                <a:solidFill>
                  <a:srgbClr val="111827"/>
                </a:solidFill>
                <a:latin typeface="Cambria" pitchFamily="34" charset="0"/>
                <a:ea typeface="Cambria" pitchFamily="34" charset="-122"/>
                <a:cs typeface="Cambria" pitchFamily="34" charset="-120"/>
              </a:rPr>
              <a:t>LM-Cut  ·  admissible heuristic</a:t>
            </a:r>
            <a:endParaRPr lang="en-US" sz="1500" dirty="0"/>
          </a:p>
        </p:txBody>
      </p:sp>
      <p:sp>
        <p:nvSpPr>
          <p:cNvPr id="23" name="Text 21"/>
          <p:cNvSpPr/>
          <p:nvPr/>
        </p:nvSpPr>
        <p:spPr>
          <a:xfrm>
            <a:off x="6949440" y="3447288"/>
            <a:ext cx="4617720" cy="914400"/>
          </a:xfrm>
          <a:prstGeom prst="rect">
            <a:avLst/>
          </a:prstGeom>
          <a:noFill/>
          <a:ln/>
        </p:spPr>
        <p:txBody>
          <a:bodyPr wrap="square" lIns="0" tIns="0" rIns="0" bIns="0" rtlCol="0" anchor="ctr"/>
          <a:lstStyle/>
          <a:p>
            <a:pPr indent="0" marL="0">
              <a:lnSpc>
                <a:spcPct val="120000"/>
              </a:lnSpc>
              <a:buNone/>
            </a:pPr>
            <a:r>
              <a:rPr lang="en-US" sz="1250" dirty="0">
                <a:solidFill>
                  <a:srgbClr val="6B7280"/>
                </a:solidFill>
                <a:latin typeface="Calibri" pitchFamily="34" charset="0"/>
                <a:ea typeface="Calibri" pitchFamily="34" charset="-122"/>
                <a:cs typeface="Calibri" pitchFamily="34" charset="-120"/>
              </a:rPr>
              <a:t>Finds landmarks — action sets every plan must use — and sums their cheapest action. This lower bound never overestimates the real cost.</a:t>
            </a:r>
            <a:endParaRPr lang="en-US" sz="1250" dirty="0"/>
          </a:p>
        </p:txBody>
      </p:sp>
      <p:sp>
        <p:nvSpPr>
          <p:cNvPr id="24" name="Shape 22"/>
          <p:cNvSpPr/>
          <p:nvPr/>
        </p:nvSpPr>
        <p:spPr>
          <a:xfrm>
            <a:off x="6949440" y="4526280"/>
            <a:ext cx="4617720" cy="868680"/>
          </a:xfrm>
          <a:prstGeom prst="roundRect">
            <a:avLst>
              <a:gd name="adj" fmla="val 8421"/>
            </a:avLst>
          </a:prstGeom>
          <a:solidFill>
            <a:srgbClr val="FBEFD9"/>
          </a:solidFill>
          <a:ln/>
        </p:spPr>
      </p:sp>
      <p:sp>
        <p:nvSpPr>
          <p:cNvPr id="25" name="Text 23"/>
          <p:cNvSpPr/>
          <p:nvPr/>
        </p:nvSpPr>
        <p:spPr>
          <a:xfrm>
            <a:off x="7132320" y="4617720"/>
            <a:ext cx="4251960" cy="685800"/>
          </a:xfrm>
          <a:prstGeom prst="rect">
            <a:avLst/>
          </a:prstGeom>
          <a:noFill/>
          <a:ln/>
        </p:spPr>
        <p:txBody>
          <a:bodyPr wrap="square" lIns="0" tIns="0" rIns="0" bIns="0" rtlCol="0" anchor="ctr"/>
          <a:lstStyle/>
          <a:p>
            <a:pPr indent="0" marL="0">
              <a:buNone/>
            </a:pPr>
            <a:r>
              <a:rPr lang="en-US" sz="1250" b="1" dirty="0">
                <a:solidFill>
                  <a:srgbClr val="111827"/>
                </a:solidFill>
                <a:latin typeface="Calibri" pitchFamily="34" charset="0"/>
                <a:ea typeface="Calibri" pitchFamily="34" charset="-122"/>
                <a:cs typeface="Calibri" pitchFamily="34" charset="-120"/>
              </a:rPr>
              <a:t>Because h never overestimates, the first goal A* reaches is provably minimum-cost — optimal, not just feasible.</a:t>
            </a:r>
            <a:endParaRPr lang="en-US" sz="1250" dirty="0"/>
          </a:p>
        </p:txBody>
      </p:sp>
      <p:sp>
        <p:nvSpPr>
          <p:cNvPr id="26" name="Text 24"/>
          <p:cNvSpPr/>
          <p:nvPr/>
        </p:nvSpPr>
        <p:spPr>
          <a:xfrm>
            <a:off x="6949440" y="5532120"/>
            <a:ext cx="4617720" cy="320040"/>
          </a:xfrm>
          <a:prstGeom prst="rect">
            <a:avLst/>
          </a:prstGeom>
          <a:noFill/>
          <a:ln/>
        </p:spPr>
        <p:txBody>
          <a:bodyPr wrap="square" lIns="0" tIns="0" rIns="0" bIns="0" rtlCol="0" anchor="ctr"/>
          <a:lstStyle/>
          <a:p>
            <a:pPr indent="0" marL="0">
              <a:buNone/>
            </a:pPr>
            <a:r>
              <a:rPr lang="en-US" sz="1150" dirty="0">
                <a:solidFill>
                  <a:srgbClr val="D97706"/>
                </a:solidFill>
                <a:latin typeface="Courier New" pitchFamily="34" charset="0"/>
                <a:ea typeface="Courier New" pitchFamily="34" charset="-122"/>
                <a:cs typeface="Courier New" pitchFamily="34" charset="-120"/>
              </a:rPr>
              <a:t>~130 ms end to end · pure search &lt; 2 ms on the Pi 5</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19456"/>
            <a:ext cx="1088136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AI PLANNING · ADAPTING TO COST</a:t>
            </a:r>
            <a:endParaRPr lang="en-US" sz="1100" dirty="0"/>
          </a:p>
        </p:txBody>
      </p:sp>
      <p:sp>
        <p:nvSpPr>
          <p:cNvPr id="3" name="Text 1"/>
          <p:cNvSpPr/>
          <p:nvPr/>
        </p:nvSpPr>
        <p:spPr>
          <a:xfrm>
            <a:off x="640080" y="457200"/>
            <a:ext cx="10881360" cy="640080"/>
          </a:xfrm>
          <a:prstGeom prst="rect">
            <a:avLst/>
          </a:prstGeom>
          <a:noFill/>
          <a:ln/>
        </p:spPr>
        <p:txBody>
          <a:bodyPr wrap="square" lIns="0" tIns="0" rIns="0" bIns="0" rtlCol="0" anchor="ctr"/>
          <a:lstStyle/>
          <a:p>
            <a:pPr indent="0" marL="0">
              <a:buNone/>
            </a:pPr>
            <a:r>
              <a:rPr lang="en-US" sz="3000" b="1" dirty="0">
                <a:solidFill>
                  <a:srgbClr val="111827"/>
                </a:solidFill>
                <a:latin typeface="Cambria" pitchFamily="34" charset="0"/>
                <a:ea typeface="Cambria" pitchFamily="34" charset="-122"/>
                <a:cs typeface="Cambria" pitchFamily="34" charset="-120"/>
              </a:rPr>
              <a:t>Same state, different weather, different plan</a:t>
            </a:r>
            <a:endParaRPr lang="en-US" sz="3000" dirty="0"/>
          </a:p>
        </p:txBody>
      </p:sp>
      <p:sp>
        <p:nvSpPr>
          <p:cNvPr id="4" name="Text 2"/>
          <p:cNvSpPr/>
          <p:nvPr/>
        </p:nvSpPr>
        <p:spPr>
          <a:xfrm>
            <a:off x="640080" y="1481328"/>
            <a:ext cx="10881360" cy="640080"/>
          </a:xfrm>
          <a:prstGeom prst="rect">
            <a:avLst/>
          </a:prstGeom>
          <a:noFill/>
          <a:ln/>
        </p:spPr>
        <p:txBody>
          <a:bodyPr wrap="square" lIns="0" tIns="0" rIns="0" bIns="0" rtlCol="0" anchor="ctr"/>
          <a:lstStyle/>
          <a:p>
            <a:pPr indent="0" marL="0">
              <a:buNone/>
            </a:pPr>
            <a:r>
              <a:rPr lang="en-US" sz="1350" dirty="0">
                <a:solidFill>
                  <a:srgbClr val="6B7280"/>
                </a:solidFill>
                <a:latin typeface="Calibri" pitchFamily="34" charset="0"/>
                <a:ea typeface="Calibri" pitchFamily="34" charset="-122"/>
                <a:cs typeface="Calibri" pitchFamily="34" charset="-120"/>
              </a:rPr>
              <a:t>The goal is identical: clear the high CO₂. The action costs are not — a pulse always costs 3, while a full airing costs 4 + ΔT/2 with ΔT = max(0, 22 °C − T_outdoor), from the heat-loss relation Q ∝ Q_v · ΔT.</a:t>
            </a:r>
            <a:endParaRPr lang="en-US" sz="1350" dirty="0"/>
          </a:p>
        </p:txBody>
      </p:sp>
      <p:sp>
        <p:nvSpPr>
          <p:cNvPr id="5" name="Shape 3"/>
          <p:cNvSpPr/>
          <p:nvPr/>
        </p:nvSpPr>
        <p:spPr>
          <a:xfrm>
            <a:off x="640080" y="2286000"/>
            <a:ext cx="5285232" cy="2697480"/>
          </a:xfrm>
          <a:prstGeom prst="roundRect">
            <a:avLst>
              <a:gd name="adj" fmla="val 3390"/>
            </a:avLst>
          </a:prstGeom>
          <a:solidFill>
            <a:srgbClr val="FFFFFF"/>
          </a:solidFill>
          <a:ln w="15875">
            <a:solidFill>
              <a:srgbClr val="E5E7EB"/>
            </a:solidFill>
            <a:prstDash val="solid"/>
          </a:ln>
        </p:spPr>
      </p:sp>
      <p:sp>
        <p:nvSpPr>
          <p:cNvPr id="6" name="Text 4"/>
          <p:cNvSpPr/>
          <p:nvPr/>
        </p:nvSpPr>
        <p:spPr>
          <a:xfrm>
            <a:off x="896112" y="2487168"/>
            <a:ext cx="4754880" cy="365760"/>
          </a:xfrm>
          <a:prstGeom prst="rect">
            <a:avLst/>
          </a:prstGeom>
          <a:noFill/>
          <a:ln/>
        </p:spPr>
        <p:txBody>
          <a:bodyPr wrap="square" lIns="0" tIns="0" rIns="0" bIns="0" rtlCol="0" anchor="ctr"/>
          <a:lstStyle/>
          <a:p>
            <a:pPr indent="0" marL="0">
              <a:buNone/>
            </a:pPr>
            <a:r>
              <a:rPr lang="en-US" sz="1600" b="1" dirty="0">
                <a:solidFill>
                  <a:srgbClr val="1D4ED8"/>
                </a:solidFill>
                <a:latin typeface="Cambria" pitchFamily="34" charset="0"/>
                <a:ea typeface="Cambria" pitchFamily="34" charset="-122"/>
                <a:cs typeface="Cambria" pitchFamily="34" charset="-120"/>
              </a:rPr>
              <a:t>Winter · 5 °C outside</a:t>
            </a:r>
            <a:endParaRPr lang="en-US" sz="1600" dirty="0"/>
          </a:p>
        </p:txBody>
      </p:sp>
      <p:sp>
        <p:nvSpPr>
          <p:cNvPr id="7" name="Text 5"/>
          <p:cNvSpPr/>
          <p:nvPr/>
        </p:nvSpPr>
        <p:spPr>
          <a:xfrm>
            <a:off x="896112" y="2926080"/>
            <a:ext cx="4846320" cy="320040"/>
          </a:xfrm>
          <a:prstGeom prst="rect">
            <a:avLst/>
          </a:prstGeom>
          <a:noFill/>
          <a:ln/>
        </p:spPr>
        <p:txBody>
          <a:bodyPr wrap="square" lIns="0" tIns="0" rIns="0" bIns="0" rtlCol="0" anchor="ctr"/>
          <a:lstStyle/>
          <a:p>
            <a:pPr indent="0" marL="0">
              <a:buNone/>
            </a:pPr>
            <a:r>
              <a:rPr lang="en-US" sz="1200" dirty="0">
                <a:solidFill>
                  <a:srgbClr val="6B7280"/>
                </a:solidFill>
                <a:latin typeface="Courier New" pitchFamily="34" charset="0"/>
                <a:ea typeface="Courier New" pitchFamily="34" charset="-122"/>
                <a:cs typeface="Courier New" pitchFamily="34" charset="-120"/>
              </a:rPr>
              <a:t>pulse = 3   ·   full = 4 + 17/2 = 12</a:t>
            </a:r>
            <a:endParaRPr lang="en-US" sz="1200" dirty="0"/>
          </a:p>
        </p:txBody>
      </p:sp>
      <p:sp>
        <p:nvSpPr>
          <p:cNvPr id="8" name="Shape 6"/>
          <p:cNvSpPr/>
          <p:nvPr/>
        </p:nvSpPr>
        <p:spPr>
          <a:xfrm>
            <a:off x="896112" y="3364992"/>
            <a:ext cx="4773168" cy="0"/>
          </a:xfrm>
          <a:prstGeom prst="line">
            <a:avLst/>
          </a:prstGeom>
          <a:noFill/>
          <a:ln w="9525">
            <a:solidFill>
              <a:srgbClr val="E5E7EB"/>
            </a:solidFill>
            <a:prstDash val="solid"/>
          </a:ln>
        </p:spPr>
      </p:sp>
      <p:sp>
        <p:nvSpPr>
          <p:cNvPr id="9" name="Text 7"/>
          <p:cNvSpPr/>
          <p:nvPr/>
        </p:nvSpPr>
        <p:spPr>
          <a:xfrm>
            <a:off x="896112" y="3493008"/>
            <a:ext cx="4846320" cy="731520"/>
          </a:xfrm>
          <a:prstGeom prst="rect">
            <a:avLst/>
          </a:prstGeom>
          <a:noFill/>
          <a:ln/>
        </p:spPr>
        <p:txBody>
          <a:bodyPr wrap="square" lIns="0" tIns="0" rIns="0" bIns="0" rtlCol="0" anchor="ctr"/>
          <a:lstStyle/>
          <a:p>
            <a:pPr indent="0" marL="0">
              <a:lnSpc>
                <a:spcPct val="110000"/>
              </a:lnSpc>
              <a:buNone/>
            </a:pPr>
            <a:r>
              <a:rPr lang="en-US" sz="1350" b="1" dirty="0">
                <a:solidFill>
                  <a:srgbClr val="111827"/>
                </a:solidFill>
                <a:latin typeface="Courier New" pitchFamily="34" charset="0"/>
                <a:ea typeface="Courier New" pitchFamily="34" charset="-122"/>
                <a:cs typeface="Courier New" pitchFamily="34" charset="-120"/>
              </a:rPr>
              <a:t>[ pulse_ventilate_step,</a:t>
            </a:r>
            <a:endParaRPr lang="en-US" sz="1350" dirty="0"/>
          </a:p>
          <a:p>
            <a:pPr indent="0" marL="0">
              <a:lnSpc>
                <a:spcPct val="110000"/>
              </a:lnSpc>
              <a:buNone/>
            </a:pPr>
            <a:r>
              <a:rPr lang="en-US" sz="1350" b="1" dirty="0">
                <a:solidFill>
                  <a:srgbClr val="111827"/>
                </a:solidFill>
                <a:latin typeface="Courier New" pitchFamily="34" charset="0"/>
                <a:ea typeface="Courier New" pitchFamily="34" charset="-122"/>
                <a:cs typeface="Courier New" pitchFamily="34" charset="-120"/>
              </a:rPr>
              <a:t>  pulse_ventilate ]</a:t>
            </a:r>
            <a:endParaRPr lang="en-US" sz="1350" dirty="0"/>
          </a:p>
        </p:txBody>
      </p:sp>
      <p:sp>
        <p:nvSpPr>
          <p:cNvPr id="10" name="Text 8"/>
          <p:cNvSpPr/>
          <p:nvPr/>
        </p:nvSpPr>
        <p:spPr>
          <a:xfrm>
            <a:off x="896112" y="4315968"/>
            <a:ext cx="2286000" cy="320040"/>
          </a:xfrm>
          <a:prstGeom prst="rect">
            <a:avLst/>
          </a:prstGeom>
          <a:noFill/>
          <a:ln/>
        </p:spPr>
        <p:txBody>
          <a:bodyPr wrap="square" lIns="0" tIns="0" rIns="0" bIns="0" rtlCol="0" anchor="ctr"/>
          <a:lstStyle/>
          <a:p>
            <a:pPr indent="0" marL="0">
              <a:buNone/>
            </a:pPr>
            <a:r>
              <a:rPr lang="en-US" sz="1500" b="1" dirty="0">
                <a:solidFill>
                  <a:srgbClr val="1D4ED8"/>
                </a:solidFill>
                <a:latin typeface="Cambria" pitchFamily="34" charset="0"/>
                <a:ea typeface="Cambria" pitchFamily="34" charset="-122"/>
                <a:cs typeface="Cambria" pitchFamily="34" charset="-120"/>
              </a:rPr>
              <a:t>total 6  &lt;  12</a:t>
            </a:r>
            <a:endParaRPr lang="en-US" sz="1500" dirty="0"/>
          </a:p>
        </p:txBody>
      </p:sp>
      <p:sp>
        <p:nvSpPr>
          <p:cNvPr id="11" name="Text 9"/>
          <p:cNvSpPr/>
          <p:nvPr/>
        </p:nvSpPr>
        <p:spPr>
          <a:xfrm>
            <a:off x="896112" y="4617720"/>
            <a:ext cx="4846320" cy="32004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two short pulses — the heat stays inside</a:t>
            </a:r>
            <a:endParaRPr lang="en-US" sz="1200" dirty="0"/>
          </a:p>
        </p:txBody>
      </p:sp>
      <p:sp>
        <p:nvSpPr>
          <p:cNvPr id="12" name="Shape 10"/>
          <p:cNvSpPr/>
          <p:nvPr/>
        </p:nvSpPr>
        <p:spPr>
          <a:xfrm>
            <a:off x="6263640" y="2286000"/>
            <a:ext cx="5285232" cy="2697480"/>
          </a:xfrm>
          <a:prstGeom prst="roundRect">
            <a:avLst>
              <a:gd name="adj" fmla="val 3390"/>
            </a:avLst>
          </a:prstGeom>
          <a:solidFill>
            <a:srgbClr val="FFFFFF"/>
          </a:solidFill>
          <a:ln w="15875">
            <a:solidFill>
              <a:srgbClr val="E5E7EB"/>
            </a:solidFill>
            <a:prstDash val="solid"/>
          </a:ln>
        </p:spPr>
      </p:sp>
      <p:sp>
        <p:nvSpPr>
          <p:cNvPr id="13" name="Text 11"/>
          <p:cNvSpPr/>
          <p:nvPr/>
        </p:nvSpPr>
        <p:spPr>
          <a:xfrm>
            <a:off x="6519672" y="2487168"/>
            <a:ext cx="4754880" cy="365760"/>
          </a:xfrm>
          <a:prstGeom prst="rect">
            <a:avLst/>
          </a:prstGeom>
          <a:noFill/>
          <a:ln/>
        </p:spPr>
        <p:txBody>
          <a:bodyPr wrap="square" lIns="0" tIns="0" rIns="0" bIns="0" rtlCol="0" anchor="ctr"/>
          <a:lstStyle/>
          <a:p>
            <a:pPr indent="0" marL="0">
              <a:buNone/>
            </a:pPr>
            <a:r>
              <a:rPr lang="en-US" sz="1600" b="1" dirty="0">
                <a:solidFill>
                  <a:srgbClr val="D97706"/>
                </a:solidFill>
                <a:latin typeface="Cambria" pitchFamily="34" charset="0"/>
                <a:ea typeface="Cambria" pitchFamily="34" charset="-122"/>
                <a:cs typeface="Cambria" pitchFamily="34" charset="-120"/>
              </a:rPr>
              <a:t>Summer · 33 °C outside</a:t>
            </a:r>
            <a:endParaRPr lang="en-US" sz="1600" dirty="0"/>
          </a:p>
        </p:txBody>
      </p:sp>
      <p:sp>
        <p:nvSpPr>
          <p:cNvPr id="14" name="Text 12"/>
          <p:cNvSpPr/>
          <p:nvPr/>
        </p:nvSpPr>
        <p:spPr>
          <a:xfrm>
            <a:off x="6519672" y="2926080"/>
            <a:ext cx="4846320" cy="320040"/>
          </a:xfrm>
          <a:prstGeom prst="rect">
            <a:avLst/>
          </a:prstGeom>
          <a:noFill/>
          <a:ln/>
        </p:spPr>
        <p:txBody>
          <a:bodyPr wrap="square" lIns="0" tIns="0" rIns="0" bIns="0" rtlCol="0" anchor="ctr"/>
          <a:lstStyle/>
          <a:p>
            <a:pPr indent="0" marL="0">
              <a:buNone/>
            </a:pPr>
            <a:r>
              <a:rPr lang="en-US" sz="1200" dirty="0">
                <a:solidFill>
                  <a:srgbClr val="6B7280"/>
                </a:solidFill>
                <a:latin typeface="Courier New" pitchFamily="34" charset="0"/>
                <a:ea typeface="Courier New" pitchFamily="34" charset="-122"/>
                <a:cs typeface="Courier New" pitchFamily="34" charset="-120"/>
              </a:rPr>
              <a:t>pulse = 3   ·   full = 4 + 0 = 4</a:t>
            </a:r>
            <a:endParaRPr lang="en-US" sz="1200" dirty="0"/>
          </a:p>
        </p:txBody>
      </p:sp>
      <p:sp>
        <p:nvSpPr>
          <p:cNvPr id="15" name="Shape 13"/>
          <p:cNvSpPr/>
          <p:nvPr/>
        </p:nvSpPr>
        <p:spPr>
          <a:xfrm>
            <a:off x="6519672" y="3364992"/>
            <a:ext cx="4773168" cy="0"/>
          </a:xfrm>
          <a:prstGeom prst="line">
            <a:avLst/>
          </a:prstGeom>
          <a:noFill/>
          <a:ln w="9525">
            <a:solidFill>
              <a:srgbClr val="E5E7EB"/>
            </a:solidFill>
            <a:prstDash val="solid"/>
          </a:ln>
        </p:spPr>
      </p:sp>
      <p:sp>
        <p:nvSpPr>
          <p:cNvPr id="16" name="Text 14"/>
          <p:cNvSpPr/>
          <p:nvPr/>
        </p:nvSpPr>
        <p:spPr>
          <a:xfrm>
            <a:off x="6519672" y="3493008"/>
            <a:ext cx="4846320" cy="731520"/>
          </a:xfrm>
          <a:prstGeom prst="rect">
            <a:avLst/>
          </a:prstGeom>
          <a:noFill/>
          <a:ln/>
        </p:spPr>
        <p:txBody>
          <a:bodyPr wrap="square" lIns="0" tIns="0" rIns="0" bIns="0" rtlCol="0" anchor="ctr"/>
          <a:lstStyle/>
          <a:p>
            <a:pPr indent="0" marL="0">
              <a:lnSpc>
                <a:spcPct val="110000"/>
              </a:lnSpc>
              <a:buNone/>
            </a:pPr>
            <a:r>
              <a:rPr lang="en-US" sz="1350" b="1" dirty="0">
                <a:solidFill>
                  <a:srgbClr val="111827"/>
                </a:solidFill>
                <a:latin typeface="Courier New" pitchFamily="34" charset="0"/>
                <a:ea typeface="Courier New" pitchFamily="34" charset="-122"/>
                <a:cs typeface="Courier New" pitchFamily="34" charset="-120"/>
              </a:rPr>
              <a:t>[ full_ventilate ]</a:t>
            </a:r>
            <a:endParaRPr lang="en-US" sz="1350" dirty="0"/>
          </a:p>
        </p:txBody>
      </p:sp>
      <p:sp>
        <p:nvSpPr>
          <p:cNvPr id="17" name="Text 15"/>
          <p:cNvSpPr/>
          <p:nvPr/>
        </p:nvSpPr>
        <p:spPr>
          <a:xfrm>
            <a:off x="6519672" y="4315968"/>
            <a:ext cx="2286000" cy="320040"/>
          </a:xfrm>
          <a:prstGeom prst="rect">
            <a:avLst/>
          </a:prstGeom>
          <a:noFill/>
          <a:ln/>
        </p:spPr>
        <p:txBody>
          <a:bodyPr wrap="square" lIns="0" tIns="0" rIns="0" bIns="0" rtlCol="0" anchor="ctr"/>
          <a:lstStyle/>
          <a:p>
            <a:pPr indent="0" marL="0">
              <a:buNone/>
            </a:pPr>
            <a:r>
              <a:rPr lang="en-US" sz="1500" b="1" dirty="0">
                <a:solidFill>
                  <a:srgbClr val="D97706"/>
                </a:solidFill>
                <a:latin typeface="Cambria" pitchFamily="34" charset="0"/>
                <a:ea typeface="Cambria" pitchFamily="34" charset="-122"/>
                <a:cs typeface="Cambria" pitchFamily="34" charset="-120"/>
              </a:rPr>
              <a:t>total 4  &lt;  6</a:t>
            </a:r>
            <a:endParaRPr lang="en-US" sz="1500" dirty="0"/>
          </a:p>
        </p:txBody>
      </p:sp>
      <p:sp>
        <p:nvSpPr>
          <p:cNvPr id="18" name="Text 16"/>
          <p:cNvSpPr/>
          <p:nvPr/>
        </p:nvSpPr>
        <p:spPr>
          <a:xfrm>
            <a:off x="6519672" y="4617720"/>
            <a:ext cx="4846320" cy="32004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one long opening clears the air fastest</a:t>
            </a:r>
            <a:endParaRPr lang="en-US" sz="1200" dirty="0"/>
          </a:p>
        </p:txBody>
      </p:sp>
      <p:sp>
        <p:nvSpPr>
          <p:cNvPr id="19" name="Shape 17"/>
          <p:cNvSpPr/>
          <p:nvPr/>
        </p:nvSpPr>
        <p:spPr>
          <a:xfrm>
            <a:off x="640080" y="5349240"/>
            <a:ext cx="10881360" cy="0"/>
          </a:xfrm>
          <a:prstGeom prst="line">
            <a:avLst/>
          </a:prstGeom>
          <a:noFill/>
          <a:ln w="9525">
            <a:solidFill>
              <a:srgbClr val="E5E7EB"/>
            </a:solidFill>
            <a:prstDash val="solid"/>
          </a:ln>
        </p:spPr>
      </p:sp>
      <p:sp>
        <p:nvSpPr>
          <p:cNvPr id="20" name="Text 18"/>
          <p:cNvSpPr/>
          <p:nvPr/>
        </p:nvSpPr>
        <p:spPr>
          <a:xfrm>
            <a:off x="640080" y="5532120"/>
            <a:ext cx="10881360" cy="731520"/>
          </a:xfrm>
          <a:prstGeom prst="rect">
            <a:avLst/>
          </a:prstGeom>
          <a:noFill/>
          <a:ln/>
        </p:spPr>
        <p:txBody>
          <a:bodyPr wrap="square" lIns="0" tIns="0" rIns="0" bIns="0" rtlCol="0" anchor="ctr"/>
          <a:lstStyle/>
          <a:p>
            <a:pPr indent="0" marL="0">
              <a:buNone/>
            </a:pPr>
            <a:r>
              <a:rPr lang="en-US" sz="1350" b="1" dirty="0">
                <a:solidFill>
                  <a:srgbClr val="111827"/>
                </a:solidFill>
                <a:latin typeface="Calibri" pitchFamily="34" charset="0"/>
                <a:ea typeface="Calibri" pitchFamily="34" charset="-122"/>
                <a:cs typeface="Calibri" pitchFamily="34" charset="-120"/>
              </a:rPr>
              <a:t>Nobody coded “if cold, pulse”.  </a:t>
            </a:r>
            <a:pPr indent="0" marL="0">
              <a:buNone/>
            </a:pPr>
            <a:r>
              <a:rPr lang="en-US" sz="1350" dirty="0">
                <a:solidFill>
                  <a:srgbClr val="6B7280"/>
                </a:solidFill>
                <a:latin typeface="Calibri" pitchFamily="34" charset="0"/>
                <a:ea typeface="Calibri" pitchFamily="34" charset="-122"/>
                <a:cs typeface="Calibri" pitchFamily="34" charset="-120"/>
              </a:rPr>
              <a:t>The winter strategy falls out of the weather-dependent costs — that is what a cost-optimal planner buys us over fixed rules.</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19456"/>
            <a:ext cx="1088136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LIVE</a:t>
            </a:r>
            <a:endParaRPr lang="en-US" sz="1100" dirty="0"/>
          </a:p>
        </p:txBody>
      </p:sp>
      <p:sp>
        <p:nvSpPr>
          <p:cNvPr id="3" name="Text 1"/>
          <p:cNvSpPr/>
          <p:nvPr/>
        </p:nvSpPr>
        <p:spPr>
          <a:xfrm>
            <a:off x="640080" y="457200"/>
            <a:ext cx="10881360" cy="640080"/>
          </a:xfrm>
          <a:prstGeom prst="rect">
            <a:avLst/>
          </a:prstGeom>
          <a:noFill/>
          <a:ln/>
        </p:spPr>
        <p:txBody>
          <a:bodyPr wrap="square" lIns="0" tIns="0" rIns="0" bIns="0" rtlCol="0" anchor="ctr"/>
          <a:lstStyle/>
          <a:p>
            <a:pPr indent="0" marL="0">
              <a:buNone/>
            </a:pPr>
            <a:r>
              <a:rPr lang="en-US" sz="3000" b="1" dirty="0">
                <a:solidFill>
                  <a:srgbClr val="111827"/>
                </a:solidFill>
                <a:latin typeface="Cambria" pitchFamily="34" charset="0"/>
                <a:ea typeface="Cambria" pitchFamily="34" charset="-122"/>
                <a:cs typeface="Cambria" pitchFamily="34" charset="-120"/>
              </a:rPr>
              <a:t>Live demo procedure</a:t>
            </a:r>
            <a:endParaRPr lang="en-US" sz="3000" dirty="0"/>
          </a:p>
        </p:txBody>
      </p:sp>
      <p:sp>
        <p:nvSpPr>
          <p:cNvPr id="4" name="Text 2"/>
          <p:cNvSpPr/>
          <p:nvPr/>
        </p:nvSpPr>
        <p:spPr>
          <a:xfrm>
            <a:off x="640080" y="1664208"/>
            <a:ext cx="502920" cy="502920"/>
          </a:xfrm>
          <a:prstGeom prst="rect">
            <a:avLst/>
          </a:prstGeom>
          <a:noFill/>
          <a:ln/>
        </p:spPr>
        <p:txBody>
          <a:bodyPr wrap="square" lIns="0" tIns="0" rIns="0" bIns="0" rtlCol="0" anchor="ctr"/>
          <a:lstStyle/>
          <a:p>
            <a:pPr indent="0" marL="0">
              <a:buNone/>
            </a:pPr>
            <a:r>
              <a:rPr lang="en-US" sz="2600" b="1" dirty="0">
                <a:solidFill>
                  <a:srgbClr val="D97706"/>
                </a:solidFill>
                <a:latin typeface="Cambria" pitchFamily="34" charset="0"/>
                <a:ea typeface="Cambria" pitchFamily="34" charset="-122"/>
                <a:cs typeface="Cambria" pitchFamily="34" charset="-120"/>
              </a:rPr>
              <a:t>1</a:t>
            </a:r>
            <a:endParaRPr lang="en-US" sz="2600" dirty="0"/>
          </a:p>
        </p:txBody>
      </p:sp>
      <p:sp>
        <p:nvSpPr>
          <p:cNvPr id="5" name="Text 3"/>
          <p:cNvSpPr/>
          <p:nvPr/>
        </p:nvSpPr>
        <p:spPr>
          <a:xfrm>
            <a:off x="1234440" y="1645920"/>
            <a:ext cx="4663440" cy="384048"/>
          </a:xfrm>
          <a:prstGeom prst="rect">
            <a:avLst/>
          </a:prstGeom>
          <a:noFill/>
          <a:ln/>
        </p:spPr>
        <p:txBody>
          <a:bodyPr wrap="square" lIns="0" tIns="0" rIns="0" bIns="0" rtlCol="0" anchor="ctr"/>
          <a:lstStyle/>
          <a:p>
            <a:pPr indent="0" marL="0">
              <a:buNone/>
            </a:pPr>
            <a:r>
              <a:rPr lang="en-US" sz="1600" b="1" dirty="0">
                <a:solidFill>
                  <a:srgbClr val="111827"/>
                </a:solidFill>
                <a:latin typeface="Cambria" pitchFamily="34" charset="0"/>
                <a:ea typeface="Cambria" pitchFamily="34" charset="-122"/>
                <a:cs typeface="Cambria" pitchFamily="34" charset="-120"/>
              </a:rPr>
              <a:t>Sit down</a:t>
            </a:r>
            <a:endParaRPr lang="en-US" sz="1600" dirty="0"/>
          </a:p>
        </p:txBody>
      </p:sp>
      <p:sp>
        <p:nvSpPr>
          <p:cNvPr id="6" name="Text 4"/>
          <p:cNvSpPr/>
          <p:nvPr/>
        </p:nvSpPr>
        <p:spPr>
          <a:xfrm>
            <a:off x="1234440" y="2048256"/>
            <a:ext cx="4663440" cy="54864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occupancy detected, focus session starts</a:t>
            </a:r>
            <a:endParaRPr lang="en-US" sz="1250" dirty="0"/>
          </a:p>
        </p:txBody>
      </p:sp>
      <p:sp>
        <p:nvSpPr>
          <p:cNvPr id="7" name="Shape 5"/>
          <p:cNvSpPr/>
          <p:nvPr/>
        </p:nvSpPr>
        <p:spPr>
          <a:xfrm>
            <a:off x="1234440" y="2724912"/>
            <a:ext cx="4572000" cy="0"/>
          </a:xfrm>
          <a:prstGeom prst="line">
            <a:avLst/>
          </a:prstGeom>
          <a:noFill/>
          <a:ln w="9525">
            <a:solidFill>
              <a:srgbClr val="E5E7EB"/>
            </a:solidFill>
            <a:prstDash val="solid"/>
          </a:ln>
        </p:spPr>
      </p:sp>
      <p:sp>
        <p:nvSpPr>
          <p:cNvPr id="8" name="Text 6"/>
          <p:cNvSpPr/>
          <p:nvPr/>
        </p:nvSpPr>
        <p:spPr>
          <a:xfrm>
            <a:off x="6263640" y="1664208"/>
            <a:ext cx="502920" cy="502920"/>
          </a:xfrm>
          <a:prstGeom prst="rect">
            <a:avLst/>
          </a:prstGeom>
          <a:noFill/>
          <a:ln/>
        </p:spPr>
        <p:txBody>
          <a:bodyPr wrap="square" lIns="0" tIns="0" rIns="0" bIns="0" rtlCol="0" anchor="ctr"/>
          <a:lstStyle/>
          <a:p>
            <a:pPr indent="0" marL="0">
              <a:buNone/>
            </a:pPr>
            <a:r>
              <a:rPr lang="en-US" sz="2600" b="1" dirty="0">
                <a:solidFill>
                  <a:srgbClr val="D97706"/>
                </a:solidFill>
                <a:latin typeface="Cambria" pitchFamily="34" charset="0"/>
                <a:ea typeface="Cambria" pitchFamily="34" charset="-122"/>
                <a:cs typeface="Cambria" pitchFamily="34" charset="-120"/>
              </a:rPr>
              <a:t>2</a:t>
            </a:r>
            <a:endParaRPr lang="en-US" sz="2600" dirty="0"/>
          </a:p>
        </p:txBody>
      </p:sp>
      <p:sp>
        <p:nvSpPr>
          <p:cNvPr id="9" name="Text 7"/>
          <p:cNvSpPr/>
          <p:nvPr/>
        </p:nvSpPr>
        <p:spPr>
          <a:xfrm>
            <a:off x="6858000" y="1645920"/>
            <a:ext cx="4663440" cy="384048"/>
          </a:xfrm>
          <a:prstGeom prst="rect">
            <a:avLst/>
          </a:prstGeom>
          <a:noFill/>
          <a:ln/>
        </p:spPr>
        <p:txBody>
          <a:bodyPr wrap="square" lIns="0" tIns="0" rIns="0" bIns="0" rtlCol="0" anchor="ctr"/>
          <a:lstStyle/>
          <a:p>
            <a:pPr indent="0" marL="0">
              <a:buNone/>
            </a:pPr>
            <a:r>
              <a:rPr lang="en-US" sz="1600" b="1" dirty="0">
                <a:solidFill>
                  <a:srgbClr val="111827"/>
                </a:solidFill>
                <a:latin typeface="Cambria" pitchFamily="34" charset="0"/>
                <a:ea typeface="Cambria" pitchFamily="34" charset="-122"/>
                <a:cs typeface="Cambria" pitchFamily="34" charset="-120"/>
              </a:rPr>
              <a:t>Cover the light sensor</a:t>
            </a:r>
            <a:endParaRPr lang="en-US" sz="1600" dirty="0"/>
          </a:p>
        </p:txBody>
      </p:sp>
      <p:sp>
        <p:nvSpPr>
          <p:cNvPr id="10" name="Text 8"/>
          <p:cNvSpPr/>
          <p:nvPr/>
        </p:nvSpPr>
        <p:spPr>
          <a:xfrm>
            <a:off x="6858000" y="2048256"/>
            <a:ext cx="4663440" cy="54864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normal reaction: the zone turns dark, the planner switches the lamp on</a:t>
            </a:r>
            <a:endParaRPr lang="en-US" sz="1250" dirty="0"/>
          </a:p>
        </p:txBody>
      </p:sp>
      <p:sp>
        <p:nvSpPr>
          <p:cNvPr id="11" name="Shape 9"/>
          <p:cNvSpPr/>
          <p:nvPr/>
        </p:nvSpPr>
        <p:spPr>
          <a:xfrm>
            <a:off x="6858000" y="2724912"/>
            <a:ext cx="4572000" cy="0"/>
          </a:xfrm>
          <a:prstGeom prst="line">
            <a:avLst/>
          </a:prstGeom>
          <a:noFill/>
          <a:ln w="9525">
            <a:solidFill>
              <a:srgbClr val="E5E7EB"/>
            </a:solidFill>
            <a:prstDash val="solid"/>
          </a:ln>
        </p:spPr>
      </p:sp>
      <p:sp>
        <p:nvSpPr>
          <p:cNvPr id="12" name="Text 10"/>
          <p:cNvSpPr/>
          <p:nvPr/>
        </p:nvSpPr>
        <p:spPr>
          <a:xfrm>
            <a:off x="640080" y="3081528"/>
            <a:ext cx="502920" cy="502920"/>
          </a:xfrm>
          <a:prstGeom prst="rect">
            <a:avLst/>
          </a:prstGeom>
          <a:noFill/>
          <a:ln/>
        </p:spPr>
        <p:txBody>
          <a:bodyPr wrap="square" lIns="0" tIns="0" rIns="0" bIns="0" rtlCol="0" anchor="ctr"/>
          <a:lstStyle/>
          <a:p>
            <a:pPr indent="0" marL="0">
              <a:buNone/>
            </a:pPr>
            <a:r>
              <a:rPr lang="en-US" sz="2600" b="1" dirty="0">
                <a:solidFill>
                  <a:srgbClr val="D97706"/>
                </a:solidFill>
                <a:latin typeface="Cambria" pitchFamily="34" charset="0"/>
                <a:ea typeface="Cambria" pitchFamily="34" charset="-122"/>
                <a:cs typeface="Cambria" pitchFamily="34" charset="-120"/>
              </a:rPr>
              <a:t>3</a:t>
            </a:r>
            <a:endParaRPr lang="en-US" sz="2600" dirty="0"/>
          </a:p>
        </p:txBody>
      </p:sp>
      <p:sp>
        <p:nvSpPr>
          <p:cNvPr id="13" name="Text 11"/>
          <p:cNvSpPr/>
          <p:nvPr/>
        </p:nvSpPr>
        <p:spPr>
          <a:xfrm>
            <a:off x="1234440" y="3063240"/>
            <a:ext cx="4663440" cy="384048"/>
          </a:xfrm>
          <a:prstGeom prst="rect">
            <a:avLst/>
          </a:prstGeom>
          <a:noFill/>
          <a:ln/>
        </p:spPr>
        <p:txBody>
          <a:bodyPr wrap="square" lIns="0" tIns="0" rIns="0" bIns="0" rtlCol="0" anchor="ctr"/>
          <a:lstStyle/>
          <a:p>
            <a:pPr indent="0" marL="0">
              <a:buNone/>
            </a:pPr>
            <a:r>
              <a:rPr lang="en-US" sz="1600" b="1" dirty="0">
                <a:solidFill>
                  <a:srgbClr val="111827"/>
                </a:solidFill>
                <a:latin typeface="Cambria" pitchFamily="34" charset="0"/>
                <a:ea typeface="Cambria" pitchFamily="34" charset="-122"/>
                <a:cs typeface="Cambria" pitchFamily="34" charset="-120"/>
              </a:rPr>
              <a:t>Switch the lamp off by hand</a:t>
            </a:r>
            <a:endParaRPr lang="en-US" sz="1600" dirty="0"/>
          </a:p>
        </p:txBody>
      </p:sp>
      <p:sp>
        <p:nvSpPr>
          <p:cNvPr id="14" name="Text 12"/>
          <p:cNvSpPr/>
          <p:nvPr/>
        </p:nvSpPr>
        <p:spPr>
          <a:xfrm>
            <a:off x="1234440" y="3465576"/>
            <a:ext cx="4663440" cy="54864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an external disturbance: 'lit' no longer holds, so the planner re-lights it in under 1 s</a:t>
            </a:r>
            <a:endParaRPr lang="en-US" sz="1250" dirty="0"/>
          </a:p>
        </p:txBody>
      </p:sp>
      <p:sp>
        <p:nvSpPr>
          <p:cNvPr id="15" name="Shape 13"/>
          <p:cNvSpPr/>
          <p:nvPr/>
        </p:nvSpPr>
        <p:spPr>
          <a:xfrm>
            <a:off x="1234440" y="4142232"/>
            <a:ext cx="4572000" cy="0"/>
          </a:xfrm>
          <a:prstGeom prst="line">
            <a:avLst/>
          </a:prstGeom>
          <a:noFill/>
          <a:ln w="9525">
            <a:solidFill>
              <a:srgbClr val="E5E7EB"/>
            </a:solidFill>
            <a:prstDash val="solid"/>
          </a:ln>
        </p:spPr>
      </p:sp>
      <p:sp>
        <p:nvSpPr>
          <p:cNvPr id="16" name="Text 14"/>
          <p:cNvSpPr/>
          <p:nvPr/>
        </p:nvSpPr>
        <p:spPr>
          <a:xfrm>
            <a:off x="6263640" y="3081528"/>
            <a:ext cx="502920" cy="502920"/>
          </a:xfrm>
          <a:prstGeom prst="rect">
            <a:avLst/>
          </a:prstGeom>
          <a:noFill/>
          <a:ln/>
        </p:spPr>
        <p:txBody>
          <a:bodyPr wrap="square" lIns="0" tIns="0" rIns="0" bIns="0" rtlCol="0" anchor="ctr"/>
          <a:lstStyle/>
          <a:p>
            <a:pPr indent="0" marL="0">
              <a:buNone/>
            </a:pPr>
            <a:r>
              <a:rPr lang="en-US" sz="2600" b="1" dirty="0">
                <a:solidFill>
                  <a:srgbClr val="D97706"/>
                </a:solidFill>
                <a:latin typeface="Cambria" pitchFamily="34" charset="0"/>
                <a:ea typeface="Cambria" pitchFamily="34" charset="-122"/>
                <a:cs typeface="Cambria" pitchFamily="34" charset="-120"/>
              </a:rPr>
              <a:t>4</a:t>
            </a:r>
            <a:endParaRPr lang="en-US" sz="2600" dirty="0"/>
          </a:p>
        </p:txBody>
      </p:sp>
      <p:sp>
        <p:nvSpPr>
          <p:cNvPr id="17" name="Text 15"/>
          <p:cNvSpPr/>
          <p:nvPr/>
        </p:nvSpPr>
        <p:spPr>
          <a:xfrm>
            <a:off x="6858000" y="3063240"/>
            <a:ext cx="4663440" cy="384048"/>
          </a:xfrm>
          <a:prstGeom prst="rect">
            <a:avLst/>
          </a:prstGeom>
          <a:noFill/>
          <a:ln/>
        </p:spPr>
        <p:txBody>
          <a:bodyPr wrap="square" lIns="0" tIns="0" rIns="0" bIns="0" rtlCol="0" anchor="ctr"/>
          <a:lstStyle/>
          <a:p>
            <a:pPr indent="0" marL="0">
              <a:buNone/>
            </a:pPr>
            <a:r>
              <a:rPr lang="en-US" sz="1600" b="1" dirty="0">
                <a:solidFill>
                  <a:srgbClr val="111827"/>
                </a:solidFill>
                <a:latin typeface="Cambria" pitchFamily="34" charset="0"/>
                <a:ea typeface="Cambria" pitchFamily="34" charset="-122"/>
                <a:cs typeface="Cambria" pitchFamily="34" charset="-120"/>
              </a:rPr>
              <a:t>Keep focusing</a:t>
            </a:r>
            <a:endParaRPr lang="en-US" sz="1600" dirty="0"/>
          </a:p>
        </p:txBody>
      </p:sp>
      <p:sp>
        <p:nvSpPr>
          <p:cNvPr id="18" name="Text 16"/>
          <p:cNvSpPr/>
          <p:nvPr/>
        </p:nvSpPr>
        <p:spPr>
          <a:xfrm>
            <a:off x="6858000" y="3465576"/>
            <a:ext cx="4663440" cy="54864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after 2 min: LED and gentle buzzer suggest a break</a:t>
            </a:r>
            <a:endParaRPr lang="en-US" sz="1250" dirty="0"/>
          </a:p>
        </p:txBody>
      </p:sp>
      <p:sp>
        <p:nvSpPr>
          <p:cNvPr id="19" name="Shape 17"/>
          <p:cNvSpPr/>
          <p:nvPr/>
        </p:nvSpPr>
        <p:spPr>
          <a:xfrm>
            <a:off x="6858000" y="4142232"/>
            <a:ext cx="4572000" cy="0"/>
          </a:xfrm>
          <a:prstGeom prst="line">
            <a:avLst/>
          </a:prstGeom>
          <a:noFill/>
          <a:ln w="9525">
            <a:solidFill>
              <a:srgbClr val="E5E7EB"/>
            </a:solidFill>
            <a:prstDash val="solid"/>
          </a:ln>
        </p:spPr>
      </p:sp>
      <p:sp>
        <p:nvSpPr>
          <p:cNvPr id="20" name="Text 18"/>
          <p:cNvSpPr/>
          <p:nvPr/>
        </p:nvSpPr>
        <p:spPr>
          <a:xfrm>
            <a:off x="640080" y="4498848"/>
            <a:ext cx="502920" cy="502920"/>
          </a:xfrm>
          <a:prstGeom prst="rect">
            <a:avLst/>
          </a:prstGeom>
          <a:noFill/>
          <a:ln/>
        </p:spPr>
        <p:txBody>
          <a:bodyPr wrap="square" lIns="0" tIns="0" rIns="0" bIns="0" rtlCol="0" anchor="ctr"/>
          <a:lstStyle/>
          <a:p>
            <a:pPr indent="0" marL="0">
              <a:buNone/>
            </a:pPr>
            <a:r>
              <a:rPr lang="en-US" sz="2600" b="1" dirty="0">
                <a:solidFill>
                  <a:srgbClr val="D97706"/>
                </a:solidFill>
                <a:latin typeface="Cambria" pitchFamily="34" charset="0"/>
                <a:ea typeface="Cambria" pitchFamily="34" charset="-122"/>
                <a:cs typeface="Cambria" pitchFamily="34" charset="-120"/>
              </a:rPr>
              <a:t>5</a:t>
            </a:r>
            <a:endParaRPr lang="en-US" sz="2600" dirty="0"/>
          </a:p>
        </p:txBody>
      </p:sp>
      <p:sp>
        <p:nvSpPr>
          <p:cNvPr id="21" name="Text 19"/>
          <p:cNvSpPr/>
          <p:nvPr/>
        </p:nvSpPr>
        <p:spPr>
          <a:xfrm>
            <a:off x="1234440" y="4480560"/>
            <a:ext cx="4663440" cy="384048"/>
          </a:xfrm>
          <a:prstGeom prst="rect">
            <a:avLst/>
          </a:prstGeom>
          <a:noFill/>
          <a:ln/>
        </p:spPr>
        <p:txBody>
          <a:bodyPr wrap="square" lIns="0" tIns="0" rIns="0" bIns="0" rtlCol="0" anchor="ctr"/>
          <a:lstStyle/>
          <a:p>
            <a:pPr indent="0" marL="0">
              <a:buNone/>
            </a:pPr>
            <a:r>
              <a:rPr lang="en-US" sz="1600" b="1" dirty="0">
                <a:solidFill>
                  <a:srgbClr val="111827"/>
                </a:solidFill>
                <a:latin typeface="Cambria" pitchFamily="34" charset="0"/>
                <a:ea typeface="Cambria" pitchFamily="34" charset="-122"/>
                <a:cs typeface="Cambria" pitchFamily="34" charset="-120"/>
              </a:rPr>
              <a:t>CO₂ rises</a:t>
            </a:r>
            <a:endParaRPr lang="en-US" sz="1600" dirty="0"/>
          </a:p>
        </p:txBody>
      </p:sp>
      <p:sp>
        <p:nvSpPr>
          <p:cNvPr id="22" name="Text 20"/>
          <p:cNvSpPr/>
          <p:nvPr/>
        </p:nvSpPr>
        <p:spPr>
          <a:xfrm>
            <a:off x="1234440" y="4882896"/>
            <a:ext cx="4663440" cy="54864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the planner opens the windows on the floor plan, CO₂ falls again</a:t>
            </a:r>
            <a:endParaRPr lang="en-US" sz="1250" dirty="0"/>
          </a:p>
        </p:txBody>
      </p:sp>
      <p:sp>
        <p:nvSpPr>
          <p:cNvPr id="23" name="Shape 21"/>
          <p:cNvSpPr/>
          <p:nvPr/>
        </p:nvSpPr>
        <p:spPr>
          <a:xfrm>
            <a:off x="1234440" y="5559552"/>
            <a:ext cx="4572000" cy="0"/>
          </a:xfrm>
          <a:prstGeom prst="line">
            <a:avLst/>
          </a:prstGeom>
          <a:noFill/>
          <a:ln w="9525">
            <a:solidFill>
              <a:srgbClr val="E5E7EB"/>
            </a:solidFill>
            <a:prstDash val="solid"/>
          </a:ln>
        </p:spPr>
      </p:sp>
      <p:sp>
        <p:nvSpPr>
          <p:cNvPr id="24" name="Text 22"/>
          <p:cNvSpPr/>
          <p:nvPr/>
        </p:nvSpPr>
        <p:spPr>
          <a:xfrm>
            <a:off x="6263640" y="4498848"/>
            <a:ext cx="502920" cy="502920"/>
          </a:xfrm>
          <a:prstGeom prst="rect">
            <a:avLst/>
          </a:prstGeom>
          <a:noFill/>
          <a:ln/>
        </p:spPr>
        <p:txBody>
          <a:bodyPr wrap="square" lIns="0" tIns="0" rIns="0" bIns="0" rtlCol="0" anchor="ctr"/>
          <a:lstStyle/>
          <a:p>
            <a:pPr indent="0" marL="0">
              <a:buNone/>
            </a:pPr>
            <a:r>
              <a:rPr lang="en-US" sz="2600" b="1" dirty="0">
                <a:solidFill>
                  <a:srgbClr val="D97706"/>
                </a:solidFill>
                <a:latin typeface="Cambria" pitchFamily="34" charset="0"/>
                <a:ea typeface="Cambria" pitchFamily="34" charset="-122"/>
                <a:cs typeface="Cambria" pitchFamily="34" charset="-120"/>
              </a:rPr>
              <a:t>6</a:t>
            </a:r>
            <a:endParaRPr lang="en-US" sz="2600" dirty="0"/>
          </a:p>
        </p:txBody>
      </p:sp>
      <p:sp>
        <p:nvSpPr>
          <p:cNvPr id="25" name="Text 23"/>
          <p:cNvSpPr/>
          <p:nvPr/>
        </p:nvSpPr>
        <p:spPr>
          <a:xfrm>
            <a:off x="6858000" y="4480560"/>
            <a:ext cx="4663440" cy="384048"/>
          </a:xfrm>
          <a:prstGeom prst="rect">
            <a:avLst/>
          </a:prstGeom>
          <a:noFill/>
          <a:ln/>
        </p:spPr>
        <p:txBody>
          <a:bodyPr wrap="square" lIns="0" tIns="0" rIns="0" bIns="0" rtlCol="0" anchor="ctr"/>
          <a:lstStyle/>
          <a:p>
            <a:pPr indent="0" marL="0">
              <a:buNone/>
            </a:pPr>
            <a:r>
              <a:rPr lang="en-US" sz="1600" b="1" dirty="0">
                <a:solidFill>
                  <a:srgbClr val="111827"/>
                </a:solidFill>
                <a:latin typeface="Cambria" pitchFamily="34" charset="0"/>
                <a:ea typeface="Cambria" pitchFamily="34" charset="-122"/>
                <a:cs typeface="Cambria" pitchFamily="34" charset="-120"/>
              </a:rPr>
              <a:t>Walk away</a:t>
            </a:r>
            <a:endParaRPr lang="en-US" sz="1600" dirty="0"/>
          </a:p>
        </p:txBody>
      </p:sp>
      <p:sp>
        <p:nvSpPr>
          <p:cNvPr id="26" name="Text 24"/>
          <p:cNvSpPr/>
          <p:nvPr/>
        </p:nvSpPr>
        <p:spPr>
          <a:xfrm>
            <a:off x="6858000" y="4882896"/>
            <a:ext cx="4663440" cy="54864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zone empties, lamp switches off to save energy</a:t>
            </a:r>
            <a:endParaRPr lang="en-US" sz="1250" dirty="0"/>
          </a:p>
        </p:txBody>
      </p:sp>
      <p:sp>
        <p:nvSpPr>
          <p:cNvPr id="27" name="Shape 25"/>
          <p:cNvSpPr/>
          <p:nvPr/>
        </p:nvSpPr>
        <p:spPr>
          <a:xfrm>
            <a:off x="6858000" y="5559552"/>
            <a:ext cx="4572000" cy="0"/>
          </a:xfrm>
          <a:prstGeom prst="line">
            <a:avLst/>
          </a:prstGeom>
          <a:noFill/>
          <a:ln w="9525">
            <a:solidFill>
              <a:srgbClr val="E5E7EB"/>
            </a:solidFill>
            <a:prstDash val="solid"/>
          </a:ln>
        </p:spPr>
      </p:sp>
      <p:sp>
        <p:nvSpPr>
          <p:cNvPr id="28" name="Text 26"/>
          <p:cNvSpPr/>
          <p:nvPr/>
        </p:nvSpPr>
        <p:spPr>
          <a:xfrm>
            <a:off x="640080" y="6080760"/>
            <a:ext cx="10881360" cy="36576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We start on the simulated 6-seat floor plan for context, then hide it and focus on the one real seat.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219456"/>
            <a:ext cx="1088136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COURSE REQUIREMENTS</a:t>
            </a:r>
            <a:endParaRPr lang="en-US" sz="1100" dirty="0"/>
          </a:p>
        </p:txBody>
      </p:sp>
      <p:sp>
        <p:nvSpPr>
          <p:cNvPr id="3" name="Text 1"/>
          <p:cNvSpPr/>
          <p:nvPr/>
        </p:nvSpPr>
        <p:spPr>
          <a:xfrm>
            <a:off x="640080" y="457200"/>
            <a:ext cx="10881360" cy="640080"/>
          </a:xfrm>
          <a:prstGeom prst="rect">
            <a:avLst/>
          </a:prstGeom>
          <a:noFill/>
          <a:ln/>
        </p:spPr>
        <p:txBody>
          <a:bodyPr wrap="square" lIns="0" tIns="0" rIns="0" bIns="0" rtlCol="0" anchor="ctr"/>
          <a:lstStyle/>
          <a:p>
            <a:pPr indent="0" marL="0">
              <a:buNone/>
            </a:pPr>
            <a:r>
              <a:rPr lang="en-US" sz="3000" b="1" dirty="0">
                <a:solidFill>
                  <a:srgbClr val="111827"/>
                </a:solidFill>
                <a:latin typeface="Cambria" pitchFamily="34" charset="0"/>
                <a:ea typeface="Cambria" pitchFamily="34" charset="-122"/>
                <a:cs typeface="Cambria" pitchFamily="34" charset="-120"/>
              </a:rPr>
              <a:t>All six requirements are met</a:t>
            </a:r>
            <a:endParaRPr lang="en-US" sz="3000" dirty="0"/>
          </a:p>
        </p:txBody>
      </p:sp>
      <p:sp>
        <p:nvSpPr>
          <p:cNvPr id="4" name="Text 2"/>
          <p:cNvSpPr/>
          <p:nvPr/>
        </p:nvSpPr>
        <p:spPr>
          <a:xfrm>
            <a:off x="640080" y="1600200"/>
            <a:ext cx="365760" cy="365760"/>
          </a:xfrm>
          <a:prstGeom prst="rect">
            <a:avLst/>
          </a:prstGeom>
          <a:noFill/>
          <a:ln/>
        </p:spPr>
        <p:txBody>
          <a:bodyPr wrap="square" lIns="0" tIns="0" rIns="0" bIns="0" rtlCol="0" anchor="ctr"/>
          <a:lstStyle/>
          <a:p>
            <a:pPr indent="0" marL="0">
              <a:buNone/>
            </a:pPr>
            <a:r>
              <a:rPr lang="en-US" sz="1600" b="1" dirty="0">
                <a:solidFill>
                  <a:srgbClr val="15803D"/>
                </a:solidFill>
                <a:latin typeface="Calibri" pitchFamily="34" charset="0"/>
                <a:ea typeface="Calibri" pitchFamily="34" charset="-122"/>
                <a:cs typeface="Calibri" pitchFamily="34" charset="-120"/>
              </a:rPr>
              <a:t>✓</a:t>
            </a:r>
            <a:endParaRPr lang="en-US" sz="1600" dirty="0"/>
          </a:p>
        </p:txBody>
      </p:sp>
      <p:sp>
        <p:nvSpPr>
          <p:cNvPr id="5" name="Text 3"/>
          <p:cNvSpPr/>
          <p:nvPr/>
        </p:nvSpPr>
        <p:spPr>
          <a:xfrm>
            <a:off x="1143000" y="1618488"/>
            <a:ext cx="3291840" cy="365760"/>
          </a:xfrm>
          <a:prstGeom prst="rect">
            <a:avLst/>
          </a:prstGeom>
          <a:noFill/>
          <a:ln/>
        </p:spPr>
        <p:txBody>
          <a:bodyPr wrap="square" lIns="0" tIns="0" rIns="0" bIns="0" rtlCol="0" anchor="ctr"/>
          <a:lstStyle/>
          <a:p>
            <a:pPr indent="0" marL="0">
              <a:buNone/>
            </a:pPr>
            <a:r>
              <a:rPr lang="en-US" sz="1450" b="1" dirty="0">
                <a:solidFill>
                  <a:srgbClr val="111827"/>
                </a:solidFill>
                <a:latin typeface="Cambria" pitchFamily="34" charset="0"/>
                <a:ea typeface="Cambria" pitchFamily="34" charset="-122"/>
                <a:cs typeface="Cambria" pitchFamily="34" charset="-120"/>
              </a:rPr>
              <a:t>System distribution</a:t>
            </a:r>
            <a:endParaRPr lang="en-US" sz="1450" dirty="0"/>
          </a:p>
        </p:txBody>
      </p:sp>
      <p:sp>
        <p:nvSpPr>
          <p:cNvPr id="6" name="Text 4"/>
          <p:cNvSpPr/>
          <p:nvPr/>
        </p:nvSpPr>
        <p:spPr>
          <a:xfrm>
            <a:off x="4572000" y="1636776"/>
            <a:ext cx="6949440" cy="36576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2 Raspberry Pis, own WiFi in demo mode, 10 systemd services</a:t>
            </a:r>
            <a:endParaRPr lang="en-US" sz="1250" dirty="0"/>
          </a:p>
        </p:txBody>
      </p:sp>
      <p:sp>
        <p:nvSpPr>
          <p:cNvPr id="7" name="Shape 5"/>
          <p:cNvSpPr/>
          <p:nvPr/>
        </p:nvSpPr>
        <p:spPr>
          <a:xfrm>
            <a:off x="640080" y="2103120"/>
            <a:ext cx="10881360" cy="0"/>
          </a:xfrm>
          <a:prstGeom prst="line">
            <a:avLst/>
          </a:prstGeom>
          <a:noFill/>
          <a:ln w="9525">
            <a:solidFill>
              <a:srgbClr val="E5E7EB"/>
            </a:solidFill>
            <a:prstDash val="solid"/>
          </a:ln>
        </p:spPr>
      </p:sp>
      <p:sp>
        <p:nvSpPr>
          <p:cNvPr id="8" name="Text 6"/>
          <p:cNvSpPr/>
          <p:nvPr/>
        </p:nvSpPr>
        <p:spPr>
          <a:xfrm>
            <a:off x="640080" y="2313432"/>
            <a:ext cx="365760" cy="365760"/>
          </a:xfrm>
          <a:prstGeom prst="rect">
            <a:avLst/>
          </a:prstGeom>
          <a:noFill/>
          <a:ln/>
        </p:spPr>
        <p:txBody>
          <a:bodyPr wrap="square" lIns="0" tIns="0" rIns="0" bIns="0" rtlCol="0" anchor="ctr"/>
          <a:lstStyle/>
          <a:p>
            <a:pPr indent="0" marL="0">
              <a:buNone/>
            </a:pPr>
            <a:r>
              <a:rPr lang="en-US" sz="1600" b="1" dirty="0">
                <a:solidFill>
                  <a:srgbClr val="15803D"/>
                </a:solidFill>
                <a:latin typeface="Calibri" pitchFamily="34" charset="0"/>
                <a:ea typeface="Calibri" pitchFamily="34" charset="-122"/>
                <a:cs typeface="Calibri" pitchFamily="34" charset="-120"/>
              </a:rPr>
              <a:t>✓</a:t>
            </a:r>
            <a:endParaRPr lang="en-US" sz="1600" dirty="0"/>
          </a:p>
        </p:txBody>
      </p:sp>
      <p:sp>
        <p:nvSpPr>
          <p:cNvPr id="9" name="Text 7"/>
          <p:cNvSpPr/>
          <p:nvPr/>
        </p:nvSpPr>
        <p:spPr>
          <a:xfrm>
            <a:off x="1143000" y="2331720"/>
            <a:ext cx="3291840" cy="365760"/>
          </a:xfrm>
          <a:prstGeom prst="rect">
            <a:avLst/>
          </a:prstGeom>
          <a:noFill/>
          <a:ln/>
        </p:spPr>
        <p:txBody>
          <a:bodyPr wrap="square" lIns="0" tIns="0" rIns="0" bIns="0" rtlCol="0" anchor="ctr"/>
          <a:lstStyle/>
          <a:p>
            <a:pPr indent="0" marL="0">
              <a:buNone/>
            </a:pPr>
            <a:r>
              <a:rPr lang="en-US" sz="1450" b="1" dirty="0">
                <a:solidFill>
                  <a:srgbClr val="111827"/>
                </a:solidFill>
                <a:latin typeface="Cambria" pitchFamily="34" charset="0"/>
                <a:ea typeface="Cambria" pitchFamily="34" charset="-122"/>
                <a:cs typeface="Cambria" pitchFamily="34" charset="-120"/>
              </a:rPr>
              <a:t>Indirect communication</a:t>
            </a:r>
            <a:endParaRPr lang="en-US" sz="1450" dirty="0"/>
          </a:p>
        </p:txBody>
      </p:sp>
      <p:sp>
        <p:nvSpPr>
          <p:cNvPr id="10" name="Text 8"/>
          <p:cNvSpPr/>
          <p:nvPr/>
        </p:nvSpPr>
        <p:spPr>
          <a:xfrm>
            <a:off x="4572000" y="2350008"/>
            <a:ext cx="6949440" cy="36576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MQTT publish/subscribe only, retained latest-value topics</a:t>
            </a:r>
            <a:endParaRPr lang="en-US" sz="1250" dirty="0"/>
          </a:p>
        </p:txBody>
      </p:sp>
      <p:sp>
        <p:nvSpPr>
          <p:cNvPr id="11" name="Shape 9"/>
          <p:cNvSpPr/>
          <p:nvPr/>
        </p:nvSpPr>
        <p:spPr>
          <a:xfrm>
            <a:off x="640080" y="2816352"/>
            <a:ext cx="10881360" cy="0"/>
          </a:xfrm>
          <a:prstGeom prst="line">
            <a:avLst/>
          </a:prstGeom>
          <a:noFill/>
          <a:ln w="9525">
            <a:solidFill>
              <a:srgbClr val="E5E7EB"/>
            </a:solidFill>
            <a:prstDash val="solid"/>
          </a:ln>
        </p:spPr>
      </p:sp>
      <p:sp>
        <p:nvSpPr>
          <p:cNvPr id="12" name="Text 10"/>
          <p:cNvSpPr/>
          <p:nvPr/>
        </p:nvSpPr>
        <p:spPr>
          <a:xfrm>
            <a:off x="640080" y="3026664"/>
            <a:ext cx="365760" cy="365760"/>
          </a:xfrm>
          <a:prstGeom prst="rect">
            <a:avLst/>
          </a:prstGeom>
          <a:noFill/>
          <a:ln/>
        </p:spPr>
        <p:txBody>
          <a:bodyPr wrap="square" lIns="0" tIns="0" rIns="0" bIns="0" rtlCol="0" anchor="ctr"/>
          <a:lstStyle/>
          <a:p>
            <a:pPr indent="0" marL="0">
              <a:buNone/>
            </a:pPr>
            <a:r>
              <a:rPr lang="en-US" sz="1600" b="1" dirty="0">
                <a:solidFill>
                  <a:srgbClr val="15803D"/>
                </a:solidFill>
                <a:latin typeface="Calibri" pitchFamily="34" charset="0"/>
                <a:ea typeface="Calibri" pitchFamily="34" charset="-122"/>
                <a:cs typeface="Calibri" pitchFamily="34" charset="-120"/>
              </a:rPr>
              <a:t>✓</a:t>
            </a:r>
            <a:endParaRPr lang="en-US" sz="1600" dirty="0"/>
          </a:p>
        </p:txBody>
      </p:sp>
      <p:sp>
        <p:nvSpPr>
          <p:cNvPr id="13" name="Text 11"/>
          <p:cNvSpPr/>
          <p:nvPr/>
        </p:nvSpPr>
        <p:spPr>
          <a:xfrm>
            <a:off x="1143000" y="3044952"/>
            <a:ext cx="3291840" cy="365760"/>
          </a:xfrm>
          <a:prstGeom prst="rect">
            <a:avLst/>
          </a:prstGeom>
          <a:noFill/>
          <a:ln/>
        </p:spPr>
        <p:txBody>
          <a:bodyPr wrap="square" lIns="0" tIns="0" rIns="0" bIns="0" rtlCol="0" anchor="ctr"/>
          <a:lstStyle/>
          <a:p>
            <a:pPr indent="0" marL="0">
              <a:buNone/>
            </a:pPr>
            <a:r>
              <a:rPr lang="en-US" sz="1450" b="1" dirty="0">
                <a:solidFill>
                  <a:srgbClr val="111827"/>
                </a:solidFill>
                <a:latin typeface="Cambria" pitchFamily="34" charset="0"/>
                <a:ea typeface="Cambria" pitchFamily="34" charset="-122"/>
                <a:cs typeface="Cambria" pitchFamily="34" charset="-120"/>
              </a:rPr>
              <a:t>AI planning</a:t>
            </a:r>
            <a:endParaRPr lang="en-US" sz="1450" dirty="0"/>
          </a:p>
        </p:txBody>
      </p:sp>
      <p:sp>
        <p:nvSpPr>
          <p:cNvPr id="14" name="Text 12"/>
          <p:cNvSpPr/>
          <p:nvPr/>
        </p:nvSpPr>
        <p:spPr>
          <a:xfrm>
            <a:off x="4572000" y="3063240"/>
            <a:ext cx="6949440" cy="36576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PDDL domain, auto-generated instances, Fast Downward, cost-optimal</a:t>
            </a:r>
            <a:endParaRPr lang="en-US" sz="1250" dirty="0"/>
          </a:p>
        </p:txBody>
      </p:sp>
      <p:sp>
        <p:nvSpPr>
          <p:cNvPr id="15" name="Shape 13"/>
          <p:cNvSpPr/>
          <p:nvPr/>
        </p:nvSpPr>
        <p:spPr>
          <a:xfrm>
            <a:off x="640080" y="3529584"/>
            <a:ext cx="10881360" cy="0"/>
          </a:xfrm>
          <a:prstGeom prst="line">
            <a:avLst/>
          </a:prstGeom>
          <a:noFill/>
          <a:ln w="9525">
            <a:solidFill>
              <a:srgbClr val="E5E7EB"/>
            </a:solidFill>
            <a:prstDash val="solid"/>
          </a:ln>
        </p:spPr>
      </p:sp>
      <p:sp>
        <p:nvSpPr>
          <p:cNvPr id="16" name="Text 14"/>
          <p:cNvSpPr/>
          <p:nvPr/>
        </p:nvSpPr>
        <p:spPr>
          <a:xfrm>
            <a:off x="640080" y="3739896"/>
            <a:ext cx="365760" cy="365760"/>
          </a:xfrm>
          <a:prstGeom prst="rect">
            <a:avLst/>
          </a:prstGeom>
          <a:noFill/>
          <a:ln/>
        </p:spPr>
        <p:txBody>
          <a:bodyPr wrap="square" lIns="0" tIns="0" rIns="0" bIns="0" rtlCol="0" anchor="ctr"/>
          <a:lstStyle/>
          <a:p>
            <a:pPr indent="0" marL="0">
              <a:buNone/>
            </a:pPr>
            <a:r>
              <a:rPr lang="en-US" sz="1600" b="1" dirty="0">
                <a:solidFill>
                  <a:srgbClr val="15803D"/>
                </a:solidFill>
                <a:latin typeface="Calibri" pitchFamily="34" charset="0"/>
                <a:ea typeface="Calibri" pitchFamily="34" charset="-122"/>
                <a:cs typeface="Calibri" pitchFamily="34" charset="-120"/>
              </a:rPr>
              <a:t>✓</a:t>
            </a:r>
            <a:endParaRPr lang="en-US" sz="1600" dirty="0"/>
          </a:p>
        </p:txBody>
      </p:sp>
      <p:sp>
        <p:nvSpPr>
          <p:cNvPr id="17" name="Text 15"/>
          <p:cNvSpPr/>
          <p:nvPr/>
        </p:nvSpPr>
        <p:spPr>
          <a:xfrm>
            <a:off x="1143000" y="3758184"/>
            <a:ext cx="3291840" cy="365760"/>
          </a:xfrm>
          <a:prstGeom prst="rect">
            <a:avLst/>
          </a:prstGeom>
          <a:noFill/>
          <a:ln/>
        </p:spPr>
        <p:txBody>
          <a:bodyPr wrap="square" lIns="0" tIns="0" rIns="0" bIns="0" rtlCol="0" anchor="ctr"/>
          <a:lstStyle/>
          <a:p>
            <a:pPr indent="0" marL="0">
              <a:buNone/>
            </a:pPr>
            <a:r>
              <a:rPr lang="en-US" sz="1450" b="1" dirty="0">
                <a:solidFill>
                  <a:srgbClr val="111827"/>
                </a:solidFill>
                <a:latin typeface="Cambria" pitchFamily="34" charset="0"/>
                <a:ea typeface="Cambria" pitchFamily="34" charset="-122"/>
                <a:cs typeface="Cambria" pitchFamily="34" charset="-120"/>
              </a:rPr>
              <a:t>IoT</a:t>
            </a:r>
            <a:endParaRPr lang="en-US" sz="1450" dirty="0"/>
          </a:p>
        </p:txBody>
      </p:sp>
      <p:sp>
        <p:nvSpPr>
          <p:cNvPr id="18" name="Text 16"/>
          <p:cNvSpPr/>
          <p:nvPr/>
        </p:nvSpPr>
        <p:spPr>
          <a:xfrm>
            <a:off x="4572000" y="3776472"/>
            <a:ext cx="6949440" cy="36576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5 sensors (2 physical) · 6 actuators (4 physical)</a:t>
            </a:r>
            <a:endParaRPr lang="en-US" sz="1250" dirty="0"/>
          </a:p>
        </p:txBody>
      </p:sp>
      <p:sp>
        <p:nvSpPr>
          <p:cNvPr id="19" name="Shape 17"/>
          <p:cNvSpPr/>
          <p:nvPr/>
        </p:nvSpPr>
        <p:spPr>
          <a:xfrm>
            <a:off x="640080" y="4242816"/>
            <a:ext cx="10881360" cy="0"/>
          </a:xfrm>
          <a:prstGeom prst="line">
            <a:avLst/>
          </a:prstGeom>
          <a:noFill/>
          <a:ln w="9525">
            <a:solidFill>
              <a:srgbClr val="E5E7EB"/>
            </a:solidFill>
            <a:prstDash val="solid"/>
          </a:ln>
        </p:spPr>
      </p:sp>
      <p:sp>
        <p:nvSpPr>
          <p:cNvPr id="20" name="Text 18"/>
          <p:cNvSpPr/>
          <p:nvPr/>
        </p:nvSpPr>
        <p:spPr>
          <a:xfrm>
            <a:off x="640080" y="4453128"/>
            <a:ext cx="365760" cy="365760"/>
          </a:xfrm>
          <a:prstGeom prst="rect">
            <a:avLst/>
          </a:prstGeom>
          <a:noFill/>
          <a:ln/>
        </p:spPr>
        <p:txBody>
          <a:bodyPr wrap="square" lIns="0" tIns="0" rIns="0" bIns="0" rtlCol="0" anchor="ctr"/>
          <a:lstStyle/>
          <a:p>
            <a:pPr indent="0" marL="0">
              <a:buNone/>
            </a:pPr>
            <a:r>
              <a:rPr lang="en-US" sz="1600" b="1" dirty="0">
                <a:solidFill>
                  <a:srgbClr val="15803D"/>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1143000" y="4471416"/>
            <a:ext cx="3291840" cy="365760"/>
          </a:xfrm>
          <a:prstGeom prst="rect">
            <a:avLst/>
          </a:prstGeom>
          <a:noFill/>
          <a:ln/>
        </p:spPr>
        <p:txBody>
          <a:bodyPr wrap="square" lIns="0" tIns="0" rIns="0" bIns="0" rtlCol="0" anchor="ctr"/>
          <a:lstStyle/>
          <a:p>
            <a:pPr indent="0" marL="0">
              <a:buNone/>
            </a:pPr>
            <a:r>
              <a:rPr lang="en-US" sz="1450" b="1" dirty="0">
                <a:solidFill>
                  <a:srgbClr val="111827"/>
                </a:solidFill>
                <a:latin typeface="Cambria" pitchFamily="34" charset="0"/>
                <a:ea typeface="Cambria" pitchFamily="34" charset="-122"/>
                <a:cs typeface="Cambria" pitchFamily="34" charset="-120"/>
              </a:rPr>
              <a:t>System design</a:t>
            </a:r>
            <a:endParaRPr lang="en-US" sz="1450" dirty="0"/>
          </a:p>
        </p:txBody>
      </p:sp>
      <p:sp>
        <p:nvSpPr>
          <p:cNvPr id="22" name="Text 20"/>
          <p:cNvSpPr/>
          <p:nvPr/>
        </p:nvSpPr>
        <p:spPr>
          <a:xfrm>
            <a:off x="4572000" y="4489704"/>
            <a:ext cx="6949440" cy="36576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8 decoupled modules, each independently restartable</a:t>
            </a:r>
            <a:endParaRPr lang="en-US" sz="1250" dirty="0"/>
          </a:p>
        </p:txBody>
      </p:sp>
      <p:sp>
        <p:nvSpPr>
          <p:cNvPr id="23" name="Shape 21"/>
          <p:cNvSpPr/>
          <p:nvPr/>
        </p:nvSpPr>
        <p:spPr>
          <a:xfrm>
            <a:off x="640080" y="4956048"/>
            <a:ext cx="10881360" cy="0"/>
          </a:xfrm>
          <a:prstGeom prst="line">
            <a:avLst/>
          </a:prstGeom>
          <a:noFill/>
          <a:ln w="9525">
            <a:solidFill>
              <a:srgbClr val="E5E7EB"/>
            </a:solidFill>
            <a:prstDash val="solid"/>
          </a:ln>
        </p:spPr>
      </p:sp>
      <p:sp>
        <p:nvSpPr>
          <p:cNvPr id="24" name="Text 22"/>
          <p:cNvSpPr/>
          <p:nvPr/>
        </p:nvSpPr>
        <p:spPr>
          <a:xfrm>
            <a:off x="640080" y="5166360"/>
            <a:ext cx="365760" cy="365760"/>
          </a:xfrm>
          <a:prstGeom prst="rect">
            <a:avLst/>
          </a:prstGeom>
          <a:noFill/>
          <a:ln/>
        </p:spPr>
        <p:txBody>
          <a:bodyPr wrap="square" lIns="0" tIns="0" rIns="0" bIns="0" rtlCol="0" anchor="ctr"/>
          <a:lstStyle/>
          <a:p>
            <a:pPr indent="0" marL="0">
              <a:buNone/>
            </a:pPr>
            <a:r>
              <a:rPr lang="en-US" sz="1600" b="1" dirty="0">
                <a:solidFill>
                  <a:srgbClr val="15803D"/>
                </a:solidFill>
                <a:latin typeface="Calibri" pitchFamily="34" charset="0"/>
                <a:ea typeface="Calibri" pitchFamily="34" charset="-122"/>
                <a:cs typeface="Calibri" pitchFamily="34" charset="-120"/>
              </a:rPr>
              <a:t>✓</a:t>
            </a:r>
            <a:endParaRPr lang="en-US" sz="1600" dirty="0"/>
          </a:p>
        </p:txBody>
      </p:sp>
      <p:sp>
        <p:nvSpPr>
          <p:cNvPr id="25" name="Text 23"/>
          <p:cNvSpPr/>
          <p:nvPr/>
        </p:nvSpPr>
        <p:spPr>
          <a:xfrm>
            <a:off x="1143000" y="5184648"/>
            <a:ext cx="3291840" cy="365760"/>
          </a:xfrm>
          <a:prstGeom prst="rect">
            <a:avLst/>
          </a:prstGeom>
          <a:noFill/>
          <a:ln/>
        </p:spPr>
        <p:txBody>
          <a:bodyPr wrap="square" lIns="0" tIns="0" rIns="0" bIns="0" rtlCol="0" anchor="ctr"/>
          <a:lstStyle/>
          <a:p>
            <a:pPr indent="0" marL="0">
              <a:buNone/>
            </a:pPr>
            <a:r>
              <a:rPr lang="en-US" sz="1450" b="1" dirty="0">
                <a:solidFill>
                  <a:srgbClr val="111827"/>
                </a:solidFill>
                <a:latin typeface="Cambria" pitchFamily="34" charset="0"/>
                <a:ea typeface="Cambria" pitchFamily="34" charset="-122"/>
                <a:cs typeface="Cambria" pitchFamily="34" charset="-120"/>
              </a:rPr>
              <a:t>Visualisation</a:t>
            </a:r>
            <a:endParaRPr lang="en-US" sz="1450" dirty="0"/>
          </a:p>
        </p:txBody>
      </p:sp>
      <p:sp>
        <p:nvSpPr>
          <p:cNvPr id="26" name="Text 24"/>
          <p:cNvSpPr/>
          <p:nvPr/>
        </p:nvSpPr>
        <p:spPr>
          <a:xfrm>
            <a:off x="4572000" y="5202936"/>
            <a:ext cx="6949440" cy="365760"/>
          </a:xfrm>
          <a:prstGeom prst="rect">
            <a:avLst/>
          </a:prstGeom>
          <a:noFill/>
          <a:ln/>
        </p:spPr>
        <p:txBody>
          <a:bodyPr wrap="square" lIns="0" tIns="0" rIns="0" bIns="0" rtlCol="0" anchor="ctr"/>
          <a:lstStyle/>
          <a:p>
            <a:pPr indent="0" marL="0">
              <a:buNone/>
            </a:pPr>
            <a:r>
              <a:rPr lang="en-US" sz="1250" dirty="0">
                <a:solidFill>
                  <a:srgbClr val="6B7280"/>
                </a:solidFill>
                <a:latin typeface="Calibri" pitchFamily="34" charset="0"/>
                <a:ea typeface="Calibri" pitchFamily="34" charset="-122"/>
                <a:cs typeface="Calibri" pitchFamily="34" charset="-120"/>
              </a:rPr>
              <a:t>current state + latest plan on dashboard and on-site LCD</a:t>
            </a:r>
            <a:endParaRPr lang="en-US" sz="1250" dirty="0"/>
          </a:p>
        </p:txBody>
      </p:sp>
      <p:sp>
        <p:nvSpPr>
          <p:cNvPr id="27" name="Shape 25"/>
          <p:cNvSpPr/>
          <p:nvPr/>
        </p:nvSpPr>
        <p:spPr>
          <a:xfrm>
            <a:off x="640080" y="5669280"/>
            <a:ext cx="10881360" cy="0"/>
          </a:xfrm>
          <a:prstGeom prst="line">
            <a:avLst/>
          </a:prstGeom>
          <a:noFill/>
          <a:ln w="9525">
            <a:solidFill>
              <a:srgbClr val="E5E7EB"/>
            </a:solidFill>
            <a:prstDash val="solid"/>
          </a:ln>
        </p:spPr>
      </p:sp>
      <p:sp>
        <p:nvSpPr>
          <p:cNvPr id="28" name="Text 26"/>
          <p:cNvSpPr/>
          <p:nvPr/>
        </p:nvSpPr>
        <p:spPr>
          <a:xfrm>
            <a:off x="640080" y="6172200"/>
            <a:ext cx="10881360" cy="365760"/>
          </a:xfrm>
          <a:prstGeom prst="rect">
            <a:avLst/>
          </a:prstGeom>
          <a:noFill/>
          <a:ln/>
        </p:spPr>
        <p:txBody>
          <a:bodyPr wrap="square" lIns="0" tIns="0" rIns="0" bIns="0" rtlCol="0" anchor="ctr"/>
          <a:lstStyle/>
          <a:p>
            <a:pPr algn="ctr" indent="0" marL="0">
              <a:buNone/>
            </a:pPr>
            <a:r>
              <a:rPr lang="en-US" sz="1250" dirty="0">
                <a:solidFill>
                  <a:srgbClr val="D97706"/>
                </a:solidFill>
                <a:latin typeface="Courier New" pitchFamily="34" charset="0"/>
                <a:ea typeface="Courier New" pitchFamily="34" charset="-122"/>
                <a:cs typeface="Courier New" pitchFamily="34" charset="-120"/>
              </a:rPr>
              <a:t>plans in ~130 ms · closed-loop correction &lt; 1 s · state at 2 Hz</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B2D"/>
        </a:solidFill>
      </p:bgPr>
    </p:bg>
    <p:spTree>
      <p:nvGrpSpPr>
        <p:cNvPr id="1" name=""/>
        <p:cNvGrpSpPr/>
        <p:nvPr/>
      </p:nvGrpSpPr>
      <p:grpSpPr>
        <a:xfrm>
          <a:off x="0" y="0"/>
          <a:ext cx="0" cy="0"/>
          <a:chOff x="0" y="0"/>
          <a:chExt cx="0" cy="0"/>
        </a:xfrm>
      </p:grpSpPr>
      <p:sp>
        <p:nvSpPr>
          <p:cNvPr id="2" name="Text 0"/>
          <p:cNvSpPr/>
          <p:nvPr/>
        </p:nvSpPr>
        <p:spPr>
          <a:xfrm>
            <a:off x="658368" y="457200"/>
            <a:ext cx="10881360" cy="274320"/>
          </a:xfrm>
          <a:prstGeom prst="rect">
            <a:avLst/>
          </a:prstGeom>
          <a:noFill/>
          <a:ln/>
        </p:spPr>
        <p:txBody>
          <a:bodyPr wrap="square" lIns="0" tIns="0" rIns="0" bIns="0" rtlCol="0" anchor="ctr"/>
          <a:lstStyle/>
          <a:p>
            <a:pPr indent="0" marL="0">
              <a:buNone/>
            </a:pPr>
            <a:r>
              <a:rPr lang="en-US" sz="1100" b="1" spc="200" kern="0" dirty="0">
                <a:solidFill>
                  <a:srgbClr val="D97706"/>
                </a:solidFill>
                <a:latin typeface="Calibri" pitchFamily="34" charset="0"/>
                <a:ea typeface="Calibri" pitchFamily="34" charset="-122"/>
                <a:cs typeface="Calibri" pitchFamily="34" charset="-120"/>
              </a:rPr>
              <a:t>LESSONS LEARNED</a:t>
            </a:r>
            <a:endParaRPr lang="en-US" sz="1100" dirty="0"/>
          </a:p>
        </p:txBody>
      </p:sp>
      <p:sp>
        <p:nvSpPr>
          <p:cNvPr id="3" name="Text 1"/>
          <p:cNvSpPr/>
          <p:nvPr/>
        </p:nvSpPr>
        <p:spPr>
          <a:xfrm>
            <a:off x="658368" y="1051560"/>
            <a:ext cx="5212080" cy="38404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Sound sensor removed</a:t>
            </a:r>
            <a:endParaRPr lang="en-US" sz="1700" dirty="0"/>
          </a:p>
        </p:txBody>
      </p:sp>
      <p:sp>
        <p:nvSpPr>
          <p:cNvPr id="4" name="Text 2"/>
          <p:cNvSpPr/>
          <p:nvPr/>
        </p:nvSpPr>
        <p:spPr>
          <a:xfrm>
            <a:off x="658368" y="1472184"/>
            <a:ext cx="5212080" cy="868680"/>
          </a:xfrm>
          <a:prstGeom prst="rect">
            <a:avLst/>
          </a:prstGeom>
          <a:noFill/>
          <a:ln/>
        </p:spPr>
        <p:txBody>
          <a:bodyPr wrap="square" lIns="0" tIns="0" rIns="0" bIns="0" rtlCol="0" anchor="ctr"/>
          <a:lstStyle/>
          <a:p>
            <a:pPr indent="0" marL="0">
              <a:buNone/>
            </a:pPr>
            <a:r>
              <a:rPr lang="en-US" sz="1250" dirty="0">
                <a:solidFill>
                  <a:srgbClr val="9DB2C7"/>
                </a:solidFill>
                <a:latin typeface="Calibri" pitchFamily="34" charset="0"/>
                <a:ea typeface="Calibri" pitchFamily="34" charset="-122"/>
                <a:cs typeface="Calibri" pitchFamily="34" charset="-120"/>
              </a:rPr>
              <a:t>it could not measure loudness over the slow GrovePi bus, so we removed it instead of publishing noise as data.</a:t>
            </a:r>
            <a:endParaRPr lang="en-US" sz="1250" dirty="0"/>
          </a:p>
        </p:txBody>
      </p:sp>
      <p:sp>
        <p:nvSpPr>
          <p:cNvPr id="5" name="Text 3"/>
          <p:cNvSpPr/>
          <p:nvPr/>
        </p:nvSpPr>
        <p:spPr>
          <a:xfrm>
            <a:off x="6281928" y="1051560"/>
            <a:ext cx="5212080" cy="38404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Unsolvable goals prevented</a:t>
            </a:r>
            <a:endParaRPr lang="en-US" sz="1700" dirty="0"/>
          </a:p>
        </p:txBody>
      </p:sp>
      <p:sp>
        <p:nvSpPr>
          <p:cNvPr id="6" name="Text 4"/>
          <p:cNvSpPr/>
          <p:nvPr/>
        </p:nvSpPr>
        <p:spPr>
          <a:xfrm>
            <a:off x="6281928" y="1472184"/>
            <a:ext cx="5212080" cy="868680"/>
          </a:xfrm>
          <a:prstGeom prst="rect">
            <a:avLst/>
          </a:prstGeom>
          <a:noFill/>
          <a:ln/>
        </p:spPr>
        <p:txBody>
          <a:bodyPr wrap="square" lIns="0" tIns="0" rIns="0" bIns="0" rtlCol="0" anchor="ctr"/>
          <a:lstStyle/>
          <a:p>
            <a:pPr indent="0" marL="0">
              <a:buNone/>
            </a:pPr>
            <a:r>
              <a:rPr lang="en-US" sz="1250" dirty="0">
                <a:solidFill>
                  <a:srgbClr val="9DB2C7"/>
                </a:solidFill>
                <a:latin typeface="Calibri" pitchFamily="34" charset="0"/>
                <a:ea typeface="Calibri" pitchFamily="34" charset="-122"/>
                <a:cs typeface="Calibri" pitchFamily="34" charset="-120"/>
              </a:rPr>
              <a:t>an early bug asked the planner to brighten a zone whose lamp was already on. The generator now emits only achievable goals.</a:t>
            </a:r>
            <a:endParaRPr lang="en-US" sz="1250" dirty="0"/>
          </a:p>
        </p:txBody>
      </p:sp>
      <p:sp>
        <p:nvSpPr>
          <p:cNvPr id="7" name="Text 5"/>
          <p:cNvSpPr/>
          <p:nvPr/>
        </p:nvSpPr>
        <p:spPr>
          <a:xfrm>
            <a:off x="658368" y="2606040"/>
            <a:ext cx="5212080" cy="38404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CO₂ and windows are simulated</a:t>
            </a:r>
            <a:endParaRPr lang="en-US" sz="1700" dirty="0"/>
          </a:p>
        </p:txBody>
      </p:sp>
      <p:sp>
        <p:nvSpPr>
          <p:cNvPr id="8" name="Text 6"/>
          <p:cNvSpPr/>
          <p:nvPr/>
        </p:nvSpPr>
        <p:spPr>
          <a:xfrm>
            <a:off x="658368" y="3026664"/>
            <a:ext cx="5212080" cy="868680"/>
          </a:xfrm>
          <a:prstGeom prst="rect">
            <a:avLst/>
          </a:prstGeom>
          <a:noFill/>
          <a:ln/>
        </p:spPr>
        <p:txBody>
          <a:bodyPr wrap="square" lIns="0" tIns="0" rIns="0" bIns="0" rtlCol="0" anchor="ctr"/>
          <a:lstStyle/>
          <a:p>
            <a:pPr indent="0" marL="0">
              <a:buNone/>
            </a:pPr>
            <a:r>
              <a:rPr lang="en-US" sz="1250" dirty="0">
                <a:solidFill>
                  <a:srgbClr val="9DB2C7"/>
                </a:solidFill>
                <a:latin typeface="Calibri" pitchFamily="34" charset="0"/>
                <a:ea typeface="Calibri" pitchFamily="34" charset="-122"/>
                <a:cs typeface="Calibri" pitchFamily="34" charset="-120"/>
              </a:rPr>
              <a:t>both are modelled, clearly labelled, and react realistically to planner actions.</a:t>
            </a:r>
            <a:endParaRPr lang="en-US" sz="1250" dirty="0"/>
          </a:p>
        </p:txBody>
      </p:sp>
      <p:sp>
        <p:nvSpPr>
          <p:cNvPr id="9" name="Text 7"/>
          <p:cNvSpPr/>
          <p:nvPr/>
        </p:nvSpPr>
        <p:spPr>
          <a:xfrm>
            <a:off x="6281928" y="2606040"/>
            <a:ext cx="5212080" cy="384048"/>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WiFi reliability</a:t>
            </a:r>
            <a:endParaRPr lang="en-US" sz="1700" dirty="0"/>
          </a:p>
        </p:txBody>
      </p:sp>
      <p:sp>
        <p:nvSpPr>
          <p:cNvPr id="10" name="Text 8"/>
          <p:cNvSpPr/>
          <p:nvPr/>
        </p:nvSpPr>
        <p:spPr>
          <a:xfrm>
            <a:off x="6281928" y="3026664"/>
            <a:ext cx="5212080" cy="868680"/>
          </a:xfrm>
          <a:prstGeom prst="rect">
            <a:avLst/>
          </a:prstGeom>
          <a:noFill/>
          <a:ln/>
        </p:spPr>
        <p:txBody>
          <a:bodyPr wrap="square" lIns="0" tIns="0" rIns="0" bIns="0" rtlCol="0" anchor="ctr"/>
          <a:lstStyle/>
          <a:p>
            <a:pPr indent="0" marL="0">
              <a:buNone/>
            </a:pPr>
            <a:r>
              <a:rPr lang="en-US" sz="1250" dirty="0">
                <a:solidFill>
                  <a:srgbClr val="9DB2C7"/>
                </a:solidFill>
                <a:latin typeface="Calibri" pitchFamily="34" charset="0"/>
                <a:ea typeface="Calibri" pitchFamily="34" charset="-122"/>
                <a:cs typeface="Calibri" pitchFamily="34" charset="-120"/>
              </a:rPr>
              <a:t>client isolation, band steering and power-save caused repeated dropouts, so the demo runs on its own access point.</a:t>
            </a:r>
            <a:endParaRPr lang="en-US" sz="1250" dirty="0"/>
          </a:p>
        </p:txBody>
      </p:sp>
      <p:sp>
        <p:nvSpPr>
          <p:cNvPr id="11" name="Shape 9"/>
          <p:cNvSpPr/>
          <p:nvPr/>
        </p:nvSpPr>
        <p:spPr>
          <a:xfrm>
            <a:off x="658368" y="4434840"/>
            <a:ext cx="10881360" cy="0"/>
          </a:xfrm>
          <a:prstGeom prst="line">
            <a:avLst/>
          </a:prstGeom>
          <a:noFill/>
          <a:ln w="9525">
            <a:solidFill>
              <a:srgbClr val="2A3B55"/>
            </a:solidFill>
            <a:prstDash val="solid"/>
          </a:ln>
        </p:spPr>
      </p:sp>
      <p:sp>
        <p:nvSpPr>
          <p:cNvPr id="12" name="Text 10"/>
          <p:cNvSpPr/>
          <p:nvPr/>
        </p:nvSpPr>
        <p:spPr>
          <a:xfrm>
            <a:off x="0" y="4892040"/>
            <a:ext cx="12188952" cy="73152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Questions?</a:t>
            </a:r>
            <a:endParaRPr lang="en-US" sz="4000" dirty="0"/>
          </a:p>
        </p:txBody>
      </p:sp>
      <p:sp>
        <p:nvSpPr>
          <p:cNvPr id="13" name="Text 11"/>
          <p:cNvSpPr/>
          <p:nvPr/>
        </p:nvSpPr>
        <p:spPr>
          <a:xfrm>
            <a:off x="0" y="5760720"/>
            <a:ext cx="12188952" cy="365760"/>
          </a:xfrm>
          <a:prstGeom prst="rect">
            <a:avLst/>
          </a:prstGeom>
          <a:noFill/>
          <a:ln/>
        </p:spPr>
        <p:txBody>
          <a:bodyPr wrap="square" lIns="0" tIns="0" rIns="0" bIns="0" rtlCol="0" anchor="ctr"/>
          <a:lstStyle/>
          <a:p>
            <a:pPr algn="ctr" indent="0" marL="0">
              <a:buNone/>
            </a:pPr>
            <a:r>
              <a:rPr lang="en-US" sz="1300" dirty="0">
                <a:solidFill>
                  <a:srgbClr val="E8B45A"/>
                </a:solidFill>
                <a:latin typeface="Calibri" pitchFamily="34" charset="0"/>
                <a:ea typeface="Calibri" pitchFamily="34" charset="-122"/>
                <a:cs typeface="Calibri" pitchFamily="34" charset="-120"/>
              </a:rPr>
              <a:t>Code, PDDL domain, docs and this deck: github.com/Dennis1911/librisense-smart-library</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2026-07-19T14:01:35Z</dcterms:created>
  <dcterms:modified xsi:type="dcterms:W3CDTF">2026-07-19T14:01:35Z</dcterms:modified>
</cp:coreProperties>
</file>
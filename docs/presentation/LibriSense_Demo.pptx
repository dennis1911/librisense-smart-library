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our library notices you, thinks ahead and acts on its own. Everything runs live on this desk: two Raspberry Pis, real sensors, a real lamp.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contrast (concept by Niclas), rebuilt in our design. Left is the status quo: a student concentrating while CO2 silently climbs past 1,500 ppm, well above the ~1,000 ppm mark where the Harvard COGfx study (2015) measured a drop in cognitive performance. Right is the same morning with LibriSense: the room senses the rise and the planner acts, holding the air in the comfortable band. Deliver it as a single before/after beat, then move into the setup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explaining slide: on the desk sit two Raspberry Pis. The edge Pi senses and acts, the core Pi thinks: every sensor reading flows over MQTT into the context, becomes a PDDL problem with weather-based costs, Fast Downward returns the cost-optimal plan, the executor sends the actions back to the edge. The laptop is only a window into the system; in the demo it joins the WiFi that the core Pi itself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how the planner decides. Walk it left to right on one real example: the room senses continuous values; the generator discretises them into PDDL facts using fixed thresholds; it frames a problem with a goal and weather-based action costs; Fast Downward searches with A* and the admissible LM-Cut heuristic and returns the cost-optimal plan; the executor acts. Because full-vent-cost is only 4 at 33 °C, one full airing beats two pulses. The loop bar is the key point: nothing is scripted, the behaviour falls out of goals plus costs, and it re-plans on every change. Slide 7 shows the real domain code, slide 8 the search, slide 9 the winter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Green tags are real hardware you can touch on the desk. Blue means simulated or virtual, always labelled honestly: our kit has no CO2 sensor and no motorised windows, so both are modelled and react realistically to planner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modularity, indirect communication and distribution in one picture. Every arrow is a retained MQTT topic, so any module can restart and resynchronise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action shown is the interesting one: a short pulse knocks high CO2 down one band only. Together with full_ventilate this gives the planner two genuinely different strategies for the same goal. Costs are static fluents written into each problem instance by the generator, computed from live outdoor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Chen's technical slide. Message: we do not just find A plan, we find the cheapest one, and we can prove it. A* is best-first search on f = g + h. LM-Cut is the heuristic h: it derives landmarks (every plan must open the window somehow) and sums the cheapest action per landmark, which is a lower bound that never overestimates — that admissibility is exactly what makes A* optimal. On the tree: the full_ventilate branch reaches a goal with f=4; the two-pulse branch only reaches its goal at f=6, and because A* always expands the lowest f first, it settles the f=4 goal before ever completing the f=6 path. Numbers: about 130 ms total on the Pi 5 including PDDL translation, the raw search is under 2 ms at this size. Note for a bring-a-card cheat sheet: A* = best-first on g+h; LM-Cut = admissible landmark heuristic; admissible ⇒ optimal.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slide for planning over rules. Identical goal, identical domain; only the numeric costs differ because the generator reads live outdoor temperature. At 5 °C a full airing is expensive (12), so two cheap pulses (3+3=6) win; at 33 °C the full airing is cheap (4) and beats two pulses (6). We never wrote a winter branch — the behaviour is a consequence of the cost model plus optimal search. If asked why not just rules: a rule set would need a hand-tuned threshold for every weather-and-state combination; here one cost formula covers the whole continuum and stays correct as we add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split: person A at the desk triggers each moment, person B narrates the dashboard, person C explains the plan card whenever it changes. Keep this slide up during the live part as the run-sheet. On the closed loop: the honest, demonstrable self-correction is the light one. Covering the sensor is an environmental disturbance; the illuminance drops below the dark threshold and the planner re-lights the seat inside one 2 Hz cycle, under a second. We deliberately do NOT claim to detect a lamp switched off by hand: the lamp state in the model is the last command we sent, not a relay readback, so a manual toggle would not be seen. Keep the story to what the sensors actually close the loop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slide — take your time here, this plus the closing slide are the 2 to 3 minute summary. Frame it as a walk back through the six course requirements and how each is satisfied by something the audience just saw live: distribution = the two Pis on the desk; indirect communication = everything went over MQTT; AI planning = the PDDL problem and the cost-optimal plan on the dashboard; IoT = the sensors and the real lamp/LED/buzzer/LCD; system design = eight modules we could restart independently; visualisation = the dashboard and the on-site LCD. Do not read the table verbatim — point at the measured numbers at the bottom and stress they are from the running system, not estimates: plans in about 130 ms, closed-loop correction under a second, state at 2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summary — spend a minute here to tie a bow on it. Suggested wording: 'To sum up: we started with a stuffy, over-lit reading room that nobody manages. We gave it senses, a planner and hands. It reads occupancy, light, a CO2 proxy and the weather; it turns that into a PDDL problem with real action costs; Fast Downward finds the cheapest plan; and it acts on a real lamp, LED, buzzer and the windows — re-planning on every change and correcting disturbances in under a second. All six course requirements are met on live hardware.' Then the honest lessons on this slide: we dropped the sound sensor rather than fake it, we stopped the planner from being handed impossible goals, we label every simulated part, and we learned that WiFi was the hardest part so the demo carries its own access point. Close on the opening scene: 'the room from the first slide would have noticed, and acted.' Then invite questions. Q&amp;A ammunition: Why planning, not rules? For one seat rules would do; the value is declared goals, per-instance costs and provable optimality, and it scales by adding actions instead of case distinctions. Why classical, not HTN? No task hierarchy needed; a discretised world fits classical planning with action costs exactly. What is real vs simulated? Real: motion, light, lamp, LED, buzzer, LCD, weather. Simulated and clearly labelled: CO2 and the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pic>
        <p:nvPicPr>
          <p:cNvPr id="2" name="Image 0" descr="/Users/dennisgunt/Library/CloudStorage/OneDrive-Persönlich/Master_Studium/03_Semester/SmartCities/librisense/docs/logo/librisense_logo_dark.png">    </p:cNvPr>
          <p:cNvPicPr>
            <a:picLocks noChangeAspect="1"/>
          </p:cNvPicPr>
          <p:nvPr/>
        </p:nvPicPr>
        <p:blipFill>
          <a:blip r:embed="rId1"/>
          <a:stretch>
            <a:fillRect/>
          </a:stretch>
        </p:blipFill>
        <p:spPr>
          <a:xfrm>
            <a:off x="5294376" y="868680"/>
            <a:ext cx="1600200" cy="1600200"/>
          </a:xfrm>
          <a:prstGeom prst="rect">
            <a:avLst/>
          </a:prstGeom>
        </p:spPr>
      </p:pic>
      <p:sp>
        <p:nvSpPr>
          <p:cNvPr id="3" name="Text 0"/>
          <p:cNvSpPr/>
          <p:nvPr/>
        </p:nvSpPr>
        <p:spPr>
          <a:xfrm>
            <a:off x="0" y="2560320"/>
            <a:ext cx="12188952" cy="100584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LibriSense</a:t>
            </a:r>
            <a:endParaRPr lang="en-US" sz="5400" dirty="0"/>
          </a:p>
        </p:txBody>
      </p:sp>
      <p:sp>
        <p:nvSpPr>
          <p:cNvPr id="4" name="Text 1"/>
          <p:cNvSpPr/>
          <p:nvPr/>
        </p:nvSpPr>
        <p:spPr>
          <a:xfrm>
            <a:off x="0" y="3584448"/>
            <a:ext cx="12188952" cy="457200"/>
          </a:xfrm>
          <a:prstGeom prst="rect">
            <a:avLst/>
          </a:prstGeom>
          <a:noFill/>
          <a:ln/>
        </p:spPr>
        <p:txBody>
          <a:bodyPr wrap="square" lIns="0" tIns="0" rIns="0" bIns="0" rtlCol="0" anchor="ctr"/>
          <a:lstStyle/>
          <a:p>
            <a:pPr algn="ctr" indent="0" marL="0">
              <a:buNone/>
            </a:pPr>
            <a:r>
              <a:rPr lang="en-US" sz="1800" dirty="0">
                <a:solidFill>
                  <a:srgbClr val="E8B45A"/>
                </a:solidFill>
                <a:latin typeface="Calibri" pitchFamily="34" charset="0"/>
                <a:ea typeface="Calibri" pitchFamily="34" charset="-122"/>
                <a:cs typeface="Calibri" pitchFamily="34" charset="-120"/>
              </a:rPr>
              <a:t>An adaptive smart library</a:t>
            </a:r>
            <a:endParaRPr lang="en-US" sz="1800" dirty="0"/>
          </a:p>
        </p:txBody>
      </p:sp>
      <p:sp>
        <p:nvSpPr>
          <p:cNvPr id="5" name="Text 2"/>
          <p:cNvSpPr/>
          <p:nvPr/>
        </p:nvSpPr>
        <p:spPr>
          <a:xfrm>
            <a:off x="0" y="6035040"/>
            <a:ext cx="12188952" cy="365760"/>
          </a:xfrm>
          <a:prstGeom prst="rect">
            <a:avLst/>
          </a:prstGeom>
          <a:noFill/>
          <a:ln/>
        </p:spPr>
        <p:txBody>
          <a:bodyPr wrap="square" lIns="0" tIns="0" rIns="0" bIns="0" rtlCol="0" anchor="ctr"/>
          <a:lstStyle/>
          <a:p>
            <a:pPr algn="ctr" indent="0" marL="0">
              <a:buNone/>
            </a:pPr>
            <a:r>
              <a:rPr lang="en-US" sz="1250" dirty="0">
                <a:solidFill>
                  <a:srgbClr val="8CA0B8"/>
                </a:solidFill>
                <a:latin typeface="Calibri" pitchFamily="34" charset="0"/>
                <a:ea typeface="Calibri" pitchFamily="34" charset="-122"/>
                <a:cs typeface="Calibri" pitchFamily="34" charset="-120"/>
              </a:rPr>
              <a:t>Dennis Gunt · Haoyang Chen · Niclas Mittag     |     Smart Cities and the IoT · University of Stuttgart     |     20 July 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094476" y="0"/>
            <a:ext cx="6094476" cy="6858000"/>
          </a:xfrm>
          <a:prstGeom prst="rect">
            <a:avLst/>
          </a:prstGeom>
          <a:solidFill>
            <a:srgbClr val="0F1B2D"/>
          </a:solidFill>
          <a:ln/>
        </p:spPr>
      </p:sp>
      <p:sp>
        <p:nvSpPr>
          <p:cNvPr id="3" name="Shape 1"/>
          <p:cNvSpPr/>
          <p:nvPr/>
        </p:nvSpPr>
        <p:spPr>
          <a:xfrm>
            <a:off x="0" y="0"/>
            <a:ext cx="6094476" cy="54864"/>
          </a:xfrm>
          <a:prstGeom prst="rect">
            <a:avLst/>
          </a:prstGeom>
          <a:solidFill>
            <a:srgbClr val="B91C1C"/>
          </a:solidFill>
          <a:ln/>
        </p:spPr>
      </p:sp>
      <p:sp>
        <p:nvSpPr>
          <p:cNvPr id="4" name="Shape 2"/>
          <p:cNvSpPr/>
          <p:nvPr/>
        </p:nvSpPr>
        <p:spPr>
          <a:xfrm>
            <a:off x="6094476" y="0"/>
            <a:ext cx="6094476" cy="54864"/>
          </a:xfrm>
          <a:prstGeom prst="rect">
            <a:avLst/>
          </a:prstGeom>
          <a:solidFill>
            <a:srgbClr val="15803D"/>
          </a:solidFill>
          <a:ln/>
        </p:spPr>
      </p:sp>
      <p:sp>
        <p:nvSpPr>
          <p:cNvPr id="5" name="Text 3"/>
          <p:cNvSpPr/>
          <p:nvPr/>
        </p:nvSpPr>
        <p:spPr>
          <a:xfrm>
            <a:off x="685800" y="502920"/>
            <a:ext cx="4754880" cy="274320"/>
          </a:xfrm>
          <a:prstGeom prst="rect">
            <a:avLst/>
          </a:prstGeom>
          <a:noFill/>
          <a:ln/>
        </p:spPr>
        <p:txBody>
          <a:bodyPr wrap="square" lIns="0" tIns="0" rIns="0" bIns="0" rtlCol="0" anchor="ctr"/>
          <a:lstStyle/>
          <a:p>
            <a:pPr indent="0" marL="0">
              <a:buNone/>
            </a:pPr>
            <a:r>
              <a:rPr lang="en-US" sz="1200" b="1" spc="300" kern="0" dirty="0">
                <a:solidFill>
                  <a:srgbClr val="B91C1C"/>
                </a:solidFill>
                <a:latin typeface="Calibri" pitchFamily="34" charset="0"/>
                <a:ea typeface="Calibri" pitchFamily="34" charset="-122"/>
                <a:cs typeface="Calibri" pitchFamily="34" charset="-120"/>
              </a:rPr>
              <a:t>BEFORE</a:t>
            </a:r>
            <a:endParaRPr lang="en-US" sz="1200" dirty="0"/>
          </a:p>
        </p:txBody>
      </p:sp>
      <p:sp>
        <p:nvSpPr>
          <p:cNvPr id="6" name="Text 4"/>
          <p:cNvSpPr/>
          <p:nvPr/>
        </p:nvSpPr>
        <p:spPr>
          <a:xfrm>
            <a:off x="685800" y="914400"/>
            <a:ext cx="512064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Monday morning.</a:t>
            </a:r>
            <a:endParaRPr lang="en-US" sz="3000" dirty="0"/>
          </a:p>
        </p:txBody>
      </p:sp>
      <p:sp>
        <p:nvSpPr>
          <p:cNvPr id="7" name="Text 5"/>
          <p:cNvSpPr/>
          <p:nvPr/>
        </p:nvSpPr>
        <p:spPr>
          <a:xfrm>
            <a:off x="685800" y="1874520"/>
            <a:ext cx="5029200" cy="457200"/>
          </a:xfrm>
          <a:prstGeom prst="rect">
            <a:avLst/>
          </a:prstGeom>
          <a:noFill/>
          <a:ln/>
        </p:spPr>
        <p:txBody>
          <a:bodyPr wrap="square" lIns="0" tIns="0" rIns="0" bIns="0" rtlCol="0" anchor="ctr"/>
          <a:lstStyle/>
          <a:p>
            <a:pPr indent="0" marL="0">
              <a:buNone/>
            </a:pPr>
            <a:r>
              <a:rPr lang="en-US" sz="1550" dirty="0">
                <a:solidFill>
                  <a:srgbClr val="6B7280"/>
                </a:solidFill>
                <a:latin typeface="Calibri" pitchFamily="34" charset="0"/>
                <a:ea typeface="Calibri" pitchFamily="34" charset="-122"/>
                <a:cs typeface="Calibri" pitchFamily="34" charset="-120"/>
              </a:rPr>
              <a:t>Library. Studying for Friday's exam.</a:t>
            </a:r>
            <a:endParaRPr lang="en-US" sz="1550" dirty="0"/>
          </a:p>
        </p:txBody>
      </p:sp>
      <p:sp>
        <p:nvSpPr>
          <p:cNvPr id="8" name="Text 6"/>
          <p:cNvSpPr/>
          <p:nvPr/>
        </p:nvSpPr>
        <p:spPr>
          <a:xfrm>
            <a:off x="685800" y="2423160"/>
            <a:ext cx="5029200" cy="457200"/>
          </a:xfrm>
          <a:prstGeom prst="rect">
            <a:avLst/>
          </a:prstGeom>
          <a:noFill/>
          <a:ln/>
        </p:spPr>
        <p:txBody>
          <a:bodyPr wrap="square" lIns="0" tIns="0" rIns="0" bIns="0" rtlCol="0" anchor="ctr"/>
          <a:lstStyle/>
          <a:p>
            <a:pPr indent="0" marL="0">
              <a:buNone/>
            </a:pPr>
            <a:r>
              <a:rPr lang="en-US" sz="1550" dirty="0">
                <a:solidFill>
                  <a:srgbClr val="6B7280"/>
                </a:solidFill>
                <a:latin typeface="Calibri" pitchFamily="34" charset="0"/>
                <a:ea typeface="Calibri" pitchFamily="34" charset="-122"/>
                <a:cs typeface="Calibri" pitchFamily="34" charset="-120"/>
              </a:rPr>
              <a:t>Head down, full concentration.</a:t>
            </a:r>
            <a:endParaRPr lang="en-US" sz="1550" dirty="0"/>
          </a:p>
        </p:txBody>
      </p:sp>
      <p:sp>
        <p:nvSpPr>
          <p:cNvPr id="9" name="Text 7"/>
          <p:cNvSpPr/>
          <p:nvPr/>
        </p:nvSpPr>
        <p:spPr>
          <a:xfrm>
            <a:off x="685800" y="2971800"/>
            <a:ext cx="5029200" cy="457200"/>
          </a:xfrm>
          <a:prstGeom prst="rect">
            <a:avLst/>
          </a:prstGeom>
          <a:noFill/>
          <a:ln/>
        </p:spPr>
        <p:txBody>
          <a:bodyPr wrap="square" lIns="0" tIns="0" rIns="0" bIns="0" rtlCol="0" anchor="ctr"/>
          <a:lstStyle/>
          <a:p>
            <a:pPr indent="0" marL="0">
              <a:buNone/>
            </a:pPr>
            <a:r>
              <a:rPr lang="en-US" sz="1550" dirty="0">
                <a:solidFill>
                  <a:srgbClr val="6B7280"/>
                </a:solidFill>
                <a:latin typeface="Calibri" pitchFamily="34" charset="0"/>
                <a:ea typeface="Calibri" pitchFamily="34" charset="-122"/>
                <a:cs typeface="Calibri" pitchFamily="34" charset="-120"/>
              </a:rPr>
              <a:t>CO₂ climbs past 1,500 ppm. Silently.</a:t>
            </a:r>
            <a:endParaRPr lang="en-US" sz="1550" dirty="0"/>
          </a:p>
        </p:txBody>
      </p:sp>
      <p:sp>
        <p:nvSpPr>
          <p:cNvPr id="10" name="Text 8"/>
          <p:cNvSpPr/>
          <p:nvPr/>
        </p:nvSpPr>
        <p:spPr>
          <a:xfrm>
            <a:off x="685800" y="3566160"/>
            <a:ext cx="5029200" cy="457200"/>
          </a:xfrm>
          <a:prstGeom prst="rect">
            <a:avLst/>
          </a:prstGeom>
          <a:noFill/>
          <a:ln/>
        </p:spPr>
        <p:txBody>
          <a:bodyPr wrap="square" lIns="0" tIns="0" rIns="0" bIns="0" rtlCol="0" anchor="ctr"/>
          <a:lstStyle/>
          <a:p>
            <a:pPr indent="0" marL="0">
              <a:buNone/>
            </a:pPr>
            <a:r>
              <a:rPr lang="en-US" sz="1650" b="1" dirty="0">
                <a:solidFill>
                  <a:srgbClr val="111827"/>
                </a:solidFill>
                <a:latin typeface="Calibri" pitchFamily="34" charset="0"/>
                <a:ea typeface="Calibri" pitchFamily="34" charset="-122"/>
                <a:cs typeface="Calibri" pitchFamily="34" charset="-120"/>
              </a:rPr>
              <a:t>Your work is wasted.</a:t>
            </a:r>
            <a:endParaRPr lang="en-US" sz="1650" dirty="0"/>
          </a:p>
        </p:txBody>
      </p:sp>
      <p:sp>
        <p:nvSpPr>
          <p:cNvPr id="11" name="Shape 9"/>
          <p:cNvSpPr/>
          <p:nvPr/>
        </p:nvSpPr>
        <p:spPr>
          <a:xfrm>
            <a:off x="685800" y="4297680"/>
            <a:ext cx="4663440" cy="0"/>
          </a:xfrm>
          <a:prstGeom prst="line">
            <a:avLst/>
          </a:prstGeom>
          <a:noFill/>
          <a:ln w="12700">
            <a:solidFill>
              <a:srgbClr val="E5E7EB"/>
            </a:solidFill>
            <a:prstDash val="solid"/>
          </a:ln>
        </p:spPr>
      </p:sp>
      <p:sp>
        <p:nvSpPr>
          <p:cNvPr id="12" name="Text 10"/>
          <p:cNvSpPr/>
          <p:nvPr/>
        </p:nvSpPr>
        <p:spPr>
          <a:xfrm>
            <a:off x="685800" y="4526280"/>
            <a:ext cx="5029200" cy="822960"/>
          </a:xfrm>
          <a:prstGeom prst="rect">
            <a:avLst/>
          </a:prstGeom>
          <a:noFill/>
          <a:ln/>
        </p:spPr>
        <p:txBody>
          <a:bodyPr wrap="square" lIns="0" tIns="0" rIns="0" bIns="0" rtlCol="0" anchor="ctr"/>
          <a:lstStyle/>
          <a:p>
            <a:pPr indent="0" marL="0">
              <a:buNone/>
            </a:pPr>
            <a:r>
              <a:rPr lang="en-US" sz="4600" b="1" dirty="0">
                <a:solidFill>
                  <a:srgbClr val="B91C1C"/>
                </a:solidFill>
                <a:latin typeface="Cambria" pitchFamily="34" charset="0"/>
                <a:ea typeface="Cambria" pitchFamily="34" charset="-122"/>
                <a:cs typeface="Cambria" pitchFamily="34" charset="-120"/>
              </a:rPr>
              <a:t>1,500</a:t>
            </a:r>
            <a:pPr indent="0" marL="0">
              <a:buNone/>
            </a:pPr>
            <a:r>
              <a:rPr lang="en-US" sz="2000" dirty="0">
                <a:solidFill>
                  <a:srgbClr val="6B7280"/>
                </a:solidFill>
                <a:latin typeface="Cambria" pitchFamily="34" charset="0"/>
                <a:ea typeface="Cambria" pitchFamily="34" charset="-122"/>
                <a:cs typeface="Cambria" pitchFamily="34" charset="-120"/>
              </a:rPr>
              <a:t>  ppm</a:t>
            </a:r>
            <a:endParaRPr lang="en-US" sz="4600" dirty="0"/>
          </a:p>
        </p:txBody>
      </p:sp>
      <p:sp>
        <p:nvSpPr>
          <p:cNvPr id="13" name="Text 11"/>
          <p:cNvSpPr/>
          <p:nvPr/>
        </p:nvSpPr>
        <p:spPr>
          <a:xfrm>
            <a:off x="685800" y="5440680"/>
            <a:ext cx="5029200" cy="45720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above 1,000 ppm, cognitive performance measurably drops</a:t>
            </a:r>
            <a:endParaRPr lang="en-US" sz="1200" dirty="0"/>
          </a:p>
        </p:txBody>
      </p:sp>
      <p:sp>
        <p:nvSpPr>
          <p:cNvPr id="14" name="Text 12"/>
          <p:cNvSpPr/>
          <p:nvPr/>
        </p:nvSpPr>
        <p:spPr>
          <a:xfrm>
            <a:off x="6766560" y="502920"/>
            <a:ext cx="4754880" cy="274320"/>
          </a:xfrm>
          <a:prstGeom prst="rect">
            <a:avLst/>
          </a:prstGeom>
          <a:noFill/>
          <a:ln/>
        </p:spPr>
        <p:txBody>
          <a:bodyPr wrap="square" lIns="0" tIns="0" rIns="0" bIns="0" rtlCol="0" anchor="ctr"/>
          <a:lstStyle/>
          <a:p>
            <a:pPr indent="0" marL="0">
              <a:buNone/>
            </a:pPr>
            <a:r>
              <a:rPr lang="en-US" sz="1200" b="1" spc="300" kern="0" dirty="0">
                <a:solidFill>
                  <a:srgbClr val="3FBF7F"/>
                </a:solidFill>
                <a:latin typeface="Calibri" pitchFamily="34" charset="0"/>
                <a:ea typeface="Calibri" pitchFamily="34" charset="-122"/>
                <a:cs typeface="Calibri" pitchFamily="34" charset="-120"/>
              </a:rPr>
              <a:t>WITH LIBRISENSE</a:t>
            </a:r>
            <a:endParaRPr lang="en-US" sz="1200" dirty="0"/>
          </a:p>
        </p:txBody>
      </p:sp>
      <p:sp>
        <p:nvSpPr>
          <p:cNvPr id="15" name="Text 13"/>
          <p:cNvSpPr/>
          <p:nvPr/>
        </p:nvSpPr>
        <p:spPr>
          <a:xfrm>
            <a:off x="6766560" y="914400"/>
            <a:ext cx="512064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Same morning.</a:t>
            </a:r>
            <a:endParaRPr lang="en-US" sz="3000" dirty="0"/>
          </a:p>
        </p:txBody>
      </p:sp>
      <p:sp>
        <p:nvSpPr>
          <p:cNvPr id="16" name="Text 14"/>
          <p:cNvSpPr/>
          <p:nvPr/>
        </p:nvSpPr>
        <p:spPr>
          <a:xfrm>
            <a:off x="6766560" y="1874520"/>
            <a:ext cx="4937760" cy="457200"/>
          </a:xfrm>
          <a:prstGeom prst="rect">
            <a:avLst/>
          </a:prstGeom>
          <a:noFill/>
          <a:ln/>
        </p:spPr>
        <p:txBody>
          <a:bodyPr wrap="square" lIns="0" tIns="0" rIns="0" bIns="0" rtlCol="0" anchor="ctr"/>
          <a:lstStyle/>
          <a:p>
            <a:pPr indent="0" marL="0">
              <a:buNone/>
            </a:pPr>
            <a:r>
              <a:rPr lang="en-US" sz="1550" dirty="0">
                <a:solidFill>
                  <a:srgbClr val="9DB2C7"/>
                </a:solidFill>
                <a:latin typeface="Calibri" pitchFamily="34" charset="0"/>
                <a:ea typeface="Calibri" pitchFamily="34" charset="-122"/>
                <a:cs typeface="Calibri" pitchFamily="34" charset="-120"/>
              </a:rPr>
              <a:t>Sensors catch the CO₂ rise.</a:t>
            </a:r>
            <a:endParaRPr lang="en-US" sz="1550" dirty="0"/>
          </a:p>
        </p:txBody>
      </p:sp>
      <p:sp>
        <p:nvSpPr>
          <p:cNvPr id="17" name="Text 15"/>
          <p:cNvSpPr/>
          <p:nvPr/>
        </p:nvSpPr>
        <p:spPr>
          <a:xfrm>
            <a:off x="6766560" y="2423160"/>
            <a:ext cx="4937760" cy="457200"/>
          </a:xfrm>
          <a:prstGeom prst="rect">
            <a:avLst/>
          </a:prstGeom>
          <a:noFill/>
          <a:ln/>
        </p:spPr>
        <p:txBody>
          <a:bodyPr wrap="square" lIns="0" tIns="0" rIns="0" bIns="0" rtlCol="0" anchor="ctr"/>
          <a:lstStyle/>
          <a:p>
            <a:pPr indent="0" marL="0">
              <a:buNone/>
            </a:pPr>
            <a:r>
              <a:rPr lang="en-US" sz="1550" dirty="0">
                <a:solidFill>
                  <a:srgbClr val="9DB2C7"/>
                </a:solidFill>
                <a:latin typeface="Calibri" pitchFamily="34" charset="0"/>
                <a:ea typeface="Calibri" pitchFamily="34" charset="-122"/>
                <a:cs typeface="Calibri" pitchFamily="34" charset="-120"/>
              </a:rPr>
              <a:t>The AI planner finds the optimal environment.</a:t>
            </a:r>
            <a:endParaRPr lang="en-US" sz="1550" dirty="0"/>
          </a:p>
        </p:txBody>
      </p:sp>
      <p:sp>
        <p:nvSpPr>
          <p:cNvPr id="18" name="Text 16"/>
          <p:cNvSpPr/>
          <p:nvPr/>
        </p:nvSpPr>
        <p:spPr>
          <a:xfrm>
            <a:off x="6766560" y="2971800"/>
            <a:ext cx="4937760" cy="457200"/>
          </a:xfrm>
          <a:prstGeom prst="rect">
            <a:avLst/>
          </a:prstGeom>
          <a:noFill/>
          <a:ln/>
        </p:spPr>
        <p:txBody>
          <a:bodyPr wrap="square" lIns="0" tIns="0" rIns="0" bIns="0" rtlCol="0" anchor="ctr"/>
          <a:lstStyle/>
          <a:p>
            <a:pPr indent="0" marL="0">
              <a:buNone/>
            </a:pPr>
            <a:r>
              <a:rPr lang="en-US" sz="1550" dirty="0">
                <a:solidFill>
                  <a:srgbClr val="9DB2C7"/>
                </a:solidFill>
                <a:latin typeface="Calibri" pitchFamily="34" charset="0"/>
                <a:ea typeface="Calibri" pitchFamily="34" charset="-122"/>
                <a:cs typeface="Calibri" pitchFamily="34" charset="-120"/>
              </a:rPr>
              <a:t>It optimises the whole room, not just your seat.</a:t>
            </a:r>
            <a:endParaRPr lang="en-US" sz="1550" dirty="0"/>
          </a:p>
        </p:txBody>
      </p:sp>
      <p:sp>
        <p:nvSpPr>
          <p:cNvPr id="19" name="Text 17"/>
          <p:cNvSpPr/>
          <p:nvPr/>
        </p:nvSpPr>
        <p:spPr>
          <a:xfrm>
            <a:off x="6766560" y="3566160"/>
            <a:ext cx="4937760" cy="45720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The room manages itself.</a:t>
            </a:r>
            <a:endParaRPr lang="en-US" sz="1650" dirty="0"/>
          </a:p>
        </p:txBody>
      </p:sp>
      <p:sp>
        <p:nvSpPr>
          <p:cNvPr id="20" name="Shape 18"/>
          <p:cNvSpPr/>
          <p:nvPr/>
        </p:nvSpPr>
        <p:spPr>
          <a:xfrm>
            <a:off x="6766560" y="4297680"/>
            <a:ext cx="4663440" cy="0"/>
          </a:xfrm>
          <a:prstGeom prst="line">
            <a:avLst/>
          </a:prstGeom>
          <a:noFill/>
          <a:ln w="12700">
            <a:solidFill>
              <a:srgbClr val="2A3B55"/>
            </a:solidFill>
            <a:prstDash val="solid"/>
          </a:ln>
        </p:spPr>
      </p:sp>
      <p:sp>
        <p:nvSpPr>
          <p:cNvPr id="21" name="Text 19"/>
          <p:cNvSpPr/>
          <p:nvPr/>
        </p:nvSpPr>
        <p:spPr>
          <a:xfrm>
            <a:off x="6766560" y="4526280"/>
            <a:ext cx="4937760" cy="822960"/>
          </a:xfrm>
          <a:prstGeom prst="rect">
            <a:avLst/>
          </a:prstGeom>
          <a:noFill/>
          <a:ln/>
        </p:spPr>
        <p:txBody>
          <a:bodyPr wrap="square" lIns="0" tIns="0" rIns="0" bIns="0" rtlCol="0" anchor="ctr"/>
          <a:lstStyle/>
          <a:p>
            <a:pPr indent="0" marL="0">
              <a:buNone/>
            </a:pPr>
            <a:r>
              <a:rPr lang="en-US" sz="4600" b="1" dirty="0">
                <a:solidFill>
                  <a:srgbClr val="3FBF7F"/>
                </a:solidFill>
                <a:latin typeface="Cambria" pitchFamily="34" charset="0"/>
                <a:ea typeface="Cambria" pitchFamily="34" charset="-122"/>
                <a:cs typeface="Cambria" pitchFamily="34" charset="-120"/>
              </a:rPr>
              <a:t>800</a:t>
            </a:r>
            <a:pPr indent="0" marL="0">
              <a:buNone/>
            </a:pPr>
            <a:r>
              <a:rPr lang="en-US" sz="2000" dirty="0">
                <a:solidFill>
                  <a:srgbClr val="9DB2C7"/>
                </a:solidFill>
                <a:latin typeface="Cambria" pitchFamily="34" charset="0"/>
                <a:ea typeface="Cambria" pitchFamily="34" charset="-122"/>
                <a:cs typeface="Cambria" pitchFamily="34" charset="-120"/>
              </a:rPr>
              <a:t>  ppm  ✓</a:t>
            </a:r>
            <a:endParaRPr lang="en-US" sz="4600" dirty="0"/>
          </a:p>
        </p:txBody>
      </p:sp>
      <p:sp>
        <p:nvSpPr>
          <p:cNvPr id="22" name="Text 20"/>
          <p:cNvSpPr/>
          <p:nvPr/>
        </p:nvSpPr>
        <p:spPr>
          <a:xfrm>
            <a:off x="6766560" y="5440680"/>
            <a:ext cx="4937760" cy="457200"/>
          </a:xfrm>
          <a:prstGeom prst="rect">
            <a:avLst/>
          </a:prstGeom>
          <a:noFill/>
          <a:ln/>
        </p:spPr>
        <p:txBody>
          <a:bodyPr wrap="square" lIns="0" tIns="0" rIns="0" bIns="0" rtlCol="0" anchor="ctr"/>
          <a:lstStyle/>
          <a:p>
            <a:pPr indent="0" marL="0">
              <a:buNone/>
            </a:pPr>
            <a:r>
              <a:rPr lang="en-US" sz="1200" i="1" dirty="0">
                <a:solidFill>
                  <a:srgbClr val="9DB2C7"/>
                </a:solidFill>
                <a:latin typeface="Calibri" pitchFamily="34" charset="0"/>
                <a:ea typeface="Calibri" pitchFamily="34" charset="-122"/>
                <a:cs typeface="Calibri" pitchFamily="34" charset="-120"/>
              </a:rPr>
              <a:t>comfort · energy · focus: the whole room, optimised</a:t>
            </a:r>
            <a:endParaRPr lang="en-US" sz="1200" dirty="0"/>
          </a:p>
        </p:txBody>
      </p:sp>
      <p:sp>
        <p:nvSpPr>
          <p:cNvPr id="23" name="Shape 21"/>
          <p:cNvSpPr/>
          <p:nvPr/>
        </p:nvSpPr>
        <p:spPr>
          <a:xfrm>
            <a:off x="5838444" y="3063240"/>
            <a:ext cx="512064" cy="310896"/>
          </a:xfrm>
          <a:prstGeom prst="rightArrow">
            <a:avLst/>
          </a:prstGeom>
          <a:solidFill>
            <a:srgbClr val="D97706"/>
          </a:solidFill>
          <a:ln w="12700">
            <a:solidFill>
              <a:srgbClr val="FFFFFF"/>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Setup: two Raspberry Pis and a browser dashboard</a:t>
            </a:r>
            <a:endParaRPr lang="en-US" sz="3000" dirty="0"/>
          </a:p>
        </p:txBody>
      </p:sp>
      <p:sp>
        <p:nvSpPr>
          <p:cNvPr id="4" name="Shape 2"/>
          <p:cNvSpPr/>
          <p:nvPr/>
        </p:nvSpPr>
        <p:spPr>
          <a:xfrm>
            <a:off x="640080" y="1325880"/>
            <a:ext cx="3383280" cy="4343400"/>
          </a:xfrm>
          <a:prstGeom prst="roundRect">
            <a:avLst>
              <a:gd name="adj" fmla="val 2703"/>
            </a:avLst>
          </a:prstGeom>
          <a:solidFill>
            <a:srgbClr val="FFFFFF"/>
          </a:solidFill>
          <a:ln w="15875">
            <a:solidFill>
              <a:srgbClr val="E5E7EB"/>
            </a:solidFill>
            <a:prstDash val="solid"/>
          </a:ln>
        </p:spPr>
      </p:sp>
      <p:sp>
        <p:nvSpPr>
          <p:cNvPr id="5" name="Text 3"/>
          <p:cNvSpPr/>
          <p:nvPr/>
        </p:nvSpPr>
        <p:spPr>
          <a:xfrm>
            <a:off x="868680" y="1481328"/>
            <a:ext cx="2926080" cy="32004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Raspberry Pi 3 B+  ·  edge</a:t>
            </a:r>
            <a:endParaRPr lang="en-US" sz="1500" dirty="0"/>
          </a:p>
        </p:txBody>
      </p:sp>
      <p:sp>
        <p:nvSpPr>
          <p:cNvPr id="6" name="Text 4"/>
          <p:cNvSpPr/>
          <p:nvPr/>
        </p:nvSpPr>
        <p:spPr>
          <a:xfrm>
            <a:off x="868680" y="1938528"/>
            <a:ext cx="2926080" cy="228600"/>
          </a:xfrm>
          <a:prstGeom prst="rect">
            <a:avLst/>
          </a:prstGeom>
          <a:noFill/>
          <a:ln/>
        </p:spPr>
        <p:txBody>
          <a:bodyPr wrap="square" lIns="0" tIns="0" rIns="0" bIns="0" rtlCol="0" anchor="ctr"/>
          <a:lstStyle/>
          <a:p>
            <a:pPr indent="0" marL="0">
              <a:buNone/>
            </a:pPr>
            <a:r>
              <a:rPr lang="en-US" sz="950" b="1" spc="200" kern="0" dirty="0">
                <a:solidFill>
                  <a:srgbClr val="15803D"/>
                </a:solidFill>
                <a:latin typeface="Calibri" pitchFamily="34" charset="0"/>
                <a:ea typeface="Calibri" pitchFamily="34" charset="-122"/>
                <a:cs typeface="Calibri" pitchFamily="34" charset="-120"/>
              </a:rPr>
              <a:t>SENSES</a:t>
            </a:r>
            <a:endParaRPr lang="en-US" sz="950" dirty="0"/>
          </a:p>
        </p:txBody>
      </p:sp>
      <p:sp>
        <p:nvSpPr>
          <p:cNvPr id="7" name="Text 5"/>
          <p:cNvSpPr/>
          <p:nvPr/>
        </p:nvSpPr>
        <p:spPr>
          <a:xfrm>
            <a:off x="868680" y="2194560"/>
            <a:ext cx="2926080" cy="594360"/>
          </a:xfrm>
          <a:prstGeom prst="rect">
            <a:avLst/>
          </a:prstGeom>
          <a:noFill/>
          <a:ln/>
        </p:spPr>
        <p:txBody>
          <a:bodyPr wrap="square" lIns="0" tIns="0" rIns="0" bIns="0" rtlCol="0" anchor="ctr"/>
          <a:lstStyle/>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motion sensor · 2 Hz</a:t>
            </a:r>
            <a:endParaRPr lang="en-US" sz="1250" dirty="0"/>
          </a:p>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light sensor · 2 Hz</a:t>
            </a:r>
            <a:endParaRPr lang="en-US" sz="1250" dirty="0"/>
          </a:p>
        </p:txBody>
      </p:sp>
      <p:sp>
        <p:nvSpPr>
          <p:cNvPr id="8" name="Text 6"/>
          <p:cNvSpPr/>
          <p:nvPr/>
        </p:nvSpPr>
        <p:spPr>
          <a:xfrm>
            <a:off x="868680" y="2971800"/>
            <a:ext cx="2926080" cy="228600"/>
          </a:xfrm>
          <a:prstGeom prst="rect">
            <a:avLst/>
          </a:prstGeom>
          <a:noFill/>
          <a:ln/>
        </p:spPr>
        <p:txBody>
          <a:bodyPr wrap="square" lIns="0" tIns="0" rIns="0" bIns="0" rtlCol="0" anchor="ctr"/>
          <a:lstStyle/>
          <a:p>
            <a:pPr indent="0" marL="0">
              <a:buNone/>
            </a:pPr>
            <a:r>
              <a:rPr lang="en-US" sz="950" b="1" spc="200" kern="0" dirty="0">
                <a:solidFill>
                  <a:srgbClr val="D97706"/>
                </a:solidFill>
                <a:latin typeface="Calibri" pitchFamily="34" charset="0"/>
                <a:ea typeface="Calibri" pitchFamily="34" charset="-122"/>
                <a:cs typeface="Calibri" pitchFamily="34" charset="-120"/>
              </a:rPr>
              <a:t>ACTS</a:t>
            </a:r>
            <a:endParaRPr lang="en-US" sz="950" dirty="0"/>
          </a:p>
        </p:txBody>
      </p:sp>
      <p:sp>
        <p:nvSpPr>
          <p:cNvPr id="9" name="Text 7"/>
          <p:cNvSpPr/>
          <p:nvPr/>
        </p:nvSpPr>
        <p:spPr>
          <a:xfrm>
            <a:off x="868680" y="3227832"/>
            <a:ext cx="2926080" cy="914400"/>
          </a:xfrm>
          <a:prstGeom prst="rect">
            <a:avLst/>
          </a:prstGeom>
          <a:noFill/>
          <a:ln/>
        </p:spPr>
        <p:txBody>
          <a:bodyPr wrap="square" lIns="0" tIns="0" rIns="0" bIns="0" rtlCol="0" anchor="ctr"/>
          <a:lstStyle/>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reading lamp · ZigBee relay</a:t>
            </a:r>
            <a:endParaRPr lang="en-US" sz="1250" dirty="0"/>
          </a:p>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break LED + quiet buzzer</a:t>
            </a:r>
            <a:endParaRPr lang="en-US" sz="1250" dirty="0"/>
          </a:p>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status LCD · CO₂ light</a:t>
            </a:r>
            <a:endParaRPr lang="en-US" sz="1250" dirty="0"/>
          </a:p>
        </p:txBody>
      </p:sp>
      <p:sp>
        <p:nvSpPr>
          <p:cNvPr id="10" name="Shape 8"/>
          <p:cNvSpPr/>
          <p:nvPr/>
        </p:nvSpPr>
        <p:spPr>
          <a:xfrm>
            <a:off x="868680" y="4434840"/>
            <a:ext cx="201168" cy="201168"/>
          </a:xfrm>
          <a:prstGeom prst="ellipse">
            <a:avLst/>
          </a:prstGeom>
          <a:solidFill>
            <a:srgbClr val="D97706"/>
          </a:solidFill>
          <a:ln/>
        </p:spPr>
      </p:sp>
      <p:sp>
        <p:nvSpPr>
          <p:cNvPr id="11" name="Text 9"/>
          <p:cNvSpPr/>
          <p:nvPr/>
        </p:nvSpPr>
        <p:spPr>
          <a:xfrm>
            <a:off x="1170432" y="4416552"/>
            <a:ext cx="274320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the relay switches a real desk lamp</a:t>
            </a:r>
            <a:endParaRPr lang="en-US" sz="1100" dirty="0"/>
          </a:p>
        </p:txBody>
      </p:sp>
      <p:sp>
        <p:nvSpPr>
          <p:cNvPr id="12" name="Shape 10"/>
          <p:cNvSpPr/>
          <p:nvPr/>
        </p:nvSpPr>
        <p:spPr>
          <a:xfrm>
            <a:off x="4709160" y="1325880"/>
            <a:ext cx="3566160" cy="4343400"/>
          </a:xfrm>
          <a:prstGeom prst="roundRect">
            <a:avLst>
              <a:gd name="adj" fmla="val 2564"/>
            </a:avLst>
          </a:prstGeom>
          <a:solidFill>
            <a:srgbClr val="FFFFFF"/>
          </a:solidFill>
          <a:ln w="15875">
            <a:solidFill>
              <a:srgbClr val="E5E7EB"/>
            </a:solidFill>
            <a:prstDash val="solid"/>
          </a:ln>
        </p:spPr>
      </p:sp>
      <p:sp>
        <p:nvSpPr>
          <p:cNvPr id="13" name="Text 11"/>
          <p:cNvSpPr/>
          <p:nvPr/>
        </p:nvSpPr>
        <p:spPr>
          <a:xfrm>
            <a:off x="4937760" y="1481328"/>
            <a:ext cx="3108960" cy="32004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Raspberry Pi 5  ·  core</a:t>
            </a:r>
            <a:endParaRPr lang="en-US" sz="1500" dirty="0"/>
          </a:p>
        </p:txBody>
      </p:sp>
      <p:sp>
        <p:nvSpPr>
          <p:cNvPr id="14" name="Shape 12"/>
          <p:cNvSpPr/>
          <p:nvPr/>
        </p:nvSpPr>
        <p:spPr>
          <a:xfrm>
            <a:off x="4937760" y="1874520"/>
            <a:ext cx="3108960" cy="384048"/>
          </a:xfrm>
          <a:prstGeom prst="roundRect">
            <a:avLst>
              <a:gd name="adj" fmla="val 14286"/>
            </a:avLst>
          </a:prstGeom>
          <a:solidFill>
            <a:srgbClr val="FBEFD9"/>
          </a:solidFill>
          <a:ln/>
        </p:spPr>
      </p:sp>
      <p:sp>
        <p:nvSpPr>
          <p:cNvPr id="15" name="Text 13"/>
          <p:cNvSpPr/>
          <p:nvPr/>
        </p:nvSpPr>
        <p:spPr>
          <a:xfrm>
            <a:off x="4937760" y="1911096"/>
            <a:ext cx="3108960" cy="320040"/>
          </a:xfrm>
          <a:prstGeom prst="rect">
            <a:avLst/>
          </a:prstGeom>
          <a:noFill/>
          <a:ln/>
        </p:spPr>
        <p:txBody>
          <a:bodyPr wrap="square" lIns="0" tIns="0" rIns="0" bIns="0" rtlCol="0" anchor="ctr"/>
          <a:lstStyle/>
          <a:p>
            <a:pPr algn="ctr" indent="0" marL="0">
              <a:buNone/>
            </a:pPr>
            <a:r>
              <a:rPr lang="en-US" sz="1150" b="1" dirty="0">
                <a:solidFill>
                  <a:srgbClr val="D97706"/>
                </a:solidFill>
                <a:latin typeface="Calibri" pitchFamily="34" charset="0"/>
                <a:ea typeface="Calibri" pitchFamily="34" charset="-122"/>
                <a:cs typeface="Calibri" pitchFamily="34" charset="-120"/>
              </a:rPr>
              <a:t>MQTT broker · Mosquitto</a:t>
            </a:r>
            <a:endParaRPr lang="en-US" sz="1150" dirty="0"/>
          </a:p>
        </p:txBody>
      </p:sp>
      <p:sp>
        <p:nvSpPr>
          <p:cNvPr id="16" name="Shape 14"/>
          <p:cNvSpPr/>
          <p:nvPr/>
        </p:nvSpPr>
        <p:spPr>
          <a:xfrm>
            <a:off x="4937760" y="2450592"/>
            <a:ext cx="3108960" cy="548640"/>
          </a:xfrm>
          <a:prstGeom prst="roundRect">
            <a:avLst>
              <a:gd name="adj" fmla="val 10000"/>
            </a:avLst>
          </a:prstGeom>
          <a:solidFill>
            <a:srgbClr val="F3F4F6"/>
          </a:solidFill>
          <a:ln/>
        </p:spPr>
      </p:sp>
      <p:sp>
        <p:nvSpPr>
          <p:cNvPr id="17" name="Text 15"/>
          <p:cNvSpPr/>
          <p:nvPr/>
        </p:nvSpPr>
        <p:spPr>
          <a:xfrm>
            <a:off x="5047488" y="2496312"/>
            <a:ext cx="2889504" cy="237744"/>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context</a:t>
            </a:r>
            <a:endParaRPr lang="en-US" sz="1150" dirty="0"/>
          </a:p>
        </p:txBody>
      </p:sp>
      <p:sp>
        <p:nvSpPr>
          <p:cNvPr id="18" name="Text 16"/>
          <p:cNvSpPr/>
          <p:nvPr/>
        </p:nvSpPr>
        <p:spPr>
          <a:xfrm>
            <a:off x="5047488" y="2734056"/>
            <a:ext cx="2889504"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world state · CO₂ · session FSM</a:t>
            </a:r>
            <a:endParaRPr lang="en-US" sz="950" dirty="0"/>
          </a:p>
        </p:txBody>
      </p:sp>
      <p:sp>
        <p:nvSpPr>
          <p:cNvPr id="19" name="Text 17"/>
          <p:cNvSpPr/>
          <p:nvPr/>
        </p:nvSpPr>
        <p:spPr>
          <a:xfrm>
            <a:off x="6400800" y="2962656"/>
            <a:ext cx="27432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4937760" y="3209544"/>
            <a:ext cx="3108960" cy="548640"/>
          </a:xfrm>
          <a:prstGeom prst="roundRect">
            <a:avLst>
              <a:gd name="adj" fmla="val 10000"/>
            </a:avLst>
          </a:prstGeom>
          <a:solidFill>
            <a:srgbClr val="F3F4F6"/>
          </a:solidFill>
          <a:ln/>
        </p:spPr>
      </p:sp>
      <p:sp>
        <p:nvSpPr>
          <p:cNvPr id="21" name="Text 19"/>
          <p:cNvSpPr/>
          <p:nvPr/>
        </p:nvSpPr>
        <p:spPr>
          <a:xfrm>
            <a:off x="5047488" y="3255264"/>
            <a:ext cx="2889504" cy="237744"/>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problem generator</a:t>
            </a:r>
            <a:endParaRPr lang="en-US" sz="1150" dirty="0"/>
          </a:p>
        </p:txBody>
      </p:sp>
      <p:sp>
        <p:nvSpPr>
          <p:cNvPr id="22" name="Text 20"/>
          <p:cNvSpPr/>
          <p:nvPr/>
        </p:nvSpPr>
        <p:spPr>
          <a:xfrm>
            <a:off x="5047488" y="3493008"/>
            <a:ext cx="2889504"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state → PDDL goals + weather costs</a:t>
            </a:r>
            <a:endParaRPr lang="en-US" sz="950" dirty="0"/>
          </a:p>
        </p:txBody>
      </p:sp>
      <p:sp>
        <p:nvSpPr>
          <p:cNvPr id="23" name="Text 21"/>
          <p:cNvSpPr/>
          <p:nvPr/>
        </p:nvSpPr>
        <p:spPr>
          <a:xfrm>
            <a:off x="6400800" y="3721608"/>
            <a:ext cx="27432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p>
        </p:txBody>
      </p:sp>
      <p:sp>
        <p:nvSpPr>
          <p:cNvPr id="24" name="Shape 22"/>
          <p:cNvSpPr/>
          <p:nvPr/>
        </p:nvSpPr>
        <p:spPr>
          <a:xfrm>
            <a:off x="4937760" y="3968496"/>
            <a:ext cx="3108960" cy="548640"/>
          </a:xfrm>
          <a:prstGeom prst="roundRect">
            <a:avLst>
              <a:gd name="adj" fmla="val 10000"/>
            </a:avLst>
          </a:prstGeom>
          <a:solidFill>
            <a:srgbClr val="FBEFD9"/>
          </a:solidFill>
          <a:ln w="12700">
            <a:solidFill>
              <a:srgbClr val="D97706"/>
            </a:solidFill>
            <a:prstDash val="solid"/>
          </a:ln>
        </p:spPr>
      </p:sp>
      <p:sp>
        <p:nvSpPr>
          <p:cNvPr id="25" name="Text 23"/>
          <p:cNvSpPr/>
          <p:nvPr/>
        </p:nvSpPr>
        <p:spPr>
          <a:xfrm>
            <a:off x="5047488" y="4014216"/>
            <a:ext cx="2889504" cy="237744"/>
          </a:xfrm>
          <a:prstGeom prst="rect">
            <a:avLst/>
          </a:prstGeom>
          <a:noFill/>
          <a:ln/>
        </p:spPr>
        <p:txBody>
          <a:bodyPr wrap="square" lIns="0" tIns="0" rIns="0" bIns="0" rtlCol="0" anchor="ctr"/>
          <a:lstStyle/>
          <a:p>
            <a:pPr indent="0" marL="0">
              <a:buNone/>
            </a:pPr>
            <a:r>
              <a:rPr lang="en-US" sz="1150" b="1" dirty="0">
                <a:solidFill>
                  <a:srgbClr val="D97706"/>
                </a:solidFill>
                <a:latin typeface="Calibri" pitchFamily="34" charset="0"/>
                <a:ea typeface="Calibri" pitchFamily="34" charset="-122"/>
                <a:cs typeface="Calibri" pitchFamily="34" charset="-120"/>
              </a:rPr>
              <a:t>planner · Fast Downward</a:t>
            </a:r>
            <a:endParaRPr lang="en-US" sz="1150" dirty="0"/>
          </a:p>
        </p:txBody>
      </p:sp>
      <p:sp>
        <p:nvSpPr>
          <p:cNvPr id="26" name="Text 24"/>
          <p:cNvSpPr/>
          <p:nvPr/>
        </p:nvSpPr>
        <p:spPr>
          <a:xfrm>
            <a:off x="5047488" y="4251960"/>
            <a:ext cx="2889504"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cost-optimal plan, ~130 ms</a:t>
            </a:r>
            <a:endParaRPr lang="en-US" sz="950" dirty="0"/>
          </a:p>
        </p:txBody>
      </p:sp>
      <p:sp>
        <p:nvSpPr>
          <p:cNvPr id="27" name="Text 25"/>
          <p:cNvSpPr/>
          <p:nvPr/>
        </p:nvSpPr>
        <p:spPr>
          <a:xfrm>
            <a:off x="6400800" y="4480560"/>
            <a:ext cx="27432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p>
        </p:txBody>
      </p:sp>
      <p:sp>
        <p:nvSpPr>
          <p:cNvPr id="28" name="Shape 26"/>
          <p:cNvSpPr/>
          <p:nvPr/>
        </p:nvSpPr>
        <p:spPr>
          <a:xfrm>
            <a:off x="4937760" y="4727448"/>
            <a:ext cx="3108960" cy="548640"/>
          </a:xfrm>
          <a:prstGeom prst="roundRect">
            <a:avLst>
              <a:gd name="adj" fmla="val 10000"/>
            </a:avLst>
          </a:prstGeom>
          <a:solidFill>
            <a:srgbClr val="F3F4F6"/>
          </a:solidFill>
          <a:ln/>
        </p:spPr>
      </p:sp>
      <p:sp>
        <p:nvSpPr>
          <p:cNvPr id="29" name="Text 27"/>
          <p:cNvSpPr/>
          <p:nvPr/>
        </p:nvSpPr>
        <p:spPr>
          <a:xfrm>
            <a:off x="5047488" y="4773168"/>
            <a:ext cx="2889504" cy="237744"/>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executor</a:t>
            </a:r>
            <a:endParaRPr lang="en-US" sz="1150" dirty="0"/>
          </a:p>
        </p:txBody>
      </p:sp>
      <p:sp>
        <p:nvSpPr>
          <p:cNvPr id="30" name="Text 28"/>
          <p:cNvSpPr/>
          <p:nvPr/>
        </p:nvSpPr>
        <p:spPr>
          <a:xfrm>
            <a:off x="5047488" y="5010912"/>
            <a:ext cx="2889504"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dispatches planned actions</a:t>
            </a:r>
            <a:endParaRPr lang="en-US" sz="950" dirty="0"/>
          </a:p>
        </p:txBody>
      </p:sp>
      <p:sp>
        <p:nvSpPr>
          <p:cNvPr id="31" name="Shape 29"/>
          <p:cNvSpPr/>
          <p:nvPr/>
        </p:nvSpPr>
        <p:spPr>
          <a:xfrm>
            <a:off x="9006840" y="1325880"/>
            <a:ext cx="2560320" cy="4343400"/>
          </a:xfrm>
          <a:prstGeom prst="roundRect">
            <a:avLst>
              <a:gd name="adj" fmla="val 3571"/>
            </a:avLst>
          </a:prstGeom>
          <a:solidFill>
            <a:srgbClr val="FFFFFF"/>
          </a:solidFill>
          <a:ln w="15875">
            <a:solidFill>
              <a:srgbClr val="E5E7EB"/>
            </a:solidFill>
            <a:prstDash val="solid"/>
          </a:ln>
        </p:spPr>
      </p:sp>
      <p:sp>
        <p:nvSpPr>
          <p:cNvPr id="32" name="Text 30"/>
          <p:cNvSpPr/>
          <p:nvPr/>
        </p:nvSpPr>
        <p:spPr>
          <a:xfrm>
            <a:off x="9189720" y="1481328"/>
            <a:ext cx="2194560" cy="32004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Laptop · browser</a:t>
            </a:r>
            <a:endParaRPr lang="en-US" sz="1500" dirty="0"/>
          </a:p>
        </p:txBody>
      </p:sp>
      <p:sp>
        <p:nvSpPr>
          <p:cNvPr id="33" name="Text 31"/>
          <p:cNvSpPr/>
          <p:nvPr/>
        </p:nvSpPr>
        <p:spPr>
          <a:xfrm>
            <a:off x="9189720" y="1938528"/>
            <a:ext cx="2194560" cy="228600"/>
          </a:xfrm>
          <a:prstGeom prst="rect">
            <a:avLst/>
          </a:prstGeom>
          <a:noFill/>
          <a:ln/>
        </p:spPr>
        <p:txBody>
          <a:bodyPr wrap="square" lIns="0" tIns="0" rIns="0" bIns="0" rtlCol="0" anchor="ctr"/>
          <a:lstStyle/>
          <a:p>
            <a:pPr indent="0" marL="0">
              <a:buNone/>
            </a:pPr>
            <a:r>
              <a:rPr lang="en-US" sz="950" b="1" spc="200" kern="0" dirty="0">
                <a:solidFill>
                  <a:srgbClr val="1D4ED8"/>
                </a:solidFill>
                <a:latin typeface="Calibri" pitchFamily="34" charset="0"/>
                <a:ea typeface="Calibri" pitchFamily="34" charset="-122"/>
                <a:cs typeface="Calibri" pitchFamily="34" charset="-120"/>
              </a:rPr>
              <a:t>LIVE DASHBOARD</a:t>
            </a:r>
            <a:endParaRPr lang="en-US" sz="950" dirty="0"/>
          </a:p>
        </p:txBody>
      </p:sp>
      <p:sp>
        <p:nvSpPr>
          <p:cNvPr id="34" name="Text 32"/>
          <p:cNvSpPr/>
          <p:nvPr/>
        </p:nvSpPr>
        <p:spPr>
          <a:xfrm>
            <a:off x="9189720" y="2194560"/>
            <a:ext cx="2240280" cy="1371600"/>
          </a:xfrm>
          <a:prstGeom prst="rect">
            <a:avLst/>
          </a:prstGeom>
          <a:noFill/>
          <a:ln/>
        </p:spPr>
        <p:txBody>
          <a:bodyPr wrap="square" lIns="0" tIns="0" rIns="0" bIns="0" rtlCol="0" anchor="ctr"/>
          <a:lstStyle/>
          <a:p>
            <a:pPr indent="0" marL="0">
              <a:lnSpc>
                <a:spcPct val="130000"/>
              </a:lnSpc>
              <a:buNone/>
            </a:pPr>
            <a:r>
              <a:rPr lang="en-US" sz="1200" dirty="0">
                <a:solidFill>
                  <a:srgbClr val="111827"/>
                </a:solidFill>
                <a:latin typeface="Calibri" pitchFamily="34" charset="0"/>
                <a:ea typeface="Calibri" pitchFamily="34" charset="-122"/>
                <a:cs typeface="Calibri" pitchFamily="34" charset="-120"/>
              </a:rPr>
              <a:t>seat floor plan + windows</a:t>
            </a:r>
            <a:endParaRPr lang="en-US" sz="1200" dirty="0"/>
          </a:p>
          <a:p>
            <a:pPr indent="0" marL="0">
              <a:lnSpc>
                <a:spcPct val="130000"/>
              </a:lnSpc>
              <a:buNone/>
            </a:pPr>
            <a:r>
              <a:rPr lang="en-US" sz="1200" dirty="0">
                <a:solidFill>
                  <a:srgbClr val="111827"/>
                </a:solidFill>
                <a:latin typeface="Calibri" pitchFamily="34" charset="0"/>
                <a:ea typeface="Calibri" pitchFamily="34" charset="-122"/>
                <a:cs typeface="Calibri" pitchFamily="34" charset="-120"/>
              </a:rPr>
              <a:t>current plan with cost</a:t>
            </a:r>
            <a:endParaRPr lang="en-US" sz="1200" dirty="0"/>
          </a:p>
          <a:p>
            <a:pPr indent="0" marL="0">
              <a:lnSpc>
                <a:spcPct val="130000"/>
              </a:lnSpc>
              <a:buNone/>
            </a:pPr>
            <a:r>
              <a:rPr lang="en-US" sz="1200" dirty="0">
                <a:solidFill>
                  <a:srgbClr val="111827"/>
                </a:solidFill>
                <a:latin typeface="Calibri" pitchFamily="34" charset="0"/>
                <a:ea typeface="Calibri" pitchFamily="34" charset="-122"/>
                <a:cs typeface="Calibri" pitchFamily="34" charset="-120"/>
              </a:rPr>
              <a:t>trend charts</a:t>
            </a:r>
            <a:endParaRPr lang="en-US" sz="1200" dirty="0"/>
          </a:p>
          <a:p>
            <a:pPr indent="0" marL="0">
              <a:lnSpc>
                <a:spcPct val="130000"/>
              </a:lnSpc>
              <a:buNone/>
            </a:pPr>
            <a:r>
              <a:rPr lang="en-US" sz="1200" dirty="0">
                <a:solidFill>
                  <a:srgbClr val="111827"/>
                </a:solidFill>
                <a:latin typeface="Calibri" pitchFamily="34" charset="0"/>
                <a:ea typeface="Calibri" pitchFamily="34" charset="-122"/>
                <a:cs typeface="Calibri" pitchFamily="34" charset="-120"/>
              </a:rPr>
              <a:t>Pomodoro session rings</a:t>
            </a:r>
            <a:endParaRPr lang="en-US" sz="1200" dirty="0"/>
          </a:p>
        </p:txBody>
      </p:sp>
      <p:sp>
        <p:nvSpPr>
          <p:cNvPr id="35" name="Text 33"/>
          <p:cNvSpPr/>
          <p:nvPr/>
        </p:nvSpPr>
        <p:spPr>
          <a:xfrm>
            <a:off x="9189720" y="4160520"/>
            <a:ext cx="2240280" cy="9144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in demo mode the laptop joins the WiFi access point spanned by the Pi 5</a:t>
            </a:r>
            <a:endParaRPr lang="en-US" sz="1050" dirty="0"/>
          </a:p>
        </p:txBody>
      </p:sp>
      <p:sp>
        <p:nvSpPr>
          <p:cNvPr id="36" name="Shape 34"/>
          <p:cNvSpPr/>
          <p:nvPr/>
        </p:nvSpPr>
        <p:spPr>
          <a:xfrm>
            <a:off x="4059936" y="2148840"/>
            <a:ext cx="621792" cy="292608"/>
          </a:xfrm>
          <a:prstGeom prst="rightArrow">
            <a:avLst/>
          </a:prstGeom>
          <a:solidFill>
            <a:srgbClr val="15803D"/>
          </a:solidFill>
          <a:ln/>
        </p:spPr>
      </p:sp>
      <p:sp>
        <p:nvSpPr>
          <p:cNvPr id="37" name="Text 35"/>
          <p:cNvSpPr/>
          <p:nvPr/>
        </p:nvSpPr>
        <p:spPr>
          <a:xfrm>
            <a:off x="3913632" y="1847088"/>
            <a:ext cx="914400" cy="256032"/>
          </a:xfrm>
          <a:prstGeom prst="rect">
            <a:avLst/>
          </a:prstGeom>
          <a:noFill/>
          <a:ln/>
        </p:spPr>
        <p:txBody>
          <a:bodyPr wrap="square" lIns="0" tIns="0" rIns="0" bIns="0" rtlCol="0" anchor="ctr"/>
          <a:lstStyle/>
          <a:p>
            <a:pPr algn="ctr" indent="0" marL="0">
              <a:buNone/>
            </a:pPr>
            <a:r>
              <a:rPr lang="en-US" sz="950" dirty="0">
                <a:solidFill>
                  <a:srgbClr val="6B7280"/>
                </a:solidFill>
                <a:latin typeface="Calibri" pitchFamily="34" charset="0"/>
                <a:ea typeface="Calibri" pitchFamily="34" charset="-122"/>
                <a:cs typeface="Calibri" pitchFamily="34" charset="-120"/>
              </a:rPr>
              <a:t>sensor data</a:t>
            </a:r>
            <a:endParaRPr lang="en-US" sz="950" dirty="0"/>
          </a:p>
        </p:txBody>
      </p:sp>
      <p:sp>
        <p:nvSpPr>
          <p:cNvPr id="38" name="Shape 36"/>
          <p:cNvSpPr/>
          <p:nvPr/>
        </p:nvSpPr>
        <p:spPr>
          <a:xfrm>
            <a:off x="4059936" y="4297680"/>
            <a:ext cx="621792" cy="292608"/>
          </a:xfrm>
          <a:prstGeom prst="leftArrow">
            <a:avLst/>
          </a:prstGeom>
          <a:solidFill>
            <a:srgbClr val="D97706"/>
          </a:solidFill>
          <a:ln/>
        </p:spPr>
      </p:sp>
      <p:sp>
        <p:nvSpPr>
          <p:cNvPr id="39" name="Text 37"/>
          <p:cNvSpPr/>
          <p:nvPr/>
        </p:nvSpPr>
        <p:spPr>
          <a:xfrm>
            <a:off x="3913632" y="4626864"/>
            <a:ext cx="914400" cy="256032"/>
          </a:xfrm>
          <a:prstGeom prst="rect">
            <a:avLst/>
          </a:prstGeom>
          <a:noFill/>
          <a:ln/>
        </p:spPr>
        <p:txBody>
          <a:bodyPr wrap="square" lIns="0" tIns="0" rIns="0" bIns="0" rtlCol="0" anchor="ctr"/>
          <a:lstStyle/>
          <a:p>
            <a:pPr algn="ctr" indent="0" marL="0">
              <a:buNone/>
            </a:pPr>
            <a:r>
              <a:rPr lang="en-US" sz="950" dirty="0">
                <a:solidFill>
                  <a:srgbClr val="6B7280"/>
                </a:solidFill>
                <a:latin typeface="Calibri" pitchFamily="34" charset="0"/>
                <a:ea typeface="Calibri" pitchFamily="34" charset="-122"/>
                <a:cs typeface="Calibri" pitchFamily="34" charset="-120"/>
              </a:rPr>
              <a:t>actions</a:t>
            </a:r>
            <a:endParaRPr lang="en-US" sz="950" dirty="0"/>
          </a:p>
        </p:txBody>
      </p:sp>
      <p:sp>
        <p:nvSpPr>
          <p:cNvPr id="40" name="Shape 38"/>
          <p:cNvSpPr/>
          <p:nvPr/>
        </p:nvSpPr>
        <p:spPr>
          <a:xfrm>
            <a:off x="8311896" y="2148840"/>
            <a:ext cx="621792" cy="292608"/>
          </a:xfrm>
          <a:prstGeom prst="rightArrow">
            <a:avLst/>
          </a:prstGeom>
          <a:solidFill>
            <a:srgbClr val="1D4ED8"/>
          </a:solidFill>
          <a:ln/>
        </p:spPr>
      </p:sp>
      <p:sp>
        <p:nvSpPr>
          <p:cNvPr id="41" name="Text 39"/>
          <p:cNvSpPr/>
          <p:nvPr/>
        </p:nvSpPr>
        <p:spPr>
          <a:xfrm>
            <a:off x="8156448" y="1847088"/>
            <a:ext cx="960120" cy="256032"/>
          </a:xfrm>
          <a:prstGeom prst="rect">
            <a:avLst/>
          </a:prstGeom>
          <a:noFill/>
          <a:ln/>
        </p:spPr>
        <p:txBody>
          <a:bodyPr wrap="square" lIns="0" tIns="0" rIns="0" bIns="0" rtlCol="0" anchor="ctr"/>
          <a:lstStyle/>
          <a:p>
            <a:pPr algn="ctr" indent="0" marL="0">
              <a:buNone/>
            </a:pPr>
            <a:r>
              <a:rPr lang="en-US" sz="950" dirty="0">
                <a:solidFill>
                  <a:srgbClr val="6B7280"/>
                </a:solidFill>
                <a:latin typeface="Calibri" pitchFamily="34" charset="0"/>
                <a:ea typeface="Calibri" pitchFamily="34" charset="-122"/>
                <a:cs typeface="Calibri" pitchFamily="34" charset="-120"/>
              </a:rPr>
              <a:t>state + plan</a:t>
            </a:r>
            <a:endParaRPr lang="en-US" sz="950" dirty="0"/>
          </a:p>
        </p:txBody>
      </p:sp>
      <p:sp>
        <p:nvSpPr>
          <p:cNvPr id="42" name="Shape 40"/>
          <p:cNvSpPr/>
          <p:nvPr/>
        </p:nvSpPr>
        <p:spPr>
          <a:xfrm>
            <a:off x="640080" y="5989320"/>
            <a:ext cx="10927080" cy="0"/>
          </a:xfrm>
          <a:prstGeom prst="line">
            <a:avLst/>
          </a:prstGeom>
          <a:noFill/>
          <a:ln w="9525">
            <a:solidFill>
              <a:srgbClr val="E5E7EB"/>
            </a:solidFill>
            <a:prstDash val="solid"/>
          </a:ln>
        </p:spPr>
      </p:sp>
      <p:sp>
        <p:nvSpPr>
          <p:cNvPr id="43" name="Text 41"/>
          <p:cNvSpPr/>
          <p:nvPr/>
        </p:nvSpPr>
        <p:spPr>
          <a:xfrm>
            <a:off x="640080" y="6126480"/>
            <a:ext cx="10927080"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In effect: the lamp follows occupancy and darkness · the airing strategy follows weather costs · breaks are nudged after 2 min · disturbances are corrected in under 1 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AI PLANNING · THE DECISION LOOP</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From a sensor reading to an optimal action</a:t>
            </a:r>
            <a:endParaRPr lang="en-US" sz="3000" dirty="0"/>
          </a:p>
        </p:txBody>
      </p:sp>
      <p:sp>
        <p:nvSpPr>
          <p:cNvPr id="4" name="Shape 2"/>
          <p:cNvSpPr/>
          <p:nvPr/>
        </p:nvSpPr>
        <p:spPr>
          <a:xfrm>
            <a:off x="502920" y="1572768"/>
            <a:ext cx="2011680" cy="3401568"/>
          </a:xfrm>
          <a:prstGeom prst="roundRect">
            <a:avLst>
              <a:gd name="adj" fmla="val 3636"/>
            </a:avLst>
          </a:prstGeom>
          <a:solidFill>
            <a:srgbClr val="FFFFFF"/>
          </a:solidFill>
          <a:ln w="12700">
            <a:solidFill>
              <a:srgbClr val="E5E7EB"/>
            </a:solidFill>
            <a:prstDash val="solid"/>
          </a:ln>
        </p:spPr>
      </p:sp>
      <p:sp>
        <p:nvSpPr>
          <p:cNvPr id="5" name="Text 3"/>
          <p:cNvSpPr/>
          <p:nvPr/>
        </p:nvSpPr>
        <p:spPr>
          <a:xfrm>
            <a:off x="649224" y="1719072"/>
            <a:ext cx="1737360" cy="320040"/>
          </a:xfrm>
          <a:prstGeom prst="rect">
            <a:avLst/>
          </a:prstGeom>
          <a:noFill/>
          <a:ln/>
        </p:spPr>
        <p:txBody>
          <a:bodyPr wrap="square" lIns="0" tIns="0" rIns="0" bIns="0" rtlCol="0" anchor="ctr"/>
          <a:lstStyle/>
          <a:p>
            <a:pPr indent="0" marL="0">
              <a:buNone/>
            </a:pPr>
            <a:r>
              <a:rPr lang="en-US" sz="1300" b="1" dirty="0">
                <a:solidFill>
                  <a:srgbClr val="15803D"/>
                </a:solidFill>
                <a:latin typeface="Cambria" pitchFamily="34" charset="0"/>
                <a:ea typeface="Cambria" pitchFamily="34" charset="-122"/>
                <a:cs typeface="Cambria" pitchFamily="34" charset="-120"/>
              </a:rPr>
              <a:t>SENSE</a:t>
            </a:r>
            <a:endParaRPr lang="en-US" sz="1300" dirty="0"/>
          </a:p>
        </p:txBody>
      </p:sp>
      <p:sp>
        <p:nvSpPr>
          <p:cNvPr id="6" name="Text 4"/>
          <p:cNvSpPr/>
          <p:nvPr/>
        </p:nvSpPr>
        <p:spPr>
          <a:xfrm>
            <a:off x="649224"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world state · 2 Hz</a:t>
            </a:r>
            <a:endParaRPr lang="en-US" sz="950" dirty="0"/>
          </a:p>
        </p:txBody>
      </p:sp>
      <p:sp>
        <p:nvSpPr>
          <p:cNvPr id="7" name="Shape 5"/>
          <p:cNvSpPr/>
          <p:nvPr/>
        </p:nvSpPr>
        <p:spPr>
          <a:xfrm>
            <a:off x="649224" y="2322576"/>
            <a:ext cx="1719072" cy="0"/>
          </a:xfrm>
          <a:prstGeom prst="line">
            <a:avLst/>
          </a:prstGeom>
          <a:noFill/>
          <a:ln w="9525">
            <a:solidFill>
              <a:srgbClr val="E5E7EB"/>
            </a:solidFill>
            <a:prstDash val="solid"/>
          </a:ln>
        </p:spPr>
      </p:sp>
      <p:sp>
        <p:nvSpPr>
          <p:cNvPr id="8" name="Text 6"/>
          <p:cNvSpPr/>
          <p:nvPr/>
        </p:nvSpPr>
        <p:spPr>
          <a:xfrm>
            <a:off x="649224" y="254203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occupied · yes</a:t>
            </a:r>
            <a:endParaRPr lang="en-US" sz="1050" dirty="0"/>
          </a:p>
        </p:txBody>
      </p:sp>
      <p:sp>
        <p:nvSpPr>
          <p:cNvPr id="9" name="Text 7"/>
          <p:cNvSpPr/>
          <p:nvPr/>
        </p:nvSpPr>
        <p:spPr>
          <a:xfrm>
            <a:off x="649224" y="290779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light · 55 %</a:t>
            </a:r>
            <a:endParaRPr lang="en-US" sz="1050" dirty="0"/>
          </a:p>
        </p:txBody>
      </p:sp>
      <p:sp>
        <p:nvSpPr>
          <p:cNvPr id="10" name="Text 8"/>
          <p:cNvSpPr/>
          <p:nvPr/>
        </p:nvSpPr>
        <p:spPr>
          <a:xfrm>
            <a:off x="649224" y="327355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CO₂ · 1547 ppm</a:t>
            </a:r>
            <a:endParaRPr lang="en-US" sz="1050" dirty="0"/>
          </a:p>
        </p:txBody>
      </p:sp>
      <p:sp>
        <p:nvSpPr>
          <p:cNvPr id="11" name="Text 9"/>
          <p:cNvSpPr/>
          <p:nvPr/>
        </p:nvSpPr>
        <p:spPr>
          <a:xfrm>
            <a:off x="649224" y="363931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outdoor · 33 °C</a:t>
            </a:r>
            <a:endParaRPr lang="en-US" sz="1050" dirty="0"/>
          </a:p>
        </p:txBody>
      </p:sp>
      <p:sp>
        <p:nvSpPr>
          <p:cNvPr id="12" name="Shape 10"/>
          <p:cNvSpPr/>
          <p:nvPr/>
        </p:nvSpPr>
        <p:spPr>
          <a:xfrm>
            <a:off x="2795321" y="1572768"/>
            <a:ext cx="2011680" cy="3401568"/>
          </a:xfrm>
          <a:prstGeom prst="roundRect">
            <a:avLst>
              <a:gd name="adj" fmla="val 3636"/>
            </a:avLst>
          </a:prstGeom>
          <a:solidFill>
            <a:srgbClr val="FFFFFF"/>
          </a:solidFill>
          <a:ln w="12700">
            <a:solidFill>
              <a:srgbClr val="E5E7EB"/>
            </a:solidFill>
            <a:prstDash val="solid"/>
          </a:ln>
        </p:spPr>
      </p:sp>
      <p:sp>
        <p:nvSpPr>
          <p:cNvPr id="13" name="Text 11"/>
          <p:cNvSpPr/>
          <p:nvPr/>
        </p:nvSpPr>
        <p:spPr>
          <a:xfrm>
            <a:off x="2941625" y="1719072"/>
            <a:ext cx="1737360" cy="320040"/>
          </a:xfrm>
          <a:prstGeom prst="rect">
            <a:avLst/>
          </a:prstGeom>
          <a:noFill/>
          <a:ln/>
        </p:spPr>
        <p:txBody>
          <a:bodyPr wrap="square" lIns="0" tIns="0" rIns="0" bIns="0" rtlCol="0" anchor="ctr"/>
          <a:lstStyle/>
          <a:p>
            <a:pPr indent="0" marL="0">
              <a:buNone/>
            </a:pPr>
            <a:r>
              <a:rPr lang="en-US" sz="1300" b="1" dirty="0">
                <a:solidFill>
                  <a:srgbClr val="111827"/>
                </a:solidFill>
                <a:latin typeface="Cambria" pitchFamily="34" charset="0"/>
                <a:ea typeface="Cambria" pitchFamily="34" charset="-122"/>
                <a:cs typeface="Cambria" pitchFamily="34" charset="-120"/>
              </a:rPr>
              <a:t>DISCRETISE</a:t>
            </a:r>
            <a:endParaRPr lang="en-US" sz="1300" dirty="0"/>
          </a:p>
        </p:txBody>
      </p:sp>
      <p:sp>
        <p:nvSpPr>
          <p:cNvPr id="14" name="Text 12"/>
          <p:cNvSpPr/>
          <p:nvPr/>
        </p:nvSpPr>
        <p:spPr>
          <a:xfrm>
            <a:off x="2941625"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state → PDDL facts</a:t>
            </a:r>
            <a:endParaRPr lang="en-US" sz="950" dirty="0"/>
          </a:p>
        </p:txBody>
      </p:sp>
      <p:sp>
        <p:nvSpPr>
          <p:cNvPr id="15" name="Shape 13"/>
          <p:cNvSpPr/>
          <p:nvPr/>
        </p:nvSpPr>
        <p:spPr>
          <a:xfrm>
            <a:off x="2941625" y="2322576"/>
            <a:ext cx="1719072" cy="0"/>
          </a:xfrm>
          <a:prstGeom prst="line">
            <a:avLst/>
          </a:prstGeom>
          <a:noFill/>
          <a:ln w="9525">
            <a:solidFill>
              <a:srgbClr val="E5E7EB"/>
            </a:solidFill>
            <a:prstDash val="solid"/>
          </a:ln>
        </p:spPr>
      </p:sp>
      <p:sp>
        <p:nvSpPr>
          <p:cNvPr id="16" name="Text 14"/>
          <p:cNvSpPr/>
          <p:nvPr/>
        </p:nvSpPr>
        <p:spPr>
          <a:xfrm>
            <a:off x="2941625" y="2542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(occupied r1)</a:t>
            </a:r>
            <a:endParaRPr lang="en-US" sz="1000" dirty="0"/>
          </a:p>
        </p:txBody>
      </p:sp>
      <p:sp>
        <p:nvSpPr>
          <p:cNvPr id="17" name="Text 15"/>
          <p:cNvSpPr/>
          <p:nvPr/>
        </p:nvSpPr>
        <p:spPr>
          <a:xfrm>
            <a:off x="2941625" y="2871216"/>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(co2_high r1)</a:t>
            </a:r>
            <a:endParaRPr lang="en-US" sz="1000" dirty="0"/>
          </a:p>
        </p:txBody>
      </p:sp>
      <p:sp>
        <p:nvSpPr>
          <p:cNvPr id="18" name="Text 16"/>
          <p:cNvSpPr/>
          <p:nvPr/>
        </p:nvSpPr>
        <p:spPr>
          <a:xfrm>
            <a:off x="2941625" y="3346704"/>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from thresholds:</a:t>
            </a:r>
            <a:endParaRPr lang="en-US" sz="1050" dirty="0"/>
          </a:p>
        </p:txBody>
      </p:sp>
      <p:sp>
        <p:nvSpPr>
          <p:cNvPr id="19" name="Text 17"/>
          <p:cNvSpPr/>
          <p:nvPr/>
        </p:nvSpPr>
        <p:spPr>
          <a:xfrm>
            <a:off x="2941625" y="3657600"/>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light 55 % ≥ 40 %</a:t>
            </a:r>
            <a:endParaRPr lang="en-US" sz="1050" dirty="0"/>
          </a:p>
        </p:txBody>
      </p:sp>
      <p:sp>
        <p:nvSpPr>
          <p:cNvPr id="20" name="Text 18"/>
          <p:cNvSpPr/>
          <p:nvPr/>
        </p:nvSpPr>
        <p:spPr>
          <a:xfrm>
            <a:off x="2941625" y="3968496"/>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CO₂ 1547 ≥ 1100</a:t>
            </a:r>
            <a:endParaRPr lang="en-US" sz="1050" dirty="0"/>
          </a:p>
        </p:txBody>
      </p:sp>
      <p:sp>
        <p:nvSpPr>
          <p:cNvPr id="21" name="Shape 19"/>
          <p:cNvSpPr/>
          <p:nvPr/>
        </p:nvSpPr>
        <p:spPr>
          <a:xfrm>
            <a:off x="5087722" y="1572768"/>
            <a:ext cx="2011680" cy="3401568"/>
          </a:xfrm>
          <a:prstGeom prst="roundRect">
            <a:avLst>
              <a:gd name="adj" fmla="val 3636"/>
            </a:avLst>
          </a:prstGeom>
          <a:solidFill>
            <a:srgbClr val="FBEFD9"/>
          </a:solidFill>
          <a:ln w="19050">
            <a:solidFill>
              <a:srgbClr val="D97706"/>
            </a:solidFill>
            <a:prstDash val="solid"/>
          </a:ln>
        </p:spPr>
      </p:sp>
      <p:sp>
        <p:nvSpPr>
          <p:cNvPr id="22" name="Text 20"/>
          <p:cNvSpPr/>
          <p:nvPr/>
        </p:nvSpPr>
        <p:spPr>
          <a:xfrm>
            <a:off x="5234026" y="1719072"/>
            <a:ext cx="1737360" cy="320040"/>
          </a:xfrm>
          <a:prstGeom prst="rect">
            <a:avLst/>
          </a:prstGeom>
          <a:noFill/>
          <a:ln/>
        </p:spPr>
        <p:txBody>
          <a:bodyPr wrap="square" lIns="0" tIns="0" rIns="0" bIns="0" rtlCol="0" anchor="ctr"/>
          <a:lstStyle/>
          <a:p>
            <a:pPr indent="0" marL="0">
              <a:buNone/>
            </a:pPr>
            <a:r>
              <a:rPr lang="en-US" sz="1300" b="1" dirty="0">
                <a:solidFill>
                  <a:srgbClr val="D97706"/>
                </a:solidFill>
                <a:latin typeface="Cambria" pitchFamily="34" charset="0"/>
                <a:ea typeface="Cambria" pitchFamily="34" charset="-122"/>
                <a:cs typeface="Cambria" pitchFamily="34" charset="-120"/>
              </a:rPr>
              <a:t>PDDL PROBLEM</a:t>
            </a:r>
            <a:endParaRPr lang="en-US" sz="1300" dirty="0"/>
          </a:p>
        </p:txBody>
      </p:sp>
      <p:sp>
        <p:nvSpPr>
          <p:cNvPr id="23" name="Text 21"/>
          <p:cNvSpPr/>
          <p:nvPr/>
        </p:nvSpPr>
        <p:spPr>
          <a:xfrm>
            <a:off x="5234026"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goal + action costs</a:t>
            </a:r>
            <a:endParaRPr lang="en-US" sz="950" dirty="0"/>
          </a:p>
        </p:txBody>
      </p:sp>
      <p:sp>
        <p:nvSpPr>
          <p:cNvPr id="24" name="Shape 22"/>
          <p:cNvSpPr/>
          <p:nvPr/>
        </p:nvSpPr>
        <p:spPr>
          <a:xfrm>
            <a:off x="5234026" y="2322576"/>
            <a:ext cx="1719072" cy="0"/>
          </a:xfrm>
          <a:prstGeom prst="line">
            <a:avLst/>
          </a:prstGeom>
          <a:noFill/>
          <a:ln w="9525">
            <a:solidFill>
              <a:srgbClr val="E5E7EB"/>
            </a:solidFill>
            <a:prstDash val="solid"/>
          </a:ln>
        </p:spPr>
      </p:sp>
      <p:sp>
        <p:nvSpPr>
          <p:cNvPr id="25" name="Text 23"/>
          <p:cNvSpPr/>
          <p:nvPr/>
        </p:nvSpPr>
        <p:spPr>
          <a:xfrm>
            <a:off x="5234026" y="2542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:goal</a:t>
            </a:r>
            <a:endParaRPr lang="en-US" sz="1000" dirty="0"/>
          </a:p>
        </p:txBody>
      </p:sp>
      <p:sp>
        <p:nvSpPr>
          <p:cNvPr id="26" name="Text 24"/>
          <p:cNvSpPr/>
          <p:nvPr/>
        </p:nvSpPr>
        <p:spPr>
          <a:xfrm>
            <a:off x="5234026" y="286207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 (not (co2_high r1))</a:t>
            </a:r>
            <a:endParaRPr lang="en-US" sz="1000" dirty="0"/>
          </a:p>
        </p:txBody>
      </p:sp>
      <p:sp>
        <p:nvSpPr>
          <p:cNvPr id="27" name="Text 25"/>
          <p:cNvSpPr/>
          <p:nvPr/>
        </p:nvSpPr>
        <p:spPr>
          <a:xfrm>
            <a:off x="5234026" y="336499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pulse-cost = 3</a:t>
            </a:r>
            <a:endParaRPr lang="en-US" sz="1000" dirty="0"/>
          </a:p>
        </p:txBody>
      </p:sp>
      <p:sp>
        <p:nvSpPr>
          <p:cNvPr id="28" name="Text 26"/>
          <p:cNvSpPr/>
          <p:nvPr/>
        </p:nvSpPr>
        <p:spPr>
          <a:xfrm>
            <a:off x="5234026" y="3685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full-cost = 4 + ΔT/2</a:t>
            </a:r>
            <a:endParaRPr lang="en-US" sz="1000" dirty="0"/>
          </a:p>
        </p:txBody>
      </p:sp>
      <p:sp>
        <p:nvSpPr>
          <p:cNvPr id="29" name="Text 27"/>
          <p:cNvSpPr/>
          <p:nvPr/>
        </p:nvSpPr>
        <p:spPr>
          <a:xfrm>
            <a:off x="5234026" y="4041648"/>
            <a:ext cx="1792224" cy="310896"/>
          </a:xfrm>
          <a:prstGeom prst="rect">
            <a:avLst/>
          </a:prstGeom>
          <a:noFill/>
          <a:ln/>
        </p:spPr>
        <p:txBody>
          <a:bodyPr wrap="square" lIns="0" tIns="0" rIns="0" bIns="0" rtlCol="0" anchor="ctr"/>
          <a:lstStyle/>
          <a:p>
            <a:pPr indent="0" marL="0">
              <a:buNone/>
            </a:pPr>
            <a:r>
              <a:rPr lang="en-US" sz="1000" b="1" dirty="0">
                <a:solidFill>
                  <a:srgbClr val="D97706"/>
                </a:solidFill>
                <a:latin typeface="Courier New" pitchFamily="34" charset="0"/>
                <a:ea typeface="Courier New" pitchFamily="34" charset="-122"/>
                <a:cs typeface="Courier New" pitchFamily="34" charset="-120"/>
              </a:rPr>
              <a:t>ΔT = 0  →  full = 4</a:t>
            </a:r>
            <a:endParaRPr lang="en-US" sz="1000" dirty="0"/>
          </a:p>
        </p:txBody>
      </p:sp>
      <p:sp>
        <p:nvSpPr>
          <p:cNvPr id="30" name="Shape 28"/>
          <p:cNvSpPr/>
          <p:nvPr/>
        </p:nvSpPr>
        <p:spPr>
          <a:xfrm>
            <a:off x="7380122" y="1572768"/>
            <a:ext cx="2011680" cy="3401568"/>
          </a:xfrm>
          <a:prstGeom prst="roundRect">
            <a:avLst>
              <a:gd name="adj" fmla="val 3636"/>
            </a:avLst>
          </a:prstGeom>
          <a:solidFill>
            <a:srgbClr val="FFFFFF"/>
          </a:solidFill>
          <a:ln w="12700">
            <a:solidFill>
              <a:srgbClr val="E5E7EB"/>
            </a:solidFill>
            <a:prstDash val="solid"/>
          </a:ln>
        </p:spPr>
      </p:sp>
      <p:sp>
        <p:nvSpPr>
          <p:cNvPr id="31" name="Text 29"/>
          <p:cNvSpPr/>
          <p:nvPr/>
        </p:nvSpPr>
        <p:spPr>
          <a:xfrm>
            <a:off x="7526426" y="1719072"/>
            <a:ext cx="1737360" cy="320040"/>
          </a:xfrm>
          <a:prstGeom prst="rect">
            <a:avLst/>
          </a:prstGeom>
          <a:noFill/>
          <a:ln/>
        </p:spPr>
        <p:txBody>
          <a:bodyPr wrap="square" lIns="0" tIns="0" rIns="0" bIns="0" rtlCol="0" anchor="ctr"/>
          <a:lstStyle/>
          <a:p>
            <a:pPr indent="0" marL="0">
              <a:buNone/>
            </a:pPr>
            <a:r>
              <a:rPr lang="en-US" sz="1300" b="1" dirty="0">
                <a:solidFill>
                  <a:srgbClr val="D97706"/>
                </a:solidFill>
                <a:latin typeface="Cambria" pitchFamily="34" charset="0"/>
                <a:ea typeface="Cambria" pitchFamily="34" charset="-122"/>
                <a:cs typeface="Cambria" pitchFamily="34" charset="-120"/>
              </a:rPr>
              <a:t>PLAN</a:t>
            </a:r>
            <a:endParaRPr lang="en-US" sz="1300" dirty="0"/>
          </a:p>
        </p:txBody>
      </p:sp>
      <p:sp>
        <p:nvSpPr>
          <p:cNvPr id="32" name="Text 30"/>
          <p:cNvSpPr/>
          <p:nvPr/>
        </p:nvSpPr>
        <p:spPr>
          <a:xfrm>
            <a:off x="7526426"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Fast Downward</a:t>
            </a:r>
            <a:endParaRPr lang="en-US" sz="950" dirty="0"/>
          </a:p>
        </p:txBody>
      </p:sp>
      <p:sp>
        <p:nvSpPr>
          <p:cNvPr id="33" name="Shape 31"/>
          <p:cNvSpPr/>
          <p:nvPr/>
        </p:nvSpPr>
        <p:spPr>
          <a:xfrm>
            <a:off x="7526426" y="2322576"/>
            <a:ext cx="1719072" cy="0"/>
          </a:xfrm>
          <a:prstGeom prst="line">
            <a:avLst/>
          </a:prstGeom>
          <a:noFill/>
          <a:ln w="9525">
            <a:solidFill>
              <a:srgbClr val="E5E7EB"/>
            </a:solidFill>
            <a:prstDash val="solid"/>
          </a:ln>
        </p:spPr>
      </p:sp>
      <p:sp>
        <p:nvSpPr>
          <p:cNvPr id="34" name="Text 32"/>
          <p:cNvSpPr/>
          <p:nvPr/>
        </p:nvSpPr>
        <p:spPr>
          <a:xfrm>
            <a:off x="7526426" y="2542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A* + LM-Cut</a:t>
            </a:r>
            <a:endParaRPr lang="en-US" sz="1000" dirty="0"/>
          </a:p>
        </p:txBody>
      </p:sp>
      <p:sp>
        <p:nvSpPr>
          <p:cNvPr id="35" name="Text 33"/>
          <p:cNvSpPr/>
          <p:nvPr/>
        </p:nvSpPr>
        <p:spPr>
          <a:xfrm>
            <a:off x="7526426" y="2999232"/>
            <a:ext cx="1792224" cy="310896"/>
          </a:xfrm>
          <a:prstGeom prst="rect">
            <a:avLst/>
          </a:prstGeom>
          <a:noFill/>
          <a:ln/>
        </p:spPr>
        <p:txBody>
          <a:bodyPr wrap="square" lIns="0" tIns="0" rIns="0" bIns="0" rtlCol="0" anchor="ctr"/>
          <a:lstStyle/>
          <a:p>
            <a:pPr indent="0" marL="0">
              <a:buNone/>
            </a:pPr>
            <a:r>
              <a:rPr lang="en-US" sz="1000" dirty="0">
                <a:solidFill>
                  <a:srgbClr val="6B7280"/>
                </a:solidFill>
                <a:latin typeface="Courier New" pitchFamily="34" charset="0"/>
                <a:ea typeface="Courier New" pitchFamily="34" charset="-122"/>
                <a:cs typeface="Courier New" pitchFamily="34" charset="-120"/>
              </a:rPr>
              <a:t>full 4  vs  pulse×2 6</a:t>
            </a:r>
            <a:endParaRPr lang="en-US" sz="1000" dirty="0"/>
          </a:p>
        </p:txBody>
      </p:sp>
      <p:sp>
        <p:nvSpPr>
          <p:cNvPr id="36" name="Text 34"/>
          <p:cNvSpPr/>
          <p:nvPr/>
        </p:nvSpPr>
        <p:spPr>
          <a:xfrm>
            <a:off x="7526426" y="3456432"/>
            <a:ext cx="1792224" cy="310896"/>
          </a:xfrm>
          <a:prstGeom prst="rect">
            <a:avLst/>
          </a:prstGeom>
          <a:noFill/>
          <a:ln/>
        </p:spPr>
        <p:txBody>
          <a:bodyPr wrap="square" lIns="0" tIns="0" rIns="0" bIns="0" rtlCol="0" anchor="ctr"/>
          <a:lstStyle/>
          <a:p>
            <a:pPr indent="0" marL="0">
              <a:buNone/>
            </a:pPr>
            <a:r>
              <a:rPr lang="en-US" sz="1000" b="1" dirty="0">
                <a:solidFill>
                  <a:srgbClr val="D97706"/>
                </a:solidFill>
                <a:latin typeface="Courier New" pitchFamily="34" charset="0"/>
                <a:ea typeface="Courier New" pitchFamily="34" charset="-122"/>
                <a:cs typeface="Courier New" pitchFamily="34" charset="-120"/>
              </a:rPr>
              <a:t>→ [full_ventilate]</a:t>
            </a:r>
            <a:endParaRPr lang="en-US" sz="1000" dirty="0"/>
          </a:p>
        </p:txBody>
      </p:sp>
      <p:sp>
        <p:nvSpPr>
          <p:cNvPr id="37" name="Text 35"/>
          <p:cNvSpPr/>
          <p:nvPr/>
        </p:nvSpPr>
        <p:spPr>
          <a:xfrm>
            <a:off x="7526426" y="3931920"/>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cost-optimal, ~130 ms</a:t>
            </a:r>
            <a:endParaRPr lang="en-US" sz="1050" dirty="0"/>
          </a:p>
        </p:txBody>
      </p:sp>
      <p:sp>
        <p:nvSpPr>
          <p:cNvPr id="38" name="Shape 36"/>
          <p:cNvSpPr/>
          <p:nvPr/>
        </p:nvSpPr>
        <p:spPr>
          <a:xfrm>
            <a:off x="9672523" y="1572768"/>
            <a:ext cx="2011680" cy="3401568"/>
          </a:xfrm>
          <a:prstGeom prst="roundRect">
            <a:avLst>
              <a:gd name="adj" fmla="val 3636"/>
            </a:avLst>
          </a:prstGeom>
          <a:solidFill>
            <a:srgbClr val="FFFFFF"/>
          </a:solidFill>
          <a:ln w="12700">
            <a:solidFill>
              <a:srgbClr val="E5E7EB"/>
            </a:solidFill>
            <a:prstDash val="solid"/>
          </a:ln>
        </p:spPr>
      </p:sp>
      <p:sp>
        <p:nvSpPr>
          <p:cNvPr id="39" name="Text 37"/>
          <p:cNvSpPr/>
          <p:nvPr/>
        </p:nvSpPr>
        <p:spPr>
          <a:xfrm>
            <a:off x="9818827" y="1719072"/>
            <a:ext cx="1737360" cy="320040"/>
          </a:xfrm>
          <a:prstGeom prst="rect">
            <a:avLst/>
          </a:prstGeom>
          <a:noFill/>
          <a:ln/>
        </p:spPr>
        <p:txBody>
          <a:bodyPr wrap="square" lIns="0" tIns="0" rIns="0" bIns="0" rtlCol="0" anchor="ctr"/>
          <a:lstStyle/>
          <a:p>
            <a:pPr indent="0" marL="0">
              <a:buNone/>
            </a:pPr>
            <a:r>
              <a:rPr lang="en-US" sz="1300" b="1" dirty="0">
                <a:solidFill>
                  <a:srgbClr val="1D4ED8"/>
                </a:solidFill>
                <a:latin typeface="Cambria" pitchFamily="34" charset="0"/>
                <a:ea typeface="Cambria" pitchFamily="34" charset="-122"/>
                <a:cs typeface="Cambria" pitchFamily="34" charset="-120"/>
              </a:rPr>
              <a:t>ACT</a:t>
            </a:r>
            <a:endParaRPr lang="en-US" sz="1300" dirty="0"/>
          </a:p>
        </p:txBody>
      </p:sp>
      <p:sp>
        <p:nvSpPr>
          <p:cNvPr id="40" name="Text 38"/>
          <p:cNvSpPr/>
          <p:nvPr/>
        </p:nvSpPr>
        <p:spPr>
          <a:xfrm>
            <a:off x="9818827"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plan → actuators</a:t>
            </a:r>
            <a:endParaRPr lang="en-US" sz="950" dirty="0"/>
          </a:p>
        </p:txBody>
      </p:sp>
      <p:sp>
        <p:nvSpPr>
          <p:cNvPr id="41" name="Shape 39"/>
          <p:cNvSpPr/>
          <p:nvPr/>
        </p:nvSpPr>
        <p:spPr>
          <a:xfrm>
            <a:off x="9818827" y="2322576"/>
            <a:ext cx="1719072" cy="0"/>
          </a:xfrm>
          <a:prstGeom prst="line">
            <a:avLst/>
          </a:prstGeom>
          <a:noFill/>
          <a:ln w="9525">
            <a:solidFill>
              <a:srgbClr val="E5E7EB"/>
            </a:solidFill>
            <a:prstDash val="solid"/>
          </a:ln>
        </p:spPr>
      </p:sp>
      <p:sp>
        <p:nvSpPr>
          <p:cNvPr id="42" name="Text 40"/>
          <p:cNvSpPr/>
          <p:nvPr/>
        </p:nvSpPr>
        <p:spPr>
          <a:xfrm>
            <a:off x="9818827" y="2542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 full_ventilate ]</a:t>
            </a:r>
            <a:endParaRPr lang="en-US" sz="1000" dirty="0"/>
          </a:p>
        </p:txBody>
      </p:sp>
      <p:sp>
        <p:nvSpPr>
          <p:cNvPr id="43" name="Text 41"/>
          <p:cNvSpPr/>
          <p:nvPr/>
        </p:nvSpPr>
        <p:spPr>
          <a:xfrm>
            <a:off x="9818827" y="299923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 window opens</a:t>
            </a:r>
            <a:endParaRPr lang="en-US" sz="1050" dirty="0"/>
          </a:p>
        </p:txBody>
      </p:sp>
      <p:sp>
        <p:nvSpPr>
          <p:cNvPr id="44" name="Text 42"/>
          <p:cNvSpPr/>
          <p:nvPr/>
        </p:nvSpPr>
        <p:spPr>
          <a:xfrm>
            <a:off x="9818827" y="3310128"/>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 library/actions</a:t>
            </a:r>
            <a:endParaRPr lang="en-US" sz="1050" dirty="0"/>
          </a:p>
        </p:txBody>
      </p:sp>
      <p:sp>
        <p:nvSpPr>
          <p:cNvPr id="45" name="Text 43"/>
          <p:cNvSpPr/>
          <p:nvPr/>
        </p:nvSpPr>
        <p:spPr>
          <a:xfrm>
            <a:off x="9818827" y="3749040"/>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CO₂ starts to fall,</a:t>
            </a:r>
            <a:endParaRPr lang="en-US" sz="1050" dirty="0"/>
          </a:p>
        </p:txBody>
      </p:sp>
      <p:sp>
        <p:nvSpPr>
          <p:cNvPr id="46" name="Text 44"/>
          <p:cNvSpPr/>
          <p:nvPr/>
        </p:nvSpPr>
        <p:spPr>
          <a:xfrm>
            <a:off x="9818827" y="4059936"/>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new world state</a:t>
            </a:r>
            <a:endParaRPr lang="en-US" sz="1050" dirty="0"/>
          </a:p>
        </p:txBody>
      </p:sp>
      <p:sp>
        <p:nvSpPr>
          <p:cNvPr id="47" name="Text 45"/>
          <p:cNvSpPr/>
          <p:nvPr/>
        </p:nvSpPr>
        <p:spPr>
          <a:xfrm>
            <a:off x="2496312" y="3017520"/>
            <a:ext cx="310896" cy="365760"/>
          </a:xfrm>
          <a:prstGeom prst="rect">
            <a:avLst/>
          </a:prstGeom>
          <a:noFill/>
          <a:ln/>
        </p:spPr>
        <p:txBody>
          <a:bodyPr wrap="square" lIns="0" tIns="0" rIns="0" bIns="0" rtlCol="0" anchor="ctr"/>
          <a:lstStyle/>
          <a:p>
            <a:pPr algn="ctr" indent="0" marL="0">
              <a:buNone/>
            </a:pPr>
            <a:r>
              <a:rPr lang="en-US" sz="1700" dirty="0">
                <a:solidFill>
                  <a:srgbClr val="6B7280"/>
                </a:solidFill>
                <a:latin typeface="Calibri" pitchFamily="34" charset="0"/>
                <a:ea typeface="Calibri" pitchFamily="34" charset="-122"/>
                <a:cs typeface="Calibri" pitchFamily="34" charset="-120"/>
              </a:rPr>
              <a:t>→</a:t>
            </a:r>
            <a:endParaRPr lang="en-US" sz="1700" dirty="0"/>
          </a:p>
        </p:txBody>
      </p:sp>
      <p:sp>
        <p:nvSpPr>
          <p:cNvPr id="48" name="Text 46"/>
          <p:cNvSpPr/>
          <p:nvPr/>
        </p:nvSpPr>
        <p:spPr>
          <a:xfrm>
            <a:off x="4791456" y="3017520"/>
            <a:ext cx="310896" cy="365760"/>
          </a:xfrm>
          <a:prstGeom prst="rect">
            <a:avLst/>
          </a:prstGeom>
          <a:noFill/>
          <a:ln/>
        </p:spPr>
        <p:txBody>
          <a:bodyPr wrap="square" lIns="0" tIns="0" rIns="0" bIns="0" rtlCol="0" anchor="ctr"/>
          <a:lstStyle/>
          <a:p>
            <a:pPr algn="ctr" indent="0" marL="0">
              <a:buNone/>
            </a:pPr>
            <a:r>
              <a:rPr lang="en-US" sz="1700" dirty="0">
                <a:solidFill>
                  <a:srgbClr val="6B7280"/>
                </a:solidFill>
                <a:latin typeface="Calibri" pitchFamily="34" charset="0"/>
                <a:ea typeface="Calibri" pitchFamily="34" charset="-122"/>
                <a:cs typeface="Calibri" pitchFamily="34" charset="-120"/>
              </a:rPr>
              <a:t>→</a:t>
            </a:r>
            <a:endParaRPr lang="en-US" sz="1700" dirty="0"/>
          </a:p>
        </p:txBody>
      </p:sp>
      <p:sp>
        <p:nvSpPr>
          <p:cNvPr id="49" name="Text 47"/>
          <p:cNvSpPr/>
          <p:nvPr/>
        </p:nvSpPr>
        <p:spPr>
          <a:xfrm>
            <a:off x="7086600" y="3017520"/>
            <a:ext cx="310896" cy="365760"/>
          </a:xfrm>
          <a:prstGeom prst="rect">
            <a:avLst/>
          </a:prstGeom>
          <a:noFill/>
          <a:ln/>
        </p:spPr>
        <p:txBody>
          <a:bodyPr wrap="square" lIns="0" tIns="0" rIns="0" bIns="0" rtlCol="0" anchor="ctr"/>
          <a:lstStyle/>
          <a:p>
            <a:pPr algn="ctr" indent="0" marL="0">
              <a:buNone/>
            </a:pPr>
            <a:r>
              <a:rPr lang="en-US" sz="1700" dirty="0">
                <a:solidFill>
                  <a:srgbClr val="6B7280"/>
                </a:solidFill>
                <a:latin typeface="Calibri" pitchFamily="34" charset="0"/>
                <a:ea typeface="Calibri" pitchFamily="34" charset="-122"/>
                <a:cs typeface="Calibri" pitchFamily="34" charset="-120"/>
              </a:rPr>
              <a:t>→</a:t>
            </a:r>
            <a:endParaRPr lang="en-US" sz="1700" dirty="0"/>
          </a:p>
        </p:txBody>
      </p:sp>
      <p:sp>
        <p:nvSpPr>
          <p:cNvPr id="50" name="Text 48"/>
          <p:cNvSpPr/>
          <p:nvPr/>
        </p:nvSpPr>
        <p:spPr>
          <a:xfrm>
            <a:off x="9372600" y="3017520"/>
            <a:ext cx="310896" cy="365760"/>
          </a:xfrm>
          <a:prstGeom prst="rect">
            <a:avLst/>
          </a:prstGeom>
          <a:noFill/>
          <a:ln/>
        </p:spPr>
        <p:txBody>
          <a:bodyPr wrap="square" lIns="0" tIns="0" rIns="0" bIns="0" rtlCol="0" anchor="ctr"/>
          <a:lstStyle/>
          <a:p>
            <a:pPr algn="ctr" indent="0" marL="0">
              <a:buNone/>
            </a:pPr>
            <a:r>
              <a:rPr lang="en-US" sz="1700" dirty="0">
                <a:solidFill>
                  <a:srgbClr val="6B7280"/>
                </a:solidFill>
                <a:latin typeface="Calibri" pitchFamily="34" charset="0"/>
                <a:ea typeface="Calibri" pitchFamily="34" charset="-122"/>
                <a:cs typeface="Calibri" pitchFamily="34" charset="-120"/>
              </a:rPr>
              <a:t>→</a:t>
            </a:r>
            <a:endParaRPr lang="en-US" sz="1700" dirty="0"/>
          </a:p>
        </p:txBody>
      </p:sp>
      <p:sp>
        <p:nvSpPr>
          <p:cNvPr id="51" name="Shape 49"/>
          <p:cNvSpPr/>
          <p:nvPr/>
        </p:nvSpPr>
        <p:spPr>
          <a:xfrm>
            <a:off x="502920" y="5230368"/>
            <a:ext cx="11183112" cy="548640"/>
          </a:xfrm>
          <a:prstGeom prst="roundRect">
            <a:avLst>
              <a:gd name="adj" fmla="val 13333"/>
            </a:avLst>
          </a:prstGeom>
          <a:solidFill>
            <a:srgbClr val="FBEFD9"/>
          </a:solidFill>
          <a:ln/>
        </p:spPr>
      </p:sp>
      <p:sp>
        <p:nvSpPr>
          <p:cNvPr id="52" name="Text 50"/>
          <p:cNvSpPr/>
          <p:nvPr/>
        </p:nvSpPr>
        <p:spPr>
          <a:xfrm>
            <a:off x="822960" y="5230368"/>
            <a:ext cx="10607040" cy="548640"/>
          </a:xfrm>
          <a:prstGeom prst="rect">
            <a:avLst/>
          </a:prstGeom>
          <a:noFill/>
          <a:ln/>
        </p:spPr>
        <p:txBody>
          <a:bodyPr wrap="square" lIns="0" tIns="0" rIns="0" bIns="0" rtlCol="0" anchor="ctr"/>
          <a:lstStyle/>
          <a:p>
            <a:pPr algn="ctr" indent="0" marL="0">
              <a:buNone/>
            </a:pPr>
            <a:r>
              <a:rPr lang="en-US" sz="1250" b="1" dirty="0">
                <a:solidFill>
                  <a:srgbClr val="D97706"/>
                </a:solidFill>
                <a:latin typeface="Calibri" pitchFamily="34" charset="0"/>
                <a:ea typeface="Calibri" pitchFamily="34" charset="-122"/>
                <a:cs typeface="Calibri" pitchFamily="34" charset="-120"/>
              </a:rPr>
              <a:t>↻  closed loop   </a:t>
            </a:r>
            <a:pPr algn="ctr" indent="0" marL="0">
              <a:buNone/>
            </a:pPr>
            <a:r>
              <a:rPr lang="en-US" sz="1250" dirty="0">
                <a:solidFill>
                  <a:srgbClr val="111827"/>
                </a:solidFill>
                <a:latin typeface="Calibri" pitchFamily="34" charset="0"/>
                <a:ea typeface="Calibri" pitchFamily="34" charset="-122"/>
                <a:cs typeface="Calibri" pitchFamily="34" charset="-120"/>
              </a:rPr>
              <a:t>every change in the discretised state regenerates the PDDL problem and triggers a re-plan; the room self-corrects in under one second</a:t>
            </a:r>
            <a:endParaRPr lang="en-US" sz="1250" dirty="0"/>
          </a:p>
        </p:txBody>
      </p:sp>
      <p:sp>
        <p:nvSpPr>
          <p:cNvPr id="53" name="Text 51"/>
          <p:cNvSpPr/>
          <p:nvPr/>
        </p:nvSpPr>
        <p:spPr>
          <a:xfrm>
            <a:off x="502920" y="5943600"/>
            <a:ext cx="11183112" cy="365760"/>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This is the summer case from the opening scene: 33 °C outside, so one full airing wins. In winter the same state yields two short pulses (slide 9).</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SYSTEM OVERVIEW</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Sensors, actuators and functionality</a:t>
            </a:r>
            <a:endParaRPr lang="en-US" sz="3000" dirty="0"/>
          </a:p>
        </p:txBody>
      </p:sp>
      <p:sp>
        <p:nvSpPr>
          <p:cNvPr id="4" name="Text 2"/>
          <p:cNvSpPr/>
          <p:nvPr/>
        </p:nvSpPr>
        <p:spPr>
          <a:xfrm>
            <a:off x="640080" y="1417320"/>
            <a:ext cx="3566160" cy="365760"/>
          </a:xfrm>
          <a:prstGeom prst="rect">
            <a:avLst/>
          </a:prstGeom>
          <a:noFill/>
          <a:ln/>
        </p:spPr>
        <p:txBody>
          <a:bodyPr wrap="square" lIns="0" tIns="0" rIns="0" bIns="0" rtlCol="0" anchor="ctr"/>
          <a:lstStyle/>
          <a:p>
            <a:pPr indent="0" marL="0">
              <a:buNone/>
            </a:pPr>
            <a:r>
              <a:rPr lang="en-US" sz="1700" b="1" dirty="0">
                <a:solidFill>
                  <a:srgbClr val="111827"/>
                </a:solidFill>
                <a:latin typeface="Cambria" pitchFamily="34" charset="0"/>
                <a:ea typeface="Cambria" pitchFamily="34" charset="-122"/>
                <a:cs typeface="Cambria" pitchFamily="34" charset="-120"/>
              </a:rPr>
              <a:t>Sensors  ·  5</a:t>
            </a:r>
            <a:endParaRPr lang="en-US" sz="1700" dirty="0"/>
          </a:p>
        </p:txBody>
      </p:sp>
      <p:sp>
        <p:nvSpPr>
          <p:cNvPr id="5" name="Text 3"/>
          <p:cNvSpPr/>
          <p:nvPr/>
        </p:nvSpPr>
        <p:spPr>
          <a:xfrm>
            <a:off x="4572000" y="1417320"/>
            <a:ext cx="3566160" cy="365760"/>
          </a:xfrm>
          <a:prstGeom prst="rect">
            <a:avLst/>
          </a:prstGeom>
          <a:noFill/>
          <a:ln/>
        </p:spPr>
        <p:txBody>
          <a:bodyPr wrap="square" lIns="0" tIns="0" rIns="0" bIns="0" rtlCol="0" anchor="ctr"/>
          <a:lstStyle/>
          <a:p>
            <a:pPr indent="0" marL="0">
              <a:buNone/>
            </a:pPr>
            <a:r>
              <a:rPr lang="en-US" sz="1700" b="1" dirty="0">
                <a:solidFill>
                  <a:srgbClr val="111827"/>
                </a:solidFill>
                <a:latin typeface="Cambria" pitchFamily="34" charset="0"/>
                <a:ea typeface="Cambria" pitchFamily="34" charset="-122"/>
                <a:cs typeface="Cambria" pitchFamily="34" charset="-120"/>
              </a:rPr>
              <a:t>Actuators  ·  6</a:t>
            </a:r>
            <a:endParaRPr lang="en-US" sz="1700" dirty="0"/>
          </a:p>
        </p:txBody>
      </p:sp>
      <p:sp>
        <p:nvSpPr>
          <p:cNvPr id="6" name="Text 4"/>
          <p:cNvSpPr/>
          <p:nvPr/>
        </p:nvSpPr>
        <p:spPr>
          <a:xfrm>
            <a:off x="8503920" y="1417320"/>
            <a:ext cx="3566160" cy="365760"/>
          </a:xfrm>
          <a:prstGeom prst="rect">
            <a:avLst/>
          </a:prstGeom>
          <a:noFill/>
          <a:ln/>
        </p:spPr>
        <p:txBody>
          <a:bodyPr wrap="square" lIns="0" tIns="0" rIns="0" bIns="0" rtlCol="0" anchor="ctr"/>
          <a:lstStyle/>
          <a:p>
            <a:pPr indent="0" marL="0">
              <a:buNone/>
            </a:pPr>
            <a:r>
              <a:rPr lang="en-US" sz="1700" b="1" dirty="0">
                <a:solidFill>
                  <a:srgbClr val="111827"/>
                </a:solidFill>
                <a:latin typeface="Cambria" pitchFamily="34" charset="0"/>
                <a:ea typeface="Cambria" pitchFamily="34" charset="-122"/>
                <a:cs typeface="Cambria" pitchFamily="34" charset="-120"/>
              </a:rPr>
              <a:t>Functionality</a:t>
            </a:r>
            <a:endParaRPr lang="en-US" sz="1700" dirty="0"/>
          </a:p>
        </p:txBody>
      </p:sp>
      <p:sp>
        <p:nvSpPr>
          <p:cNvPr id="7" name="Shape 5"/>
          <p:cNvSpPr/>
          <p:nvPr/>
        </p:nvSpPr>
        <p:spPr>
          <a:xfrm>
            <a:off x="640080" y="2532888"/>
            <a:ext cx="3291840" cy="0"/>
          </a:xfrm>
          <a:prstGeom prst="line">
            <a:avLst/>
          </a:prstGeom>
          <a:noFill/>
          <a:ln w="9525">
            <a:solidFill>
              <a:srgbClr val="E5E7EB"/>
            </a:solidFill>
            <a:prstDash val="solid"/>
          </a:ln>
        </p:spPr>
      </p:sp>
      <p:sp>
        <p:nvSpPr>
          <p:cNvPr id="8" name="Text 6"/>
          <p:cNvSpPr/>
          <p:nvPr/>
        </p:nvSpPr>
        <p:spPr>
          <a:xfrm>
            <a:off x="640080" y="1984248"/>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Motion / occupancy · 2 Hz</a:t>
            </a:r>
            <a:endParaRPr lang="en-US" sz="1300" dirty="0"/>
          </a:p>
        </p:txBody>
      </p:sp>
      <p:sp>
        <p:nvSpPr>
          <p:cNvPr id="9" name="Text 7"/>
          <p:cNvSpPr/>
          <p:nvPr/>
        </p:nvSpPr>
        <p:spPr>
          <a:xfrm>
            <a:off x="640080" y="2295144"/>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10" name="Shape 8"/>
          <p:cNvSpPr/>
          <p:nvPr/>
        </p:nvSpPr>
        <p:spPr>
          <a:xfrm>
            <a:off x="640080" y="3246120"/>
            <a:ext cx="3291840" cy="0"/>
          </a:xfrm>
          <a:prstGeom prst="line">
            <a:avLst/>
          </a:prstGeom>
          <a:noFill/>
          <a:ln w="9525">
            <a:solidFill>
              <a:srgbClr val="E5E7EB"/>
            </a:solidFill>
            <a:prstDash val="solid"/>
          </a:ln>
        </p:spPr>
      </p:sp>
      <p:sp>
        <p:nvSpPr>
          <p:cNvPr id="11" name="Text 9"/>
          <p:cNvSpPr/>
          <p:nvPr/>
        </p:nvSpPr>
        <p:spPr>
          <a:xfrm>
            <a:off x="640080" y="2697480"/>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Illuminance · 2 Hz</a:t>
            </a:r>
            <a:endParaRPr lang="en-US" sz="1300" dirty="0"/>
          </a:p>
        </p:txBody>
      </p:sp>
      <p:sp>
        <p:nvSpPr>
          <p:cNvPr id="12" name="Text 10"/>
          <p:cNvSpPr/>
          <p:nvPr/>
        </p:nvSpPr>
        <p:spPr>
          <a:xfrm>
            <a:off x="640080" y="3008376"/>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13" name="Shape 11"/>
          <p:cNvSpPr/>
          <p:nvPr/>
        </p:nvSpPr>
        <p:spPr>
          <a:xfrm>
            <a:off x="640080" y="3959352"/>
            <a:ext cx="3291840" cy="0"/>
          </a:xfrm>
          <a:prstGeom prst="line">
            <a:avLst/>
          </a:prstGeom>
          <a:noFill/>
          <a:ln w="9525">
            <a:solidFill>
              <a:srgbClr val="E5E7EB"/>
            </a:solidFill>
            <a:prstDash val="solid"/>
          </a:ln>
        </p:spPr>
      </p:sp>
      <p:sp>
        <p:nvSpPr>
          <p:cNvPr id="14" name="Text 12"/>
          <p:cNvSpPr/>
          <p:nvPr/>
        </p:nvSpPr>
        <p:spPr>
          <a:xfrm>
            <a:off x="640080" y="3410712"/>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CO₂ concentration proxy</a:t>
            </a:r>
            <a:endParaRPr lang="en-US" sz="1300" dirty="0"/>
          </a:p>
        </p:txBody>
      </p:sp>
      <p:sp>
        <p:nvSpPr>
          <p:cNvPr id="15" name="Text 13"/>
          <p:cNvSpPr/>
          <p:nvPr/>
        </p:nvSpPr>
        <p:spPr>
          <a:xfrm>
            <a:off x="640080" y="3721608"/>
            <a:ext cx="3291840" cy="228600"/>
          </a:xfrm>
          <a:prstGeom prst="rect">
            <a:avLst/>
          </a:prstGeom>
          <a:noFill/>
          <a:ln/>
        </p:spPr>
        <p:txBody>
          <a:bodyPr wrap="square" lIns="0" tIns="0" rIns="0" bIns="0" rtlCol="0" anchor="ctr"/>
          <a:lstStyle/>
          <a:p>
            <a:pPr indent="0" marL="0">
              <a:buNone/>
            </a:pPr>
            <a:r>
              <a:rPr lang="en-US" sz="950" b="1" spc="150" kern="0" dirty="0">
                <a:solidFill>
                  <a:srgbClr val="1D4ED8"/>
                </a:solidFill>
                <a:latin typeface="Calibri" pitchFamily="34" charset="0"/>
                <a:ea typeface="Calibri" pitchFamily="34" charset="-122"/>
                <a:cs typeface="Calibri" pitchFamily="34" charset="-120"/>
              </a:rPr>
              <a:t>simulated</a:t>
            </a:r>
            <a:endParaRPr lang="en-US" sz="950" dirty="0"/>
          </a:p>
        </p:txBody>
      </p:sp>
      <p:sp>
        <p:nvSpPr>
          <p:cNvPr id="16" name="Shape 14"/>
          <p:cNvSpPr/>
          <p:nvPr/>
        </p:nvSpPr>
        <p:spPr>
          <a:xfrm>
            <a:off x="640080" y="4672584"/>
            <a:ext cx="3291840" cy="0"/>
          </a:xfrm>
          <a:prstGeom prst="line">
            <a:avLst/>
          </a:prstGeom>
          <a:noFill/>
          <a:ln w="9525">
            <a:solidFill>
              <a:srgbClr val="E5E7EB"/>
            </a:solidFill>
            <a:prstDash val="solid"/>
          </a:ln>
        </p:spPr>
      </p:sp>
      <p:sp>
        <p:nvSpPr>
          <p:cNvPr id="17" name="Text 15"/>
          <p:cNvSpPr/>
          <p:nvPr/>
        </p:nvSpPr>
        <p:spPr>
          <a:xfrm>
            <a:off x="640080" y="4123944"/>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Outdoor weather (REST API)</a:t>
            </a:r>
            <a:endParaRPr lang="en-US" sz="1300" dirty="0"/>
          </a:p>
        </p:txBody>
      </p:sp>
      <p:sp>
        <p:nvSpPr>
          <p:cNvPr id="18" name="Text 16"/>
          <p:cNvSpPr/>
          <p:nvPr/>
        </p:nvSpPr>
        <p:spPr>
          <a:xfrm>
            <a:off x="640080" y="4434840"/>
            <a:ext cx="3291840" cy="228600"/>
          </a:xfrm>
          <a:prstGeom prst="rect">
            <a:avLst/>
          </a:prstGeom>
          <a:noFill/>
          <a:ln/>
        </p:spPr>
        <p:txBody>
          <a:bodyPr wrap="square" lIns="0" tIns="0" rIns="0" bIns="0" rtlCol="0" anchor="ctr"/>
          <a:lstStyle/>
          <a:p>
            <a:pPr indent="0" marL="0">
              <a:buNone/>
            </a:pPr>
            <a:r>
              <a:rPr lang="en-US" sz="950" b="1" spc="150" kern="0" dirty="0">
                <a:solidFill>
                  <a:srgbClr val="6B7280"/>
                </a:solidFill>
                <a:latin typeface="Calibri" pitchFamily="34" charset="0"/>
                <a:ea typeface="Calibri" pitchFamily="34" charset="-122"/>
                <a:cs typeface="Calibri" pitchFamily="34" charset="-120"/>
              </a:rPr>
              <a:t>software</a:t>
            </a:r>
            <a:endParaRPr lang="en-US" sz="950" dirty="0"/>
          </a:p>
        </p:txBody>
      </p:sp>
      <p:sp>
        <p:nvSpPr>
          <p:cNvPr id="19" name="Shape 17"/>
          <p:cNvSpPr/>
          <p:nvPr/>
        </p:nvSpPr>
        <p:spPr>
          <a:xfrm>
            <a:off x="640080" y="5385816"/>
            <a:ext cx="3291840" cy="0"/>
          </a:xfrm>
          <a:prstGeom prst="line">
            <a:avLst/>
          </a:prstGeom>
          <a:noFill/>
          <a:ln w="9525">
            <a:solidFill>
              <a:srgbClr val="E5E7EB"/>
            </a:solidFill>
            <a:prstDash val="solid"/>
          </a:ln>
        </p:spPr>
      </p:sp>
      <p:sp>
        <p:nvSpPr>
          <p:cNvPr id="20" name="Text 18"/>
          <p:cNvSpPr/>
          <p:nvPr/>
        </p:nvSpPr>
        <p:spPr>
          <a:xfrm>
            <a:off x="640080" y="4837176"/>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Focus-session FSM (4 states)</a:t>
            </a:r>
            <a:endParaRPr lang="en-US" sz="1300" dirty="0"/>
          </a:p>
        </p:txBody>
      </p:sp>
      <p:sp>
        <p:nvSpPr>
          <p:cNvPr id="21" name="Text 19"/>
          <p:cNvSpPr/>
          <p:nvPr/>
        </p:nvSpPr>
        <p:spPr>
          <a:xfrm>
            <a:off x="640080" y="5148072"/>
            <a:ext cx="3291840" cy="228600"/>
          </a:xfrm>
          <a:prstGeom prst="rect">
            <a:avLst/>
          </a:prstGeom>
          <a:noFill/>
          <a:ln/>
        </p:spPr>
        <p:txBody>
          <a:bodyPr wrap="square" lIns="0" tIns="0" rIns="0" bIns="0" rtlCol="0" anchor="ctr"/>
          <a:lstStyle/>
          <a:p>
            <a:pPr indent="0" marL="0">
              <a:buNone/>
            </a:pPr>
            <a:r>
              <a:rPr lang="en-US" sz="950" b="1" spc="150" kern="0" dirty="0">
                <a:solidFill>
                  <a:srgbClr val="6B7280"/>
                </a:solidFill>
                <a:latin typeface="Calibri" pitchFamily="34" charset="0"/>
                <a:ea typeface="Calibri" pitchFamily="34" charset="-122"/>
                <a:cs typeface="Calibri" pitchFamily="34" charset="-120"/>
              </a:rPr>
              <a:t>software</a:t>
            </a:r>
            <a:endParaRPr lang="en-US" sz="950" dirty="0"/>
          </a:p>
        </p:txBody>
      </p:sp>
      <p:sp>
        <p:nvSpPr>
          <p:cNvPr id="22" name="Shape 20"/>
          <p:cNvSpPr/>
          <p:nvPr/>
        </p:nvSpPr>
        <p:spPr>
          <a:xfrm>
            <a:off x="4572000" y="2532888"/>
            <a:ext cx="3291840" cy="0"/>
          </a:xfrm>
          <a:prstGeom prst="line">
            <a:avLst/>
          </a:prstGeom>
          <a:noFill/>
          <a:ln w="9525">
            <a:solidFill>
              <a:srgbClr val="E5E7EB"/>
            </a:solidFill>
            <a:prstDash val="solid"/>
          </a:ln>
        </p:spPr>
      </p:sp>
      <p:sp>
        <p:nvSpPr>
          <p:cNvPr id="23" name="Text 21"/>
          <p:cNvSpPr/>
          <p:nvPr/>
        </p:nvSpPr>
        <p:spPr>
          <a:xfrm>
            <a:off x="4572000" y="1984248"/>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Reading lamp · ZigBee relay</a:t>
            </a:r>
            <a:endParaRPr lang="en-US" sz="1300" dirty="0"/>
          </a:p>
        </p:txBody>
      </p:sp>
      <p:sp>
        <p:nvSpPr>
          <p:cNvPr id="24" name="Text 22"/>
          <p:cNvSpPr/>
          <p:nvPr/>
        </p:nvSpPr>
        <p:spPr>
          <a:xfrm>
            <a:off x="4572000" y="2295144"/>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25" name="Shape 23"/>
          <p:cNvSpPr/>
          <p:nvPr/>
        </p:nvSpPr>
        <p:spPr>
          <a:xfrm>
            <a:off x="4572000" y="3246120"/>
            <a:ext cx="3291840" cy="0"/>
          </a:xfrm>
          <a:prstGeom prst="line">
            <a:avLst/>
          </a:prstGeom>
          <a:noFill/>
          <a:ln w="9525">
            <a:solidFill>
              <a:srgbClr val="E5E7EB"/>
            </a:solidFill>
            <a:prstDash val="solid"/>
          </a:ln>
        </p:spPr>
      </p:sp>
      <p:sp>
        <p:nvSpPr>
          <p:cNvPr id="26" name="Text 24"/>
          <p:cNvSpPr/>
          <p:nvPr/>
        </p:nvSpPr>
        <p:spPr>
          <a:xfrm>
            <a:off x="4572000" y="2697480"/>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Break LED</a:t>
            </a:r>
            <a:endParaRPr lang="en-US" sz="1300" dirty="0"/>
          </a:p>
        </p:txBody>
      </p:sp>
      <p:sp>
        <p:nvSpPr>
          <p:cNvPr id="27" name="Text 25"/>
          <p:cNvSpPr/>
          <p:nvPr/>
        </p:nvSpPr>
        <p:spPr>
          <a:xfrm>
            <a:off x="4572000" y="3008376"/>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28" name="Shape 26"/>
          <p:cNvSpPr/>
          <p:nvPr/>
        </p:nvSpPr>
        <p:spPr>
          <a:xfrm>
            <a:off x="4572000" y="3959352"/>
            <a:ext cx="3291840" cy="0"/>
          </a:xfrm>
          <a:prstGeom prst="line">
            <a:avLst/>
          </a:prstGeom>
          <a:noFill/>
          <a:ln w="9525">
            <a:solidFill>
              <a:srgbClr val="E5E7EB"/>
            </a:solidFill>
            <a:prstDash val="solid"/>
          </a:ln>
        </p:spPr>
      </p:sp>
      <p:sp>
        <p:nvSpPr>
          <p:cNvPr id="29" name="Text 27"/>
          <p:cNvSpPr/>
          <p:nvPr/>
        </p:nvSpPr>
        <p:spPr>
          <a:xfrm>
            <a:off x="4572000" y="3410712"/>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Break buzzer · PWM, quiet</a:t>
            </a:r>
            <a:endParaRPr lang="en-US" sz="1300" dirty="0"/>
          </a:p>
        </p:txBody>
      </p:sp>
      <p:sp>
        <p:nvSpPr>
          <p:cNvPr id="30" name="Text 28"/>
          <p:cNvSpPr/>
          <p:nvPr/>
        </p:nvSpPr>
        <p:spPr>
          <a:xfrm>
            <a:off x="4572000" y="3721608"/>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31" name="Shape 29"/>
          <p:cNvSpPr/>
          <p:nvPr/>
        </p:nvSpPr>
        <p:spPr>
          <a:xfrm>
            <a:off x="4572000" y="4672584"/>
            <a:ext cx="3291840" cy="0"/>
          </a:xfrm>
          <a:prstGeom prst="line">
            <a:avLst/>
          </a:prstGeom>
          <a:noFill/>
          <a:ln w="9525">
            <a:solidFill>
              <a:srgbClr val="E5E7EB"/>
            </a:solidFill>
            <a:prstDash val="solid"/>
          </a:ln>
        </p:spPr>
      </p:sp>
      <p:sp>
        <p:nvSpPr>
          <p:cNvPr id="32" name="Text 30"/>
          <p:cNvSpPr/>
          <p:nvPr/>
        </p:nvSpPr>
        <p:spPr>
          <a:xfrm>
            <a:off x="4572000" y="4123944"/>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Status LCD · CO₂ traffic light</a:t>
            </a:r>
            <a:endParaRPr lang="en-US" sz="1300" dirty="0"/>
          </a:p>
        </p:txBody>
      </p:sp>
      <p:sp>
        <p:nvSpPr>
          <p:cNvPr id="33" name="Text 31"/>
          <p:cNvSpPr/>
          <p:nvPr/>
        </p:nvSpPr>
        <p:spPr>
          <a:xfrm>
            <a:off x="4572000" y="4434840"/>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34" name="Shape 32"/>
          <p:cNvSpPr/>
          <p:nvPr/>
        </p:nvSpPr>
        <p:spPr>
          <a:xfrm>
            <a:off x="4572000" y="5385816"/>
            <a:ext cx="3291840" cy="0"/>
          </a:xfrm>
          <a:prstGeom prst="line">
            <a:avLst/>
          </a:prstGeom>
          <a:noFill/>
          <a:ln w="9525">
            <a:solidFill>
              <a:srgbClr val="E5E7EB"/>
            </a:solidFill>
            <a:prstDash val="solid"/>
          </a:ln>
        </p:spPr>
      </p:sp>
      <p:sp>
        <p:nvSpPr>
          <p:cNvPr id="35" name="Text 33"/>
          <p:cNvSpPr/>
          <p:nvPr/>
        </p:nvSpPr>
        <p:spPr>
          <a:xfrm>
            <a:off x="4572000" y="4837176"/>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Window ventilation · 2 levels</a:t>
            </a:r>
            <a:endParaRPr lang="en-US" sz="1300" dirty="0"/>
          </a:p>
        </p:txBody>
      </p:sp>
      <p:sp>
        <p:nvSpPr>
          <p:cNvPr id="36" name="Text 34"/>
          <p:cNvSpPr/>
          <p:nvPr/>
        </p:nvSpPr>
        <p:spPr>
          <a:xfrm>
            <a:off x="4572000" y="5148072"/>
            <a:ext cx="3291840" cy="228600"/>
          </a:xfrm>
          <a:prstGeom prst="rect">
            <a:avLst/>
          </a:prstGeom>
          <a:noFill/>
          <a:ln/>
        </p:spPr>
        <p:txBody>
          <a:bodyPr wrap="square" lIns="0" tIns="0" rIns="0" bIns="0" rtlCol="0" anchor="ctr"/>
          <a:lstStyle/>
          <a:p>
            <a:pPr indent="0" marL="0">
              <a:buNone/>
            </a:pPr>
            <a:r>
              <a:rPr lang="en-US" sz="950" b="1" spc="150" kern="0" dirty="0">
                <a:solidFill>
                  <a:srgbClr val="1D4ED8"/>
                </a:solidFill>
                <a:latin typeface="Calibri" pitchFamily="34" charset="0"/>
                <a:ea typeface="Calibri" pitchFamily="34" charset="-122"/>
                <a:cs typeface="Calibri" pitchFamily="34" charset="-120"/>
              </a:rPr>
              <a:t>virtual</a:t>
            </a:r>
            <a:endParaRPr lang="en-US" sz="950" dirty="0"/>
          </a:p>
        </p:txBody>
      </p:sp>
      <p:sp>
        <p:nvSpPr>
          <p:cNvPr id="37" name="Shape 35"/>
          <p:cNvSpPr/>
          <p:nvPr/>
        </p:nvSpPr>
        <p:spPr>
          <a:xfrm>
            <a:off x="4572000" y="6099048"/>
            <a:ext cx="3291840" cy="0"/>
          </a:xfrm>
          <a:prstGeom prst="line">
            <a:avLst/>
          </a:prstGeom>
          <a:noFill/>
          <a:ln w="9525">
            <a:solidFill>
              <a:srgbClr val="E5E7EB"/>
            </a:solidFill>
            <a:prstDash val="solid"/>
          </a:ln>
        </p:spPr>
      </p:sp>
      <p:sp>
        <p:nvSpPr>
          <p:cNvPr id="38" name="Text 36"/>
          <p:cNvSpPr/>
          <p:nvPr/>
        </p:nvSpPr>
        <p:spPr>
          <a:xfrm>
            <a:off x="4572000" y="5550408"/>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Dashboard break banner</a:t>
            </a:r>
            <a:endParaRPr lang="en-US" sz="1300" dirty="0"/>
          </a:p>
        </p:txBody>
      </p:sp>
      <p:sp>
        <p:nvSpPr>
          <p:cNvPr id="39" name="Text 37"/>
          <p:cNvSpPr/>
          <p:nvPr/>
        </p:nvSpPr>
        <p:spPr>
          <a:xfrm>
            <a:off x="4572000" y="5861304"/>
            <a:ext cx="3291840" cy="228600"/>
          </a:xfrm>
          <a:prstGeom prst="rect">
            <a:avLst/>
          </a:prstGeom>
          <a:noFill/>
          <a:ln/>
        </p:spPr>
        <p:txBody>
          <a:bodyPr wrap="square" lIns="0" tIns="0" rIns="0" bIns="0" rtlCol="0" anchor="ctr"/>
          <a:lstStyle/>
          <a:p>
            <a:pPr indent="0" marL="0">
              <a:buNone/>
            </a:pPr>
            <a:r>
              <a:rPr lang="en-US" sz="950" b="1" spc="150" kern="0" dirty="0">
                <a:solidFill>
                  <a:srgbClr val="6B7280"/>
                </a:solidFill>
                <a:latin typeface="Calibri" pitchFamily="34" charset="0"/>
                <a:ea typeface="Calibri" pitchFamily="34" charset="-122"/>
                <a:cs typeface="Calibri" pitchFamily="34" charset="-120"/>
              </a:rPr>
              <a:t>software</a:t>
            </a:r>
            <a:endParaRPr lang="en-US" sz="950" dirty="0"/>
          </a:p>
        </p:txBody>
      </p:sp>
      <p:sp>
        <p:nvSpPr>
          <p:cNvPr id="40" name="Shape 38"/>
          <p:cNvSpPr/>
          <p:nvPr/>
        </p:nvSpPr>
        <p:spPr>
          <a:xfrm>
            <a:off x="8503920" y="2624328"/>
            <a:ext cx="3291840" cy="0"/>
          </a:xfrm>
          <a:prstGeom prst="line">
            <a:avLst/>
          </a:prstGeom>
          <a:noFill/>
          <a:ln w="9525">
            <a:solidFill>
              <a:srgbClr val="E5E7EB"/>
            </a:solidFill>
            <a:prstDash val="solid"/>
          </a:ln>
        </p:spPr>
      </p:sp>
      <p:sp>
        <p:nvSpPr>
          <p:cNvPr id="41" name="Text 39"/>
          <p:cNvSpPr/>
          <p:nvPr/>
        </p:nvSpPr>
        <p:spPr>
          <a:xfrm>
            <a:off x="8503920" y="196596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Light the seat when occupied and dark; off when empty</a:t>
            </a:r>
            <a:endParaRPr lang="en-US" sz="1250" dirty="0"/>
          </a:p>
        </p:txBody>
      </p:sp>
      <p:sp>
        <p:nvSpPr>
          <p:cNvPr id="42" name="Shape 40"/>
          <p:cNvSpPr/>
          <p:nvPr/>
        </p:nvSpPr>
        <p:spPr>
          <a:xfrm>
            <a:off x="8503920" y="3447288"/>
            <a:ext cx="3291840" cy="0"/>
          </a:xfrm>
          <a:prstGeom prst="line">
            <a:avLst/>
          </a:prstGeom>
          <a:noFill/>
          <a:ln w="9525">
            <a:solidFill>
              <a:srgbClr val="E5E7EB"/>
            </a:solidFill>
            <a:prstDash val="solid"/>
          </a:ln>
        </p:spPr>
      </p:sp>
      <p:sp>
        <p:nvSpPr>
          <p:cNvPr id="43" name="Text 41"/>
          <p:cNvSpPr/>
          <p:nvPr/>
        </p:nvSpPr>
        <p:spPr>
          <a:xfrm>
            <a:off x="8503920" y="278892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Air the room by pulse or full opening, picked by cost</a:t>
            </a:r>
            <a:endParaRPr lang="en-US" sz="1250" dirty="0"/>
          </a:p>
        </p:txBody>
      </p:sp>
      <p:sp>
        <p:nvSpPr>
          <p:cNvPr id="44" name="Shape 42"/>
          <p:cNvSpPr/>
          <p:nvPr/>
        </p:nvSpPr>
        <p:spPr>
          <a:xfrm>
            <a:off x="8503920" y="4270248"/>
            <a:ext cx="3291840" cy="0"/>
          </a:xfrm>
          <a:prstGeom prst="line">
            <a:avLst/>
          </a:prstGeom>
          <a:noFill/>
          <a:ln w="9525">
            <a:solidFill>
              <a:srgbClr val="E5E7EB"/>
            </a:solidFill>
            <a:prstDash val="solid"/>
          </a:ln>
        </p:spPr>
      </p:sp>
      <p:sp>
        <p:nvSpPr>
          <p:cNvPr id="45" name="Text 43"/>
          <p:cNvSpPr/>
          <p:nvPr/>
        </p:nvSpPr>
        <p:spPr>
          <a:xfrm>
            <a:off x="8503920" y="361188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Suggest breaks via LED + buzzer after 2 min of focus</a:t>
            </a:r>
            <a:endParaRPr lang="en-US" sz="1250" dirty="0"/>
          </a:p>
        </p:txBody>
      </p:sp>
      <p:sp>
        <p:nvSpPr>
          <p:cNvPr id="46" name="Shape 44"/>
          <p:cNvSpPr/>
          <p:nvPr/>
        </p:nvSpPr>
        <p:spPr>
          <a:xfrm>
            <a:off x="8503920" y="5093208"/>
            <a:ext cx="3291840" cy="0"/>
          </a:xfrm>
          <a:prstGeom prst="line">
            <a:avLst/>
          </a:prstGeom>
          <a:noFill/>
          <a:ln w="9525">
            <a:solidFill>
              <a:srgbClr val="E5E7EB"/>
            </a:solidFill>
            <a:prstDash val="solid"/>
          </a:ln>
        </p:spPr>
      </p:sp>
      <p:sp>
        <p:nvSpPr>
          <p:cNvPr id="47" name="Text 45"/>
          <p:cNvSpPr/>
          <p:nvPr/>
        </p:nvSpPr>
        <p:spPr>
          <a:xfrm>
            <a:off x="8503920" y="443484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Show state + current plan on dashboard and LCD</a:t>
            </a:r>
            <a:endParaRPr lang="en-US" sz="1250" dirty="0"/>
          </a:p>
        </p:txBody>
      </p:sp>
      <p:sp>
        <p:nvSpPr>
          <p:cNvPr id="48" name="Shape 46"/>
          <p:cNvSpPr/>
          <p:nvPr/>
        </p:nvSpPr>
        <p:spPr>
          <a:xfrm>
            <a:off x="8503920" y="5916168"/>
            <a:ext cx="3291840" cy="0"/>
          </a:xfrm>
          <a:prstGeom prst="line">
            <a:avLst/>
          </a:prstGeom>
          <a:noFill/>
          <a:ln w="9525">
            <a:solidFill>
              <a:srgbClr val="E5E7EB"/>
            </a:solidFill>
            <a:prstDash val="solid"/>
          </a:ln>
        </p:spPr>
      </p:sp>
      <p:sp>
        <p:nvSpPr>
          <p:cNvPr id="49" name="Text 47"/>
          <p:cNvSpPr/>
          <p:nvPr/>
        </p:nvSpPr>
        <p:spPr>
          <a:xfrm>
            <a:off x="8503920" y="525780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Re-plan on every state change; recover in &lt; 1 s</a:t>
            </a:r>
            <a:endParaRPr lang="en-US" sz="1250" dirty="0"/>
          </a:p>
        </p:txBody>
      </p:sp>
      <p:sp>
        <p:nvSpPr>
          <p:cNvPr id="50" name="Text 48"/>
          <p:cNvSpPr/>
          <p:nvPr/>
        </p:nvSpPr>
        <p:spPr>
          <a:xfrm>
            <a:off x="640080" y="6400800"/>
            <a:ext cx="10881360" cy="320040"/>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2 physical sensors + 4 physical actuators on the desk · simulated parts are always labelled as such</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ARCHITECTURE</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Eight modules, communicating only via MQTT</a:t>
            </a:r>
            <a:endParaRPr lang="en-US" sz="3000" dirty="0"/>
          </a:p>
        </p:txBody>
      </p:sp>
      <p:sp>
        <p:nvSpPr>
          <p:cNvPr id="4" name="Shape 2"/>
          <p:cNvSpPr/>
          <p:nvPr/>
        </p:nvSpPr>
        <p:spPr>
          <a:xfrm>
            <a:off x="640080" y="1737360"/>
            <a:ext cx="2057400" cy="1051560"/>
          </a:xfrm>
          <a:prstGeom prst="roundRect">
            <a:avLst>
              <a:gd name="adj" fmla="val 6957"/>
            </a:avLst>
          </a:prstGeom>
          <a:solidFill>
            <a:srgbClr val="FFFFFF"/>
          </a:solidFill>
          <a:ln w="12700">
            <a:solidFill>
              <a:srgbClr val="E5E7EB"/>
            </a:solidFill>
            <a:prstDash val="solid"/>
          </a:ln>
        </p:spPr>
      </p:sp>
      <p:sp>
        <p:nvSpPr>
          <p:cNvPr id="5" name="Text 3"/>
          <p:cNvSpPr/>
          <p:nvPr/>
        </p:nvSpPr>
        <p:spPr>
          <a:xfrm>
            <a:off x="731520" y="1874520"/>
            <a:ext cx="1874520" cy="365760"/>
          </a:xfrm>
          <a:prstGeom prst="rect">
            <a:avLst/>
          </a:prstGeom>
          <a:noFill/>
          <a:ln/>
        </p:spPr>
        <p:txBody>
          <a:bodyPr wrap="square" lIns="0" tIns="0" rIns="0" bIns="0" rtlCol="0" anchor="ctr"/>
          <a:lstStyle/>
          <a:p>
            <a:pPr algn="ctr" indent="0" marL="0">
              <a:buNone/>
            </a:pPr>
            <a:r>
              <a:rPr lang="en-US" sz="1450" b="1" dirty="0">
                <a:solidFill>
                  <a:srgbClr val="111827"/>
                </a:solidFill>
                <a:latin typeface="Cambria" pitchFamily="34" charset="0"/>
                <a:ea typeface="Cambria" pitchFamily="34" charset="-122"/>
                <a:cs typeface="Cambria" pitchFamily="34" charset="-120"/>
              </a:rPr>
              <a:t>Sensing</a:t>
            </a:r>
            <a:endParaRPr lang="en-US" sz="1450" dirty="0"/>
          </a:p>
        </p:txBody>
      </p:sp>
      <p:sp>
        <p:nvSpPr>
          <p:cNvPr id="6" name="Text 4"/>
          <p:cNvSpPr/>
          <p:nvPr/>
        </p:nvSpPr>
        <p:spPr>
          <a:xfrm>
            <a:off x="73152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motion · light · weather</a:t>
            </a:r>
            <a:endParaRPr lang="en-US" sz="1050" dirty="0"/>
          </a:p>
        </p:txBody>
      </p:sp>
      <p:sp>
        <p:nvSpPr>
          <p:cNvPr id="7" name="Text 5"/>
          <p:cNvSpPr/>
          <p:nvPr/>
        </p:nvSpPr>
        <p:spPr>
          <a:xfrm>
            <a:off x="2706624" y="2084832"/>
            <a:ext cx="292608"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2971800" y="1737360"/>
            <a:ext cx="2057400" cy="1051560"/>
          </a:xfrm>
          <a:prstGeom prst="roundRect">
            <a:avLst>
              <a:gd name="adj" fmla="val 6957"/>
            </a:avLst>
          </a:prstGeom>
          <a:solidFill>
            <a:srgbClr val="FFFFFF"/>
          </a:solidFill>
          <a:ln w="12700">
            <a:solidFill>
              <a:srgbClr val="E5E7EB"/>
            </a:solidFill>
            <a:prstDash val="solid"/>
          </a:ln>
        </p:spPr>
      </p:sp>
      <p:sp>
        <p:nvSpPr>
          <p:cNvPr id="9" name="Text 7"/>
          <p:cNvSpPr/>
          <p:nvPr/>
        </p:nvSpPr>
        <p:spPr>
          <a:xfrm>
            <a:off x="3063240" y="1874520"/>
            <a:ext cx="1874520" cy="365760"/>
          </a:xfrm>
          <a:prstGeom prst="rect">
            <a:avLst/>
          </a:prstGeom>
          <a:noFill/>
          <a:ln/>
        </p:spPr>
        <p:txBody>
          <a:bodyPr wrap="square" lIns="0" tIns="0" rIns="0" bIns="0" rtlCol="0" anchor="ctr"/>
          <a:lstStyle/>
          <a:p>
            <a:pPr algn="ctr" indent="0" marL="0">
              <a:buNone/>
            </a:pPr>
            <a:r>
              <a:rPr lang="en-US" sz="1450" b="1" dirty="0">
                <a:solidFill>
                  <a:srgbClr val="111827"/>
                </a:solidFill>
                <a:latin typeface="Cambria" pitchFamily="34" charset="0"/>
                <a:ea typeface="Cambria" pitchFamily="34" charset="-122"/>
                <a:cs typeface="Cambria" pitchFamily="34" charset="-120"/>
              </a:rPr>
              <a:t>Context</a:t>
            </a:r>
            <a:endParaRPr lang="en-US" sz="1450" dirty="0"/>
          </a:p>
        </p:txBody>
      </p:sp>
      <p:sp>
        <p:nvSpPr>
          <p:cNvPr id="10" name="Text 8"/>
          <p:cNvSpPr/>
          <p:nvPr/>
        </p:nvSpPr>
        <p:spPr>
          <a:xfrm>
            <a:off x="306324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world state · CO₂ · FSM</a:t>
            </a:r>
            <a:endParaRPr lang="en-US" sz="1050" dirty="0"/>
          </a:p>
        </p:txBody>
      </p:sp>
      <p:sp>
        <p:nvSpPr>
          <p:cNvPr id="11" name="Text 9"/>
          <p:cNvSpPr/>
          <p:nvPr/>
        </p:nvSpPr>
        <p:spPr>
          <a:xfrm>
            <a:off x="5038344" y="2084832"/>
            <a:ext cx="292608"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5303520" y="1737360"/>
            <a:ext cx="2057400" cy="1051560"/>
          </a:xfrm>
          <a:prstGeom prst="roundRect">
            <a:avLst>
              <a:gd name="adj" fmla="val 6957"/>
            </a:avLst>
          </a:prstGeom>
          <a:solidFill>
            <a:srgbClr val="FFFFFF"/>
          </a:solidFill>
          <a:ln w="12700">
            <a:solidFill>
              <a:srgbClr val="E5E7EB"/>
            </a:solidFill>
            <a:prstDash val="solid"/>
          </a:ln>
        </p:spPr>
      </p:sp>
      <p:sp>
        <p:nvSpPr>
          <p:cNvPr id="13" name="Text 11"/>
          <p:cNvSpPr/>
          <p:nvPr/>
        </p:nvSpPr>
        <p:spPr>
          <a:xfrm>
            <a:off x="5394960" y="1874520"/>
            <a:ext cx="1874520" cy="365760"/>
          </a:xfrm>
          <a:prstGeom prst="rect">
            <a:avLst/>
          </a:prstGeom>
          <a:noFill/>
          <a:ln/>
        </p:spPr>
        <p:txBody>
          <a:bodyPr wrap="square" lIns="0" tIns="0" rIns="0" bIns="0" rtlCol="0" anchor="ctr"/>
          <a:lstStyle/>
          <a:p>
            <a:pPr algn="ctr" indent="0" marL="0">
              <a:buNone/>
            </a:pPr>
            <a:r>
              <a:rPr lang="en-US" sz="1450" b="1" dirty="0">
                <a:solidFill>
                  <a:srgbClr val="111827"/>
                </a:solidFill>
                <a:latin typeface="Cambria" pitchFamily="34" charset="0"/>
                <a:ea typeface="Cambria" pitchFamily="34" charset="-122"/>
                <a:cs typeface="Cambria" pitchFamily="34" charset="-120"/>
              </a:rPr>
              <a:t>Problem Gen.</a:t>
            </a:r>
            <a:endParaRPr lang="en-US" sz="1450" dirty="0"/>
          </a:p>
        </p:txBody>
      </p:sp>
      <p:sp>
        <p:nvSpPr>
          <p:cNvPr id="14" name="Text 12"/>
          <p:cNvSpPr/>
          <p:nvPr/>
        </p:nvSpPr>
        <p:spPr>
          <a:xfrm>
            <a:off x="539496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state → PDDL + costs</a:t>
            </a:r>
            <a:endParaRPr lang="en-US" sz="1050" dirty="0"/>
          </a:p>
        </p:txBody>
      </p:sp>
      <p:sp>
        <p:nvSpPr>
          <p:cNvPr id="15" name="Text 13"/>
          <p:cNvSpPr/>
          <p:nvPr/>
        </p:nvSpPr>
        <p:spPr>
          <a:xfrm>
            <a:off x="7370064" y="2084832"/>
            <a:ext cx="292608"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7635240" y="1737360"/>
            <a:ext cx="2057400" cy="1051560"/>
          </a:xfrm>
          <a:prstGeom prst="roundRect">
            <a:avLst>
              <a:gd name="adj" fmla="val 6957"/>
            </a:avLst>
          </a:prstGeom>
          <a:solidFill>
            <a:srgbClr val="FBEFD9"/>
          </a:solidFill>
          <a:ln w="12700">
            <a:solidFill>
              <a:srgbClr val="D97706"/>
            </a:solidFill>
            <a:prstDash val="solid"/>
          </a:ln>
        </p:spPr>
      </p:sp>
      <p:sp>
        <p:nvSpPr>
          <p:cNvPr id="17" name="Text 15"/>
          <p:cNvSpPr/>
          <p:nvPr/>
        </p:nvSpPr>
        <p:spPr>
          <a:xfrm>
            <a:off x="7726680" y="1874520"/>
            <a:ext cx="1874520" cy="365760"/>
          </a:xfrm>
          <a:prstGeom prst="rect">
            <a:avLst/>
          </a:prstGeom>
          <a:noFill/>
          <a:ln/>
        </p:spPr>
        <p:txBody>
          <a:bodyPr wrap="square" lIns="0" tIns="0" rIns="0" bIns="0" rtlCol="0" anchor="ctr"/>
          <a:lstStyle/>
          <a:p>
            <a:pPr algn="ctr" indent="0" marL="0">
              <a:buNone/>
            </a:pPr>
            <a:r>
              <a:rPr lang="en-US" sz="1450" b="1" dirty="0">
                <a:solidFill>
                  <a:srgbClr val="D97706"/>
                </a:solidFill>
                <a:latin typeface="Cambria" pitchFamily="34" charset="0"/>
                <a:ea typeface="Cambria" pitchFamily="34" charset="-122"/>
                <a:cs typeface="Cambria" pitchFamily="34" charset="-120"/>
              </a:rPr>
              <a:t>Planner</a:t>
            </a:r>
            <a:endParaRPr lang="en-US" sz="1450" dirty="0"/>
          </a:p>
        </p:txBody>
      </p:sp>
      <p:sp>
        <p:nvSpPr>
          <p:cNvPr id="18" name="Text 16"/>
          <p:cNvSpPr/>
          <p:nvPr/>
        </p:nvSpPr>
        <p:spPr>
          <a:xfrm>
            <a:off x="772668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Fast Downward</a:t>
            </a:r>
            <a:endParaRPr lang="en-US" sz="1050" dirty="0"/>
          </a:p>
        </p:txBody>
      </p:sp>
      <p:sp>
        <p:nvSpPr>
          <p:cNvPr id="19" name="Text 17"/>
          <p:cNvSpPr/>
          <p:nvPr/>
        </p:nvSpPr>
        <p:spPr>
          <a:xfrm>
            <a:off x="9701784" y="2084832"/>
            <a:ext cx="292608"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20" name="Shape 18"/>
          <p:cNvSpPr/>
          <p:nvPr/>
        </p:nvSpPr>
        <p:spPr>
          <a:xfrm>
            <a:off x="9966960" y="1737360"/>
            <a:ext cx="2057400" cy="1051560"/>
          </a:xfrm>
          <a:prstGeom prst="roundRect">
            <a:avLst>
              <a:gd name="adj" fmla="val 6957"/>
            </a:avLst>
          </a:prstGeom>
          <a:solidFill>
            <a:srgbClr val="FFFFFF"/>
          </a:solidFill>
          <a:ln w="12700">
            <a:solidFill>
              <a:srgbClr val="E5E7EB"/>
            </a:solidFill>
            <a:prstDash val="solid"/>
          </a:ln>
        </p:spPr>
      </p:sp>
      <p:sp>
        <p:nvSpPr>
          <p:cNvPr id="21" name="Text 19"/>
          <p:cNvSpPr/>
          <p:nvPr/>
        </p:nvSpPr>
        <p:spPr>
          <a:xfrm>
            <a:off x="10058400" y="1874520"/>
            <a:ext cx="1874520" cy="365760"/>
          </a:xfrm>
          <a:prstGeom prst="rect">
            <a:avLst/>
          </a:prstGeom>
          <a:noFill/>
          <a:ln/>
        </p:spPr>
        <p:txBody>
          <a:bodyPr wrap="square" lIns="0" tIns="0" rIns="0" bIns="0" rtlCol="0" anchor="ctr"/>
          <a:lstStyle/>
          <a:p>
            <a:pPr algn="ctr" indent="0" marL="0">
              <a:buNone/>
            </a:pPr>
            <a:r>
              <a:rPr lang="en-US" sz="1450" b="1" dirty="0">
                <a:solidFill>
                  <a:srgbClr val="111827"/>
                </a:solidFill>
                <a:latin typeface="Cambria" pitchFamily="34" charset="0"/>
                <a:ea typeface="Cambria" pitchFamily="34" charset="-122"/>
                <a:cs typeface="Cambria" pitchFamily="34" charset="-120"/>
              </a:rPr>
              <a:t>Execution</a:t>
            </a:r>
            <a:endParaRPr lang="en-US" sz="1450" dirty="0"/>
          </a:p>
        </p:txBody>
      </p:sp>
      <p:sp>
        <p:nvSpPr>
          <p:cNvPr id="22" name="Text 20"/>
          <p:cNvSpPr/>
          <p:nvPr/>
        </p:nvSpPr>
        <p:spPr>
          <a:xfrm>
            <a:off x="1005840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dispatch actions</a:t>
            </a:r>
            <a:endParaRPr lang="en-US" sz="1050" dirty="0"/>
          </a:p>
        </p:txBody>
      </p:sp>
      <p:sp>
        <p:nvSpPr>
          <p:cNvPr id="23" name="Shape 21"/>
          <p:cNvSpPr/>
          <p:nvPr/>
        </p:nvSpPr>
        <p:spPr>
          <a:xfrm>
            <a:off x="640080" y="3337560"/>
            <a:ext cx="10927080" cy="0"/>
          </a:xfrm>
          <a:prstGeom prst="line">
            <a:avLst/>
          </a:prstGeom>
          <a:noFill/>
          <a:ln w="19050">
            <a:solidFill>
              <a:srgbClr val="D97706"/>
            </a:solidFill>
            <a:prstDash val="solid"/>
          </a:ln>
        </p:spPr>
      </p:sp>
      <p:sp>
        <p:nvSpPr>
          <p:cNvPr id="24" name="Text 22"/>
          <p:cNvSpPr/>
          <p:nvPr/>
        </p:nvSpPr>
        <p:spPr>
          <a:xfrm>
            <a:off x="640080" y="3456432"/>
            <a:ext cx="10927080" cy="320040"/>
          </a:xfrm>
          <a:prstGeom prst="rect">
            <a:avLst/>
          </a:prstGeom>
          <a:noFill/>
          <a:ln/>
        </p:spPr>
        <p:txBody>
          <a:bodyPr wrap="square" lIns="0" tIns="0" rIns="0" bIns="0" rtlCol="0" anchor="ctr"/>
          <a:lstStyle/>
          <a:p>
            <a:pPr algn="ctr" indent="0" marL="0">
              <a:buNone/>
            </a:pPr>
            <a:r>
              <a:rPr lang="en-US" sz="1200" dirty="0">
                <a:solidFill>
                  <a:srgbClr val="111827"/>
                </a:solidFill>
                <a:latin typeface="Calibri" pitchFamily="34" charset="0"/>
                <a:ea typeface="Calibri" pitchFamily="34" charset="-122"/>
                <a:cs typeface="Calibri" pitchFamily="34" charset="-120"/>
              </a:rPr>
              <a:t>MQTT bus (Eclipse Mosquitto) · retained topics: sensors → state → problem → plan → actions → actuator feedback</a:t>
            </a:r>
            <a:endParaRPr lang="en-US" sz="1200" dirty="0"/>
          </a:p>
        </p:txBody>
      </p:sp>
      <p:sp>
        <p:nvSpPr>
          <p:cNvPr id="25" name="Text 23"/>
          <p:cNvSpPr/>
          <p:nvPr/>
        </p:nvSpPr>
        <p:spPr>
          <a:xfrm>
            <a:off x="640080" y="4297680"/>
            <a:ext cx="347472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2 machines</a:t>
            </a:r>
            <a:endParaRPr lang="en-US" sz="1500" dirty="0"/>
          </a:p>
        </p:txBody>
      </p:sp>
      <p:sp>
        <p:nvSpPr>
          <p:cNvPr id="26" name="Text 24"/>
          <p:cNvSpPr/>
          <p:nvPr/>
        </p:nvSpPr>
        <p:spPr>
          <a:xfrm>
            <a:off x="640080" y="4709160"/>
            <a:ext cx="3429000" cy="13716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Pi 5 runs broker, context, planner, dashboard (7 services). Pi 3 B+ runs sensors, actuators, LCD (3 services).</a:t>
            </a:r>
            <a:endParaRPr lang="en-US" sz="1250" dirty="0"/>
          </a:p>
        </p:txBody>
      </p:sp>
      <p:sp>
        <p:nvSpPr>
          <p:cNvPr id="27" name="Text 25"/>
          <p:cNvSpPr/>
          <p:nvPr/>
        </p:nvSpPr>
        <p:spPr>
          <a:xfrm>
            <a:off x="4480560" y="4297680"/>
            <a:ext cx="347472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Closed loop</a:t>
            </a:r>
            <a:endParaRPr lang="en-US" sz="1500" dirty="0"/>
          </a:p>
        </p:txBody>
      </p:sp>
      <p:sp>
        <p:nvSpPr>
          <p:cNvPr id="28" name="Text 26"/>
          <p:cNvSpPr/>
          <p:nvPr/>
        </p:nvSpPr>
        <p:spPr>
          <a:xfrm>
            <a:off x="4480560" y="4709160"/>
            <a:ext cx="3429000" cy="13716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Actuator effects are sensed again and trigger re-planning. No module calls another directly.</a:t>
            </a:r>
            <a:endParaRPr lang="en-US" sz="1250" dirty="0"/>
          </a:p>
        </p:txBody>
      </p:sp>
      <p:sp>
        <p:nvSpPr>
          <p:cNvPr id="29" name="Text 27"/>
          <p:cNvSpPr/>
          <p:nvPr/>
        </p:nvSpPr>
        <p:spPr>
          <a:xfrm>
            <a:off x="8321040" y="4297680"/>
            <a:ext cx="347472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Self-contained demo</a:t>
            </a:r>
            <a:endParaRPr lang="en-US" sz="1500" dirty="0"/>
          </a:p>
        </p:txBody>
      </p:sp>
      <p:sp>
        <p:nvSpPr>
          <p:cNvPr id="30" name="Text 28"/>
          <p:cNvSpPr/>
          <p:nvPr/>
        </p:nvSpPr>
        <p:spPr>
          <a:xfrm>
            <a:off x="8321040" y="4709160"/>
            <a:ext cx="3429000" cy="13716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The core Pi spans its own WiFi access point; edge Pi and dashboard laptop join it.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AI PLANNING · 1/2</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The model: classical PDDL with action costs</a:t>
            </a:r>
            <a:endParaRPr lang="en-US" sz="3000" dirty="0"/>
          </a:p>
        </p:txBody>
      </p:sp>
      <p:sp>
        <p:nvSpPr>
          <p:cNvPr id="4" name="Shape 2"/>
          <p:cNvSpPr/>
          <p:nvPr/>
        </p:nvSpPr>
        <p:spPr>
          <a:xfrm>
            <a:off x="640080" y="1463040"/>
            <a:ext cx="5669280" cy="3977640"/>
          </a:xfrm>
          <a:prstGeom prst="roundRect">
            <a:avLst>
              <a:gd name="adj" fmla="val 1839"/>
            </a:avLst>
          </a:prstGeom>
          <a:solidFill>
            <a:srgbClr val="F3F4F6"/>
          </a:solidFill>
          <a:ln/>
        </p:spPr>
      </p:sp>
      <p:sp>
        <p:nvSpPr>
          <p:cNvPr id="5" name="Text 3"/>
          <p:cNvSpPr/>
          <p:nvPr/>
        </p:nvSpPr>
        <p:spPr>
          <a:xfrm>
            <a:off x="868680" y="1645920"/>
            <a:ext cx="5303520" cy="3657600"/>
          </a:xfrm>
          <a:prstGeom prst="rect">
            <a:avLst/>
          </a:prstGeom>
          <a:noFill/>
          <a:ln/>
        </p:spPr>
        <p:txBody>
          <a:bodyPr wrap="square" lIns="0" tIns="0" rIns="0" bIns="0" rtlCol="0" anchor="ctr"/>
          <a:lstStyle/>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(:action pulse_ventilate_step</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:parameters (?z - zone)</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:precondition (and (occupied ?z)</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(co2_high ?z))</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:effect (and (not (co2_high ?z))</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(co2_elevated ?z)</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(increase (total-cost)</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(pulse-vent-cost))))</a:t>
            </a:r>
            <a:endParaRPr lang="en-US" sz="1250" dirty="0"/>
          </a:p>
          <a:p>
            <a:pPr indent="0" marL="0">
              <a:lnSpc>
                <a:spcPct val="112000"/>
              </a:lnSpc>
              <a:buNone/>
            </a:pP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(:goal (and (not (dark r1))</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(not (co2_high r1))</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(not (co2_elevated r1))))</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(:metric minimize (total-cost))</a:t>
            </a:r>
            <a:endParaRPr lang="en-US" sz="1250" dirty="0"/>
          </a:p>
        </p:txBody>
      </p:sp>
      <p:sp>
        <p:nvSpPr>
          <p:cNvPr id="6" name="Text 4"/>
          <p:cNvSpPr/>
          <p:nvPr/>
        </p:nvSpPr>
        <p:spPr>
          <a:xfrm>
            <a:off x="868680" y="5486400"/>
            <a:ext cx="5212080" cy="274320"/>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real excerpt from librisense.pddl</a:t>
            </a:r>
            <a:endParaRPr lang="en-US" sz="1050" dirty="0"/>
          </a:p>
        </p:txBody>
      </p:sp>
      <p:sp>
        <p:nvSpPr>
          <p:cNvPr id="7" name="Text 5"/>
          <p:cNvSpPr/>
          <p:nvPr/>
        </p:nvSpPr>
        <p:spPr>
          <a:xfrm>
            <a:off x="6675120" y="1508760"/>
            <a:ext cx="484632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1 type · 8 predicates</a:t>
            </a:r>
            <a:endParaRPr lang="en-US" sz="1450" dirty="0"/>
          </a:p>
        </p:txBody>
      </p:sp>
      <p:sp>
        <p:nvSpPr>
          <p:cNvPr id="8" name="Text 6"/>
          <p:cNvSpPr/>
          <p:nvPr/>
        </p:nvSpPr>
        <p:spPr>
          <a:xfrm>
            <a:off x="6675120" y="1892808"/>
            <a:ext cx="4846320" cy="5943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zone; occupied, dark, lamp_on, co2_elevated, co2_high, ventilating, break_due, break_suggested</a:t>
            </a:r>
            <a:endParaRPr lang="en-US" sz="1200" dirty="0"/>
          </a:p>
        </p:txBody>
      </p:sp>
      <p:sp>
        <p:nvSpPr>
          <p:cNvPr id="9" name="Text 7"/>
          <p:cNvSpPr/>
          <p:nvPr/>
        </p:nvSpPr>
        <p:spPr>
          <a:xfrm>
            <a:off x="6675120" y="2560320"/>
            <a:ext cx="484632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6 actions, all cost-annotated</a:t>
            </a:r>
            <a:endParaRPr lang="en-US" sz="1450" dirty="0"/>
          </a:p>
        </p:txBody>
      </p:sp>
      <p:sp>
        <p:nvSpPr>
          <p:cNvPr id="10" name="Text 8"/>
          <p:cNvSpPr/>
          <p:nvPr/>
        </p:nvSpPr>
        <p:spPr>
          <a:xfrm>
            <a:off x="6675120" y="2944368"/>
            <a:ext cx="4846320" cy="5943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lamp on/off · suggest_break · pulse / pulse-step / full ventilation</a:t>
            </a:r>
            <a:endParaRPr lang="en-US" sz="1200" dirty="0"/>
          </a:p>
        </p:txBody>
      </p:sp>
      <p:sp>
        <p:nvSpPr>
          <p:cNvPr id="11" name="Text 9"/>
          <p:cNvSpPr/>
          <p:nvPr/>
        </p:nvSpPr>
        <p:spPr>
          <a:xfrm>
            <a:off x="6675120" y="3611880"/>
            <a:ext cx="484632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Discretisation thresholds</a:t>
            </a:r>
            <a:endParaRPr lang="en-US" sz="1450" dirty="0"/>
          </a:p>
        </p:txBody>
      </p:sp>
      <p:sp>
        <p:nvSpPr>
          <p:cNvPr id="12" name="Text 10"/>
          <p:cNvSpPr/>
          <p:nvPr/>
        </p:nvSpPr>
        <p:spPr>
          <a:xfrm>
            <a:off x="6675120" y="3995928"/>
            <a:ext cx="4846320" cy="5943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dark below 40 % light · CO₂ bands at 800 and 1100 ppm · FSM sets break_due</a:t>
            </a:r>
            <a:endParaRPr lang="en-US" sz="1200" dirty="0"/>
          </a:p>
        </p:txBody>
      </p:sp>
      <p:sp>
        <p:nvSpPr>
          <p:cNvPr id="13" name="Text 11"/>
          <p:cNvSpPr/>
          <p:nvPr/>
        </p:nvSpPr>
        <p:spPr>
          <a:xfrm>
            <a:off x="6675120" y="4663440"/>
            <a:ext cx="484632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Costs are per-instance fluents</a:t>
            </a:r>
            <a:endParaRPr lang="en-US" sz="1450" dirty="0"/>
          </a:p>
        </p:txBody>
      </p:sp>
      <p:sp>
        <p:nvSpPr>
          <p:cNvPr id="14" name="Text 12"/>
          <p:cNvSpPr/>
          <p:nvPr/>
        </p:nvSpPr>
        <p:spPr>
          <a:xfrm>
            <a:off x="6675120" y="5047488"/>
            <a:ext cx="4846320" cy="5943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pulse = 3 fixed · full = 4 + ΔT/2 with ΔT = max(0, 22 °C − T_outdoor), from the heat-loss relation Q ∝ Q_v · ΔT</a:t>
            </a:r>
            <a:endParaRPr lang="en-US" sz="1200" dirty="0"/>
          </a:p>
        </p:txBody>
      </p:sp>
      <p:sp>
        <p:nvSpPr>
          <p:cNvPr id="15" name="Text 13"/>
          <p:cNvSpPr/>
          <p:nvPr/>
        </p:nvSpPr>
        <p:spPr>
          <a:xfrm>
            <a:off x="6675120" y="5715000"/>
            <a:ext cx="4846320" cy="6400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Continuous values are discretised before planning, so the domain stays classical and plans remain provably optimal.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AI PLANNING · THE SEARCH</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Finding the optimum: A* guided by LM-Cut</a:t>
            </a:r>
            <a:endParaRPr lang="en-US" sz="3000" dirty="0"/>
          </a:p>
        </p:txBody>
      </p:sp>
      <p:sp>
        <p:nvSpPr>
          <p:cNvPr id="4" name="Shape 2"/>
          <p:cNvSpPr/>
          <p:nvPr/>
        </p:nvSpPr>
        <p:spPr>
          <a:xfrm>
            <a:off x="2331720" y="2148840"/>
            <a:ext cx="-777240" cy="914400"/>
          </a:xfrm>
          <a:prstGeom prst="line">
            <a:avLst/>
          </a:prstGeom>
          <a:noFill/>
          <a:ln w="25400">
            <a:solidFill>
              <a:srgbClr val="D97706"/>
            </a:solidFill>
            <a:prstDash val="solid"/>
          </a:ln>
        </p:spPr>
      </p:sp>
      <p:sp>
        <p:nvSpPr>
          <p:cNvPr id="5" name="Shape 3"/>
          <p:cNvSpPr/>
          <p:nvPr/>
        </p:nvSpPr>
        <p:spPr>
          <a:xfrm>
            <a:off x="3611880" y="2148840"/>
            <a:ext cx="1325880" cy="914400"/>
          </a:xfrm>
          <a:prstGeom prst="line">
            <a:avLst/>
          </a:prstGeom>
          <a:noFill/>
          <a:ln w="19050">
            <a:solidFill>
              <a:srgbClr val="E5E7EB"/>
            </a:solidFill>
            <a:prstDash val="solid"/>
          </a:ln>
        </p:spPr>
      </p:sp>
      <p:sp>
        <p:nvSpPr>
          <p:cNvPr id="6" name="Shape 4"/>
          <p:cNvSpPr/>
          <p:nvPr/>
        </p:nvSpPr>
        <p:spPr>
          <a:xfrm>
            <a:off x="4937760" y="3566160"/>
            <a:ext cx="0" cy="960120"/>
          </a:xfrm>
          <a:prstGeom prst="line">
            <a:avLst/>
          </a:prstGeom>
          <a:noFill/>
          <a:ln w="19050">
            <a:solidFill>
              <a:srgbClr val="E5E7EB"/>
            </a:solidFill>
            <a:prstDash val="solid"/>
          </a:ln>
        </p:spPr>
      </p:sp>
      <p:sp>
        <p:nvSpPr>
          <p:cNvPr id="7" name="Shape 5"/>
          <p:cNvSpPr/>
          <p:nvPr/>
        </p:nvSpPr>
        <p:spPr>
          <a:xfrm>
            <a:off x="2240280" y="1645920"/>
            <a:ext cx="1874520" cy="502920"/>
          </a:xfrm>
          <a:prstGeom prst="roundRect">
            <a:avLst>
              <a:gd name="adj" fmla="val 12727"/>
            </a:avLst>
          </a:prstGeom>
          <a:solidFill>
            <a:srgbClr val="FFFFFF"/>
          </a:solidFill>
          <a:ln w="12700">
            <a:solidFill>
              <a:srgbClr val="E5E7EB"/>
            </a:solidFill>
            <a:prstDash val="solid"/>
          </a:ln>
        </p:spPr>
      </p:sp>
      <p:sp>
        <p:nvSpPr>
          <p:cNvPr id="8" name="Text 6"/>
          <p:cNvSpPr/>
          <p:nvPr/>
        </p:nvSpPr>
        <p:spPr>
          <a:xfrm>
            <a:off x="2295144" y="1664208"/>
            <a:ext cx="1764792" cy="457200"/>
          </a:xfrm>
          <a:prstGeom prst="rect">
            <a:avLst/>
          </a:prstGeom>
          <a:noFill/>
          <a:ln/>
        </p:spPr>
        <p:txBody>
          <a:bodyPr wrap="square" lIns="0" tIns="0" rIns="0" bIns="0" rtlCol="0" anchor="ctr"/>
          <a:lstStyle/>
          <a:p>
            <a:pPr algn="ctr" indent="0" marL="0">
              <a:buNone/>
            </a:pPr>
            <a:r>
              <a:rPr lang="en-US" sz="1050" dirty="0">
                <a:solidFill>
                  <a:srgbClr val="111827"/>
                </a:solidFill>
                <a:latin typeface="Courier New" pitchFamily="34" charset="0"/>
                <a:ea typeface="Courier New" pitchFamily="34" charset="-122"/>
                <a:cs typeface="Courier New" pitchFamily="34" charset="-120"/>
              </a:rPr>
              <a:t>co2_high · g=0</a:t>
            </a:r>
            <a:endParaRPr lang="en-US" sz="1050" dirty="0"/>
          </a:p>
        </p:txBody>
      </p:sp>
      <p:sp>
        <p:nvSpPr>
          <p:cNvPr id="9" name="Shape 7"/>
          <p:cNvSpPr/>
          <p:nvPr/>
        </p:nvSpPr>
        <p:spPr>
          <a:xfrm>
            <a:off x="640080" y="3063240"/>
            <a:ext cx="1874520" cy="502920"/>
          </a:xfrm>
          <a:prstGeom prst="roundRect">
            <a:avLst>
              <a:gd name="adj" fmla="val 12727"/>
            </a:avLst>
          </a:prstGeom>
          <a:solidFill>
            <a:srgbClr val="E7F3EC"/>
          </a:solidFill>
          <a:ln w="19050">
            <a:solidFill>
              <a:srgbClr val="15803D"/>
            </a:solidFill>
            <a:prstDash val="solid"/>
          </a:ln>
        </p:spPr>
      </p:sp>
      <p:sp>
        <p:nvSpPr>
          <p:cNvPr id="10" name="Text 8"/>
          <p:cNvSpPr/>
          <p:nvPr/>
        </p:nvSpPr>
        <p:spPr>
          <a:xfrm>
            <a:off x="694944" y="3081528"/>
            <a:ext cx="1764792" cy="457200"/>
          </a:xfrm>
          <a:prstGeom prst="rect">
            <a:avLst/>
          </a:prstGeom>
          <a:noFill/>
          <a:ln/>
        </p:spPr>
        <p:txBody>
          <a:bodyPr wrap="square" lIns="0" tIns="0" rIns="0" bIns="0" rtlCol="0" anchor="ctr"/>
          <a:lstStyle/>
          <a:p>
            <a:pPr algn="ctr" indent="0" marL="0">
              <a:buNone/>
            </a:pPr>
            <a:r>
              <a:rPr lang="en-US" sz="1050" b="1" dirty="0">
                <a:solidFill>
                  <a:srgbClr val="15803D"/>
                </a:solidFill>
                <a:latin typeface="Courier New" pitchFamily="34" charset="0"/>
                <a:ea typeface="Courier New" pitchFamily="34" charset="-122"/>
                <a:cs typeface="Courier New" pitchFamily="34" charset="-120"/>
              </a:rPr>
              <a:t>goal ✓ · f=4</a:t>
            </a:r>
            <a:endParaRPr lang="en-US" sz="1050" dirty="0"/>
          </a:p>
        </p:txBody>
      </p:sp>
      <p:sp>
        <p:nvSpPr>
          <p:cNvPr id="11" name="Shape 9"/>
          <p:cNvSpPr/>
          <p:nvPr/>
        </p:nvSpPr>
        <p:spPr>
          <a:xfrm>
            <a:off x="3977640" y="3063240"/>
            <a:ext cx="1874520" cy="502920"/>
          </a:xfrm>
          <a:prstGeom prst="roundRect">
            <a:avLst>
              <a:gd name="adj" fmla="val 12727"/>
            </a:avLst>
          </a:prstGeom>
          <a:solidFill>
            <a:srgbClr val="FFFFFF"/>
          </a:solidFill>
          <a:ln w="12700">
            <a:solidFill>
              <a:srgbClr val="E5E7EB"/>
            </a:solidFill>
            <a:prstDash val="solid"/>
          </a:ln>
        </p:spPr>
      </p:sp>
      <p:sp>
        <p:nvSpPr>
          <p:cNvPr id="12" name="Text 10"/>
          <p:cNvSpPr/>
          <p:nvPr/>
        </p:nvSpPr>
        <p:spPr>
          <a:xfrm>
            <a:off x="4032504" y="3081528"/>
            <a:ext cx="1764792" cy="457200"/>
          </a:xfrm>
          <a:prstGeom prst="rect">
            <a:avLst/>
          </a:prstGeom>
          <a:noFill/>
          <a:ln/>
        </p:spPr>
        <p:txBody>
          <a:bodyPr wrap="square" lIns="0" tIns="0" rIns="0" bIns="0" rtlCol="0" anchor="ctr"/>
          <a:lstStyle/>
          <a:p>
            <a:pPr algn="ctr" indent="0" marL="0">
              <a:buNone/>
            </a:pPr>
            <a:r>
              <a:rPr lang="en-US" sz="1050" dirty="0">
                <a:solidFill>
                  <a:srgbClr val="111827"/>
                </a:solidFill>
                <a:latin typeface="Courier New" pitchFamily="34" charset="0"/>
                <a:ea typeface="Courier New" pitchFamily="34" charset="-122"/>
                <a:cs typeface="Courier New" pitchFamily="34" charset="-120"/>
              </a:rPr>
              <a:t>co2_elevated · g=3</a:t>
            </a:r>
            <a:endParaRPr lang="en-US" sz="1050" dirty="0"/>
          </a:p>
        </p:txBody>
      </p:sp>
      <p:sp>
        <p:nvSpPr>
          <p:cNvPr id="13" name="Shape 11"/>
          <p:cNvSpPr/>
          <p:nvPr/>
        </p:nvSpPr>
        <p:spPr>
          <a:xfrm>
            <a:off x="3977640" y="4526280"/>
            <a:ext cx="1874520" cy="502920"/>
          </a:xfrm>
          <a:prstGeom prst="roundRect">
            <a:avLst>
              <a:gd name="adj" fmla="val 12727"/>
            </a:avLst>
          </a:prstGeom>
          <a:solidFill>
            <a:srgbClr val="FFFFFF"/>
          </a:solidFill>
          <a:ln w="12700">
            <a:solidFill>
              <a:srgbClr val="E5E7EB"/>
            </a:solidFill>
            <a:prstDash val="solid"/>
          </a:ln>
        </p:spPr>
      </p:sp>
      <p:sp>
        <p:nvSpPr>
          <p:cNvPr id="14" name="Text 12"/>
          <p:cNvSpPr/>
          <p:nvPr/>
        </p:nvSpPr>
        <p:spPr>
          <a:xfrm>
            <a:off x="4032504" y="4544568"/>
            <a:ext cx="1764792" cy="457200"/>
          </a:xfrm>
          <a:prstGeom prst="rect">
            <a:avLst/>
          </a:prstGeom>
          <a:noFill/>
          <a:ln/>
        </p:spPr>
        <p:txBody>
          <a:bodyPr wrap="square" lIns="0" tIns="0" rIns="0" bIns="0" rtlCol="0" anchor="ctr"/>
          <a:lstStyle/>
          <a:p>
            <a:pPr algn="ctr" indent="0" marL="0">
              <a:buNone/>
            </a:pPr>
            <a:r>
              <a:rPr lang="en-US" sz="1050" dirty="0">
                <a:solidFill>
                  <a:srgbClr val="111827"/>
                </a:solidFill>
                <a:latin typeface="Courier New" pitchFamily="34" charset="0"/>
                <a:ea typeface="Courier New" pitchFamily="34" charset="-122"/>
                <a:cs typeface="Courier New" pitchFamily="34" charset="-120"/>
              </a:rPr>
              <a:t>goal · f=6</a:t>
            </a:r>
            <a:endParaRPr lang="en-US" sz="1050" dirty="0"/>
          </a:p>
        </p:txBody>
      </p:sp>
      <p:sp>
        <p:nvSpPr>
          <p:cNvPr id="15" name="Text 13"/>
          <p:cNvSpPr/>
          <p:nvPr/>
        </p:nvSpPr>
        <p:spPr>
          <a:xfrm>
            <a:off x="502920" y="2487168"/>
            <a:ext cx="2011680" cy="274320"/>
          </a:xfrm>
          <a:prstGeom prst="rect">
            <a:avLst/>
          </a:prstGeom>
          <a:noFill/>
          <a:ln/>
        </p:spPr>
        <p:txBody>
          <a:bodyPr wrap="square" lIns="0" tIns="0" rIns="0" bIns="0" rtlCol="0" anchor="ctr"/>
          <a:lstStyle/>
          <a:p>
            <a:pPr indent="0" marL="0">
              <a:buNone/>
            </a:pPr>
            <a:r>
              <a:rPr lang="en-US" sz="1000" b="1" dirty="0">
                <a:solidFill>
                  <a:srgbClr val="D97706"/>
                </a:solidFill>
                <a:latin typeface="Courier New" pitchFamily="34" charset="0"/>
                <a:ea typeface="Courier New" pitchFamily="34" charset="-122"/>
                <a:cs typeface="Courier New" pitchFamily="34" charset="-120"/>
              </a:rPr>
              <a:t>full_ventilate  +4</a:t>
            </a:r>
            <a:endParaRPr lang="en-US" sz="1000" dirty="0"/>
          </a:p>
        </p:txBody>
      </p:sp>
      <p:sp>
        <p:nvSpPr>
          <p:cNvPr id="16" name="Text 14"/>
          <p:cNvSpPr/>
          <p:nvPr/>
        </p:nvSpPr>
        <p:spPr>
          <a:xfrm>
            <a:off x="3977640" y="2487168"/>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ourier New" pitchFamily="34" charset="0"/>
                <a:ea typeface="Courier New" pitchFamily="34" charset="-122"/>
                <a:cs typeface="Courier New" pitchFamily="34" charset="-120"/>
              </a:rPr>
              <a:t>pulse_step  +3</a:t>
            </a:r>
            <a:endParaRPr lang="en-US" sz="1000" dirty="0"/>
          </a:p>
        </p:txBody>
      </p:sp>
      <p:sp>
        <p:nvSpPr>
          <p:cNvPr id="17" name="Text 15"/>
          <p:cNvSpPr/>
          <p:nvPr/>
        </p:nvSpPr>
        <p:spPr>
          <a:xfrm>
            <a:off x="5074920" y="3931920"/>
            <a:ext cx="1371600" cy="274320"/>
          </a:xfrm>
          <a:prstGeom prst="rect">
            <a:avLst/>
          </a:prstGeom>
          <a:noFill/>
          <a:ln/>
        </p:spPr>
        <p:txBody>
          <a:bodyPr wrap="square" lIns="0" tIns="0" rIns="0" bIns="0" rtlCol="0" anchor="ctr"/>
          <a:lstStyle/>
          <a:p>
            <a:pPr indent="0" marL="0">
              <a:buNone/>
            </a:pPr>
            <a:r>
              <a:rPr lang="en-US" sz="1000" dirty="0">
                <a:solidFill>
                  <a:srgbClr val="6B7280"/>
                </a:solidFill>
                <a:latin typeface="Courier New" pitchFamily="34" charset="0"/>
                <a:ea typeface="Courier New" pitchFamily="34" charset="-122"/>
                <a:cs typeface="Courier New" pitchFamily="34" charset="-120"/>
              </a:rPr>
              <a:t>pulse  +3</a:t>
            </a:r>
            <a:endParaRPr lang="en-US" sz="1000" dirty="0"/>
          </a:p>
        </p:txBody>
      </p:sp>
      <p:sp>
        <p:nvSpPr>
          <p:cNvPr id="18" name="Text 16"/>
          <p:cNvSpPr/>
          <p:nvPr/>
        </p:nvSpPr>
        <p:spPr>
          <a:xfrm>
            <a:off x="640080" y="5440680"/>
            <a:ext cx="5760720" cy="868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 expands the frontier by lowest f. The f=4 goal is reached before the f=6 branch, so [full_ventilate] is returned — guaranteed minimum cost.</a:t>
            </a:r>
            <a:endParaRPr lang="en-US" sz="1200" dirty="0"/>
          </a:p>
        </p:txBody>
      </p:sp>
      <p:sp>
        <p:nvSpPr>
          <p:cNvPr id="19" name="Shape 17"/>
          <p:cNvSpPr/>
          <p:nvPr/>
        </p:nvSpPr>
        <p:spPr>
          <a:xfrm>
            <a:off x="6720840" y="1554480"/>
            <a:ext cx="0" cy="4023360"/>
          </a:xfrm>
          <a:prstGeom prst="line">
            <a:avLst/>
          </a:prstGeom>
          <a:noFill/>
          <a:ln w="12700">
            <a:solidFill>
              <a:srgbClr val="E5E7EB"/>
            </a:solidFill>
            <a:prstDash val="solid"/>
          </a:ln>
        </p:spPr>
      </p:sp>
      <p:sp>
        <p:nvSpPr>
          <p:cNvPr id="20" name="Text 18"/>
          <p:cNvSpPr/>
          <p:nvPr/>
        </p:nvSpPr>
        <p:spPr>
          <a:xfrm>
            <a:off x="6949440" y="1554480"/>
            <a:ext cx="457200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A*  ·  best-first search</a:t>
            </a:r>
            <a:endParaRPr lang="en-US" sz="1500" dirty="0"/>
          </a:p>
        </p:txBody>
      </p:sp>
      <p:sp>
        <p:nvSpPr>
          <p:cNvPr id="21" name="Text 19"/>
          <p:cNvSpPr/>
          <p:nvPr/>
        </p:nvSpPr>
        <p:spPr>
          <a:xfrm>
            <a:off x="6949440" y="1938528"/>
            <a:ext cx="4617720" cy="914400"/>
          </a:xfrm>
          <a:prstGeom prst="rect">
            <a:avLst/>
          </a:prstGeom>
          <a:noFill/>
          <a:ln/>
        </p:spPr>
        <p:txBody>
          <a:bodyPr wrap="square" lIns="0" tIns="0" rIns="0" bIns="0" rtlCol="0" anchor="ctr"/>
          <a:lstStyle/>
          <a:p>
            <a:pPr indent="0" marL="0">
              <a:lnSpc>
                <a:spcPct val="120000"/>
              </a:lnSpc>
              <a:buNone/>
            </a:pPr>
            <a:r>
              <a:rPr lang="en-US" sz="1250" dirty="0">
                <a:solidFill>
                  <a:srgbClr val="6B7280"/>
                </a:solidFill>
                <a:latin typeface="Calibri" pitchFamily="34" charset="0"/>
                <a:ea typeface="Calibri" pitchFamily="34" charset="-122"/>
                <a:cs typeface="Calibri" pitchFamily="34" charset="-120"/>
              </a:rPr>
              <a:t>Expands states in order of  f = g + h</a:t>
            </a:r>
            <a:endParaRPr lang="en-US" sz="1250" dirty="0"/>
          </a:p>
          <a:p>
            <a:pPr indent="0" marL="0">
              <a:lnSpc>
                <a:spcPct val="120000"/>
              </a:lnSpc>
              <a:buNone/>
            </a:pPr>
            <a:r>
              <a:rPr lang="en-US" sz="1250" dirty="0">
                <a:solidFill>
                  <a:srgbClr val="6B7280"/>
                </a:solidFill>
                <a:latin typeface="Calibri" pitchFamily="34" charset="0"/>
                <a:ea typeface="Calibri" pitchFamily="34" charset="-122"/>
                <a:cs typeface="Calibri" pitchFamily="34" charset="-120"/>
              </a:rPr>
              <a:t> g = cost of the plan so far</a:t>
            </a:r>
            <a:endParaRPr lang="en-US" sz="1250" dirty="0"/>
          </a:p>
          <a:p>
            <a:pPr indent="0" marL="0">
              <a:lnSpc>
                <a:spcPct val="120000"/>
              </a:lnSpc>
              <a:buNone/>
            </a:pPr>
            <a:r>
              <a:rPr lang="en-US" sz="1250" dirty="0">
                <a:solidFill>
                  <a:srgbClr val="6B7280"/>
                </a:solidFill>
                <a:latin typeface="Calibri" pitchFamily="34" charset="0"/>
                <a:ea typeface="Calibri" pitchFamily="34" charset="-122"/>
                <a:cs typeface="Calibri" pitchFamily="34" charset="-120"/>
              </a:rPr>
              <a:t> h = LM-Cut estimate of the cost still to go</a:t>
            </a:r>
            <a:endParaRPr lang="en-US" sz="1250" dirty="0"/>
          </a:p>
        </p:txBody>
      </p:sp>
      <p:sp>
        <p:nvSpPr>
          <p:cNvPr id="22" name="Text 20"/>
          <p:cNvSpPr/>
          <p:nvPr/>
        </p:nvSpPr>
        <p:spPr>
          <a:xfrm>
            <a:off x="6949440" y="3063240"/>
            <a:ext cx="457200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LM-Cut  ·  admissible heuristic</a:t>
            </a:r>
            <a:endParaRPr lang="en-US" sz="1500" dirty="0"/>
          </a:p>
        </p:txBody>
      </p:sp>
      <p:sp>
        <p:nvSpPr>
          <p:cNvPr id="23" name="Text 21"/>
          <p:cNvSpPr/>
          <p:nvPr/>
        </p:nvSpPr>
        <p:spPr>
          <a:xfrm>
            <a:off x="6949440" y="3447288"/>
            <a:ext cx="4617720" cy="914400"/>
          </a:xfrm>
          <a:prstGeom prst="rect">
            <a:avLst/>
          </a:prstGeom>
          <a:noFill/>
          <a:ln/>
        </p:spPr>
        <p:txBody>
          <a:bodyPr wrap="square" lIns="0" tIns="0" rIns="0" bIns="0" rtlCol="0" anchor="ctr"/>
          <a:lstStyle/>
          <a:p>
            <a:pPr indent="0" marL="0">
              <a:lnSpc>
                <a:spcPct val="120000"/>
              </a:lnSpc>
              <a:buNone/>
            </a:pPr>
            <a:r>
              <a:rPr lang="en-US" sz="1250" dirty="0">
                <a:solidFill>
                  <a:srgbClr val="6B7280"/>
                </a:solidFill>
                <a:latin typeface="Calibri" pitchFamily="34" charset="0"/>
                <a:ea typeface="Calibri" pitchFamily="34" charset="-122"/>
                <a:cs typeface="Calibri" pitchFamily="34" charset="-120"/>
              </a:rPr>
              <a:t>Finds landmarks — action sets every plan must use — and sums their cheapest action. This lower bound never overestimates the real cost.</a:t>
            </a:r>
            <a:endParaRPr lang="en-US" sz="1250" dirty="0"/>
          </a:p>
        </p:txBody>
      </p:sp>
      <p:sp>
        <p:nvSpPr>
          <p:cNvPr id="24" name="Shape 22"/>
          <p:cNvSpPr/>
          <p:nvPr/>
        </p:nvSpPr>
        <p:spPr>
          <a:xfrm>
            <a:off x="6949440" y="4526280"/>
            <a:ext cx="4617720" cy="868680"/>
          </a:xfrm>
          <a:prstGeom prst="roundRect">
            <a:avLst>
              <a:gd name="adj" fmla="val 8421"/>
            </a:avLst>
          </a:prstGeom>
          <a:solidFill>
            <a:srgbClr val="FBEFD9"/>
          </a:solidFill>
          <a:ln/>
        </p:spPr>
      </p:sp>
      <p:sp>
        <p:nvSpPr>
          <p:cNvPr id="25" name="Text 23"/>
          <p:cNvSpPr/>
          <p:nvPr/>
        </p:nvSpPr>
        <p:spPr>
          <a:xfrm>
            <a:off x="7132320" y="4617720"/>
            <a:ext cx="4251960" cy="6858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Because h never overestimates, the first goal A* reaches is provably minimum-cost — optimal, not just feasible.</a:t>
            </a:r>
            <a:endParaRPr lang="en-US" sz="1250" dirty="0"/>
          </a:p>
        </p:txBody>
      </p:sp>
      <p:sp>
        <p:nvSpPr>
          <p:cNvPr id="26" name="Text 24"/>
          <p:cNvSpPr/>
          <p:nvPr/>
        </p:nvSpPr>
        <p:spPr>
          <a:xfrm>
            <a:off x="6949440" y="5532120"/>
            <a:ext cx="4617720" cy="320040"/>
          </a:xfrm>
          <a:prstGeom prst="rect">
            <a:avLst/>
          </a:prstGeom>
          <a:noFill/>
          <a:ln/>
        </p:spPr>
        <p:txBody>
          <a:bodyPr wrap="square" lIns="0" tIns="0" rIns="0" bIns="0" rtlCol="0" anchor="ctr"/>
          <a:lstStyle/>
          <a:p>
            <a:pPr indent="0" marL="0">
              <a:buNone/>
            </a:pPr>
            <a:r>
              <a:rPr lang="en-US" sz="1150" dirty="0">
                <a:solidFill>
                  <a:srgbClr val="D97706"/>
                </a:solidFill>
                <a:latin typeface="Courier New" pitchFamily="34" charset="0"/>
                <a:ea typeface="Courier New" pitchFamily="34" charset="-122"/>
                <a:cs typeface="Courier New" pitchFamily="34" charset="-120"/>
              </a:rPr>
              <a:t>~130 ms end to end · pure search &lt; 2 ms on the Pi 5</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AI PLANNING · ADAPTING TO COST</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Same state, different weather, different plan</a:t>
            </a:r>
            <a:endParaRPr lang="en-US" sz="3000" dirty="0"/>
          </a:p>
        </p:txBody>
      </p:sp>
      <p:sp>
        <p:nvSpPr>
          <p:cNvPr id="4" name="Text 2"/>
          <p:cNvSpPr/>
          <p:nvPr/>
        </p:nvSpPr>
        <p:spPr>
          <a:xfrm>
            <a:off x="640080" y="1481328"/>
            <a:ext cx="10881360" cy="64008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The goal is identical: clear the high CO₂. The action costs are not — a pulse always costs 3, while a full airing costs 4 + ΔT/2 with ΔT = max(0, 22 °C − T_outdoor), from the heat-loss relation Q ∝ Q_v · ΔT.</a:t>
            </a:r>
            <a:endParaRPr lang="en-US" sz="1350" dirty="0"/>
          </a:p>
        </p:txBody>
      </p:sp>
      <p:sp>
        <p:nvSpPr>
          <p:cNvPr id="5" name="Shape 3"/>
          <p:cNvSpPr/>
          <p:nvPr/>
        </p:nvSpPr>
        <p:spPr>
          <a:xfrm>
            <a:off x="640080" y="2286000"/>
            <a:ext cx="5285232" cy="2697480"/>
          </a:xfrm>
          <a:prstGeom prst="roundRect">
            <a:avLst>
              <a:gd name="adj" fmla="val 3390"/>
            </a:avLst>
          </a:prstGeom>
          <a:solidFill>
            <a:srgbClr val="FFFFFF"/>
          </a:solidFill>
          <a:ln w="15875">
            <a:solidFill>
              <a:srgbClr val="E5E7EB"/>
            </a:solidFill>
            <a:prstDash val="solid"/>
          </a:ln>
        </p:spPr>
      </p:sp>
      <p:sp>
        <p:nvSpPr>
          <p:cNvPr id="6" name="Text 4"/>
          <p:cNvSpPr/>
          <p:nvPr/>
        </p:nvSpPr>
        <p:spPr>
          <a:xfrm>
            <a:off x="896112" y="2487168"/>
            <a:ext cx="4754880" cy="365760"/>
          </a:xfrm>
          <a:prstGeom prst="rect">
            <a:avLst/>
          </a:prstGeom>
          <a:noFill/>
          <a:ln/>
        </p:spPr>
        <p:txBody>
          <a:bodyPr wrap="square" lIns="0" tIns="0" rIns="0" bIns="0" rtlCol="0" anchor="ctr"/>
          <a:lstStyle/>
          <a:p>
            <a:pPr indent="0" marL="0">
              <a:buNone/>
            </a:pPr>
            <a:r>
              <a:rPr lang="en-US" sz="1600" b="1" dirty="0">
                <a:solidFill>
                  <a:srgbClr val="1D4ED8"/>
                </a:solidFill>
                <a:latin typeface="Cambria" pitchFamily="34" charset="0"/>
                <a:ea typeface="Cambria" pitchFamily="34" charset="-122"/>
                <a:cs typeface="Cambria" pitchFamily="34" charset="-120"/>
              </a:rPr>
              <a:t>Winter · 5 °C outside</a:t>
            </a:r>
            <a:endParaRPr lang="en-US" sz="1600" dirty="0"/>
          </a:p>
        </p:txBody>
      </p:sp>
      <p:sp>
        <p:nvSpPr>
          <p:cNvPr id="7" name="Text 5"/>
          <p:cNvSpPr/>
          <p:nvPr/>
        </p:nvSpPr>
        <p:spPr>
          <a:xfrm>
            <a:off x="896112" y="2926080"/>
            <a:ext cx="4846320" cy="320040"/>
          </a:xfrm>
          <a:prstGeom prst="rect">
            <a:avLst/>
          </a:prstGeom>
          <a:noFill/>
          <a:ln/>
        </p:spPr>
        <p:txBody>
          <a:bodyPr wrap="square" lIns="0" tIns="0" rIns="0" bIns="0" rtlCol="0" anchor="ctr"/>
          <a:lstStyle/>
          <a:p>
            <a:pPr indent="0" marL="0">
              <a:buNone/>
            </a:pPr>
            <a:r>
              <a:rPr lang="en-US" sz="1200" dirty="0">
                <a:solidFill>
                  <a:srgbClr val="6B7280"/>
                </a:solidFill>
                <a:latin typeface="Courier New" pitchFamily="34" charset="0"/>
                <a:ea typeface="Courier New" pitchFamily="34" charset="-122"/>
                <a:cs typeface="Courier New" pitchFamily="34" charset="-120"/>
              </a:rPr>
              <a:t>pulse = 3   ·   full = 4 + 17/2 = 12</a:t>
            </a:r>
            <a:endParaRPr lang="en-US" sz="1200" dirty="0"/>
          </a:p>
        </p:txBody>
      </p:sp>
      <p:sp>
        <p:nvSpPr>
          <p:cNvPr id="8" name="Shape 6"/>
          <p:cNvSpPr/>
          <p:nvPr/>
        </p:nvSpPr>
        <p:spPr>
          <a:xfrm>
            <a:off x="896112" y="3364992"/>
            <a:ext cx="4773168" cy="0"/>
          </a:xfrm>
          <a:prstGeom prst="line">
            <a:avLst/>
          </a:prstGeom>
          <a:noFill/>
          <a:ln w="9525">
            <a:solidFill>
              <a:srgbClr val="E5E7EB"/>
            </a:solidFill>
            <a:prstDash val="solid"/>
          </a:ln>
        </p:spPr>
      </p:sp>
      <p:sp>
        <p:nvSpPr>
          <p:cNvPr id="9" name="Text 7"/>
          <p:cNvSpPr/>
          <p:nvPr/>
        </p:nvSpPr>
        <p:spPr>
          <a:xfrm>
            <a:off x="896112" y="3493008"/>
            <a:ext cx="4846320" cy="731520"/>
          </a:xfrm>
          <a:prstGeom prst="rect">
            <a:avLst/>
          </a:prstGeom>
          <a:noFill/>
          <a:ln/>
        </p:spPr>
        <p:txBody>
          <a:bodyPr wrap="square" lIns="0" tIns="0" rIns="0" bIns="0" rtlCol="0" anchor="ctr"/>
          <a:lstStyle/>
          <a:p>
            <a:pPr indent="0" marL="0">
              <a:lnSpc>
                <a:spcPct val="110000"/>
              </a:lnSpc>
              <a:buNone/>
            </a:pPr>
            <a:r>
              <a:rPr lang="en-US" sz="1350" b="1" dirty="0">
                <a:solidFill>
                  <a:srgbClr val="111827"/>
                </a:solidFill>
                <a:latin typeface="Courier New" pitchFamily="34" charset="0"/>
                <a:ea typeface="Courier New" pitchFamily="34" charset="-122"/>
                <a:cs typeface="Courier New" pitchFamily="34" charset="-120"/>
              </a:rPr>
              <a:t>[ pulse_ventilate_step,</a:t>
            </a:r>
            <a:endParaRPr lang="en-US" sz="1350" dirty="0"/>
          </a:p>
          <a:p>
            <a:pPr indent="0" marL="0">
              <a:lnSpc>
                <a:spcPct val="110000"/>
              </a:lnSpc>
              <a:buNone/>
            </a:pPr>
            <a:r>
              <a:rPr lang="en-US" sz="1350" b="1" dirty="0">
                <a:solidFill>
                  <a:srgbClr val="111827"/>
                </a:solidFill>
                <a:latin typeface="Courier New" pitchFamily="34" charset="0"/>
                <a:ea typeface="Courier New" pitchFamily="34" charset="-122"/>
                <a:cs typeface="Courier New" pitchFamily="34" charset="-120"/>
              </a:rPr>
              <a:t>  pulse_ventilate ]</a:t>
            </a:r>
            <a:endParaRPr lang="en-US" sz="1350" dirty="0"/>
          </a:p>
        </p:txBody>
      </p:sp>
      <p:sp>
        <p:nvSpPr>
          <p:cNvPr id="10" name="Text 8"/>
          <p:cNvSpPr/>
          <p:nvPr/>
        </p:nvSpPr>
        <p:spPr>
          <a:xfrm>
            <a:off x="896112" y="4315968"/>
            <a:ext cx="2286000" cy="320040"/>
          </a:xfrm>
          <a:prstGeom prst="rect">
            <a:avLst/>
          </a:prstGeom>
          <a:noFill/>
          <a:ln/>
        </p:spPr>
        <p:txBody>
          <a:bodyPr wrap="square" lIns="0" tIns="0" rIns="0" bIns="0" rtlCol="0" anchor="ctr"/>
          <a:lstStyle/>
          <a:p>
            <a:pPr indent="0" marL="0">
              <a:buNone/>
            </a:pPr>
            <a:r>
              <a:rPr lang="en-US" sz="1500" b="1" dirty="0">
                <a:solidFill>
                  <a:srgbClr val="1D4ED8"/>
                </a:solidFill>
                <a:latin typeface="Cambria" pitchFamily="34" charset="0"/>
                <a:ea typeface="Cambria" pitchFamily="34" charset="-122"/>
                <a:cs typeface="Cambria" pitchFamily="34" charset="-120"/>
              </a:rPr>
              <a:t>total 6  &lt;  12</a:t>
            </a:r>
            <a:endParaRPr lang="en-US" sz="1500" dirty="0"/>
          </a:p>
        </p:txBody>
      </p:sp>
      <p:sp>
        <p:nvSpPr>
          <p:cNvPr id="11" name="Text 9"/>
          <p:cNvSpPr/>
          <p:nvPr/>
        </p:nvSpPr>
        <p:spPr>
          <a:xfrm>
            <a:off x="896112" y="4617720"/>
            <a:ext cx="4846320" cy="3200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two short pulses — the heat stays inside</a:t>
            </a:r>
            <a:endParaRPr lang="en-US" sz="1200" dirty="0"/>
          </a:p>
        </p:txBody>
      </p:sp>
      <p:sp>
        <p:nvSpPr>
          <p:cNvPr id="12" name="Shape 10"/>
          <p:cNvSpPr/>
          <p:nvPr/>
        </p:nvSpPr>
        <p:spPr>
          <a:xfrm>
            <a:off x="6263640" y="2286000"/>
            <a:ext cx="5285232" cy="2697480"/>
          </a:xfrm>
          <a:prstGeom prst="roundRect">
            <a:avLst>
              <a:gd name="adj" fmla="val 3390"/>
            </a:avLst>
          </a:prstGeom>
          <a:solidFill>
            <a:srgbClr val="FFFFFF"/>
          </a:solidFill>
          <a:ln w="15875">
            <a:solidFill>
              <a:srgbClr val="E5E7EB"/>
            </a:solidFill>
            <a:prstDash val="solid"/>
          </a:ln>
        </p:spPr>
      </p:sp>
      <p:sp>
        <p:nvSpPr>
          <p:cNvPr id="13" name="Text 11"/>
          <p:cNvSpPr/>
          <p:nvPr/>
        </p:nvSpPr>
        <p:spPr>
          <a:xfrm>
            <a:off x="6519672" y="2487168"/>
            <a:ext cx="4754880" cy="365760"/>
          </a:xfrm>
          <a:prstGeom prst="rect">
            <a:avLst/>
          </a:prstGeom>
          <a:noFill/>
          <a:ln/>
        </p:spPr>
        <p:txBody>
          <a:bodyPr wrap="square" lIns="0" tIns="0" rIns="0" bIns="0" rtlCol="0" anchor="ctr"/>
          <a:lstStyle/>
          <a:p>
            <a:pPr indent="0" marL="0">
              <a:buNone/>
            </a:pPr>
            <a:r>
              <a:rPr lang="en-US" sz="1600" b="1" dirty="0">
                <a:solidFill>
                  <a:srgbClr val="D97706"/>
                </a:solidFill>
                <a:latin typeface="Cambria" pitchFamily="34" charset="0"/>
                <a:ea typeface="Cambria" pitchFamily="34" charset="-122"/>
                <a:cs typeface="Cambria" pitchFamily="34" charset="-120"/>
              </a:rPr>
              <a:t>Summer · 33 °C outside</a:t>
            </a:r>
            <a:endParaRPr lang="en-US" sz="1600" dirty="0"/>
          </a:p>
        </p:txBody>
      </p:sp>
      <p:sp>
        <p:nvSpPr>
          <p:cNvPr id="14" name="Text 12"/>
          <p:cNvSpPr/>
          <p:nvPr/>
        </p:nvSpPr>
        <p:spPr>
          <a:xfrm>
            <a:off x="6519672" y="2926080"/>
            <a:ext cx="4846320" cy="320040"/>
          </a:xfrm>
          <a:prstGeom prst="rect">
            <a:avLst/>
          </a:prstGeom>
          <a:noFill/>
          <a:ln/>
        </p:spPr>
        <p:txBody>
          <a:bodyPr wrap="square" lIns="0" tIns="0" rIns="0" bIns="0" rtlCol="0" anchor="ctr"/>
          <a:lstStyle/>
          <a:p>
            <a:pPr indent="0" marL="0">
              <a:buNone/>
            </a:pPr>
            <a:r>
              <a:rPr lang="en-US" sz="1200" dirty="0">
                <a:solidFill>
                  <a:srgbClr val="6B7280"/>
                </a:solidFill>
                <a:latin typeface="Courier New" pitchFamily="34" charset="0"/>
                <a:ea typeface="Courier New" pitchFamily="34" charset="-122"/>
                <a:cs typeface="Courier New" pitchFamily="34" charset="-120"/>
              </a:rPr>
              <a:t>pulse = 3   ·   full = 4 + 0 = 4</a:t>
            </a:r>
            <a:endParaRPr lang="en-US" sz="1200" dirty="0"/>
          </a:p>
        </p:txBody>
      </p:sp>
      <p:sp>
        <p:nvSpPr>
          <p:cNvPr id="15" name="Shape 13"/>
          <p:cNvSpPr/>
          <p:nvPr/>
        </p:nvSpPr>
        <p:spPr>
          <a:xfrm>
            <a:off x="6519672" y="3364992"/>
            <a:ext cx="4773168" cy="0"/>
          </a:xfrm>
          <a:prstGeom prst="line">
            <a:avLst/>
          </a:prstGeom>
          <a:noFill/>
          <a:ln w="9525">
            <a:solidFill>
              <a:srgbClr val="E5E7EB"/>
            </a:solidFill>
            <a:prstDash val="solid"/>
          </a:ln>
        </p:spPr>
      </p:sp>
      <p:sp>
        <p:nvSpPr>
          <p:cNvPr id="16" name="Text 14"/>
          <p:cNvSpPr/>
          <p:nvPr/>
        </p:nvSpPr>
        <p:spPr>
          <a:xfrm>
            <a:off x="6519672" y="3493008"/>
            <a:ext cx="4846320" cy="731520"/>
          </a:xfrm>
          <a:prstGeom prst="rect">
            <a:avLst/>
          </a:prstGeom>
          <a:noFill/>
          <a:ln/>
        </p:spPr>
        <p:txBody>
          <a:bodyPr wrap="square" lIns="0" tIns="0" rIns="0" bIns="0" rtlCol="0" anchor="ctr"/>
          <a:lstStyle/>
          <a:p>
            <a:pPr indent="0" marL="0">
              <a:lnSpc>
                <a:spcPct val="110000"/>
              </a:lnSpc>
              <a:buNone/>
            </a:pPr>
            <a:r>
              <a:rPr lang="en-US" sz="1350" b="1" dirty="0">
                <a:solidFill>
                  <a:srgbClr val="111827"/>
                </a:solidFill>
                <a:latin typeface="Courier New" pitchFamily="34" charset="0"/>
                <a:ea typeface="Courier New" pitchFamily="34" charset="-122"/>
                <a:cs typeface="Courier New" pitchFamily="34" charset="-120"/>
              </a:rPr>
              <a:t>[ full_ventilate ]</a:t>
            </a:r>
            <a:endParaRPr lang="en-US" sz="1350" dirty="0"/>
          </a:p>
        </p:txBody>
      </p:sp>
      <p:sp>
        <p:nvSpPr>
          <p:cNvPr id="17" name="Text 15"/>
          <p:cNvSpPr/>
          <p:nvPr/>
        </p:nvSpPr>
        <p:spPr>
          <a:xfrm>
            <a:off x="6519672" y="4315968"/>
            <a:ext cx="2286000" cy="320040"/>
          </a:xfrm>
          <a:prstGeom prst="rect">
            <a:avLst/>
          </a:prstGeom>
          <a:noFill/>
          <a:ln/>
        </p:spPr>
        <p:txBody>
          <a:bodyPr wrap="square" lIns="0" tIns="0" rIns="0" bIns="0" rtlCol="0" anchor="ctr"/>
          <a:lstStyle/>
          <a:p>
            <a:pPr indent="0" marL="0">
              <a:buNone/>
            </a:pPr>
            <a:r>
              <a:rPr lang="en-US" sz="1500" b="1" dirty="0">
                <a:solidFill>
                  <a:srgbClr val="D97706"/>
                </a:solidFill>
                <a:latin typeface="Cambria" pitchFamily="34" charset="0"/>
                <a:ea typeface="Cambria" pitchFamily="34" charset="-122"/>
                <a:cs typeface="Cambria" pitchFamily="34" charset="-120"/>
              </a:rPr>
              <a:t>total 4  &lt;  6</a:t>
            </a:r>
            <a:endParaRPr lang="en-US" sz="1500" dirty="0"/>
          </a:p>
        </p:txBody>
      </p:sp>
      <p:sp>
        <p:nvSpPr>
          <p:cNvPr id="18" name="Text 16"/>
          <p:cNvSpPr/>
          <p:nvPr/>
        </p:nvSpPr>
        <p:spPr>
          <a:xfrm>
            <a:off x="6519672" y="4617720"/>
            <a:ext cx="4846320" cy="3200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one long opening clears the air fastest</a:t>
            </a:r>
            <a:endParaRPr lang="en-US" sz="1200" dirty="0"/>
          </a:p>
        </p:txBody>
      </p:sp>
      <p:sp>
        <p:nvSpPr>
          <p:cNvPr id="19" name="Shape 17"/>
          <p:cNvSpPr/>
          <p:nvPr/>
        </p:nvSpPr>
        <p:spPr>
          <a:xfrm>
            <a:off x="640080" y="5349240"/>
            <a:ext cx="10881360" cy="0"/>
          </a:xfrm>
          <a:prstGeom prst="line">
            <a:avLst/>
          </a:prstGeom>
          <a:noFill/>
          <a:ln w="9525">
            <a:solidFill>
              <a:srgbClr val="E5E7EB"/>
            </a:solidFill>
            <a:prstDash val="solid"/>
          </a:ln>
        </p:spPr>
      </p:sp>
      <p:sp>
        <p:nvSpPr>
          <p:cNvPr id="20" name="Text 18"/>
          <p:cNvSpPr/>
          <p:nvPr/>
        </p:nvSpPr>
        <p:spPr>
          <a:xfrm>
            <a:off x="640080" y="5532120"/>
            <a:ext cx="10881360" cy="7315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Nobody coded “if cold, pulse”.  </a:t>
            </a:r>
            <a:pPr indent="0" marL="0">
              <a:buNone/>
            </a:pPr>
            <a:r>
              <a:rPr lang="en-US" sz="1350" dirty="0">
                <a:solidFill>
                  <a:srgbClr val="6B7280"/>
                </a:solidFill>
                <a:latin typeface="Calibri" pitchFamily="34" charset="0"/>
                <a:ea typeface="Calibri" pitchFamily="34" charset="-122"/>
                <a:cs typeface="Calibri" pitchFamily="34" charset="-120"/>
              </a:rPr>
              <a:t>The winter strategy falls out of the weather-dependent costs — that is what a cost-optimal planner buys us over fixed rules.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LIVE</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Live demo procedure</a:t>
            </a:r>
            <a:endParaRPr lang="en-US" sz="3000" dirty="0"/>
          </a:p>
        </p:txBody>
      </p:sp>
      <p:sp>
        <p:nvSpPr>
          <p:cNvPr id="4" name="Text 2"/>
          <p:cNvSpPr/>
          <p:nvPr/>
        </p:nvSpPr>
        <p:spPr>
          <a:xfrm>
            <a:off x="640080" y="166420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1</a:t>
            </a:r>
            <a:endParaRPr lang="en-US" sz="2600" dirty="0"/>
          </a:p>
        </p:txBody>
      </p:sp>
      <p:sp>
        <p:nvSpPr>
          <p:cNvPr id="5" name="Text 3"/>
          <p:cNvSpPr/>
          <p:nvPr/>
        </p:nvSpPr>
        <p:spPr>
          <a:xfrm>
            <a:off x="1234440" y="164592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Sit down</a:t>
            </a:r>
            <a:endParaRPr lang="en-US" sz="1600" dirty="0"/>
          </a:p>
        </p:txBody>
      </p:sp>
      <p:sp>
        <p:nvSpPr>
          <p:cNvPr id="6" name="Text 4"/>
          <p:cNvSpPr/>
          <p:nvPr/>
        </p:nvSpPr>
        <p:spPr>
          <a:xfrm>
            <a:off x="1234440" y="204825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occupancy detected, the focus session starts</a:t>
            </a:r>
            <a:endParaRPr lang="en-US" sz="1250" dirty="0"/>
          </a:p>
        </p:txBody>
      </p:sp>
      <p:sp>
        <p:nvSpPr>
          <p:cNvPr id="7" name="Shape 5"/>
          <p:cNvSpPr/>
          <p:nvPr/>
        </p:nvSpPr>
        <p:spPr>
          <a:xfrm>
            <a:off x="1234440" y="2724912"/>
            <a:ext cx="4572000" cy="0"/>
          </a:xfrm>
          <a:prstGeom prst="line">
            <a:avLst/>
          </a:prstGeom>
          <a:noFill/>
          <a:ln w="9525">
            <a:solidFill>
              <a:srgbClr val="E5E7EB"/>
            </a:solidFill>
            <a:prstDash val="solid"/>
          </a:ln>
        </p:spPr>
      </p:sp>
      <p:sp>
        <p:nvSpPr>
          <p:cNvPr id="8" name="Text 6"/>
          <p:cNvSpPr/>
          <p:nvPr/>
        </p:nvSpPr>
        <p:spPr>
          <a:xfrm>
            <a:off x="6263640" y="166420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2</a:t>
            </a:r>
            <a:endParaRPr lang="en-US" sz="2600" dirty="0"/>
          </a:p>
        </p:txBody>
      </p:sp>
      <p:sp>
        <p:nvSpPr>
          <p:cNvPr id="9" name="Text 7"/>
          <p:cNvSpPr/>
          <p:nvPr/>
        </p:nvSpPr>
        <p:spPr>
          <a:xfrm>
            <a:off x="6858000" y="164592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Cover the light sensor</a:t>
            </a:r>
            <a:endParaRPr lang="en-US" sz="1600" dirty="0"/>
          </a:p>
        </p:txBody>
      </p:sp>
      <p:sp>
        <p:nvSpPr>
          <p:cNvPr id="10" name="Text 8"/>
          <p:cNvSpPr/>
          <p:nvPr/>
        </p:nvSpPr>
        <p:spPr>
          <a:xfrm>
            <a:off x="6858000" y="204825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the illuminance drops, the planner re-lights the seat within one cycle, under 1 s</a:t>
            </a:r>
            <a:endParaRPr lang="en-US" sz="1250" dirty="0"/>
          </a:p>
        </p:txBody>
      </p:sp>
      <p:sp>
        <p:nvSpPr>
          <p:cNvPr id="11" name="Shape 9"/>
          <p:cNvSpPr/>
          <p:nvPr/>
        </p:nvSpPr>
        <p:spPr>
          <a:xfrm>
            <a:off x="6858000" y="2724912"/>
            <a:ext cx="4572000" cy="0"/>
          </a:xfrm>
          <a:prstGeom prst="line">
            <a:avLst/>
          </a:prstGeom>
          <a:noFill/>
          <a:ln w="9525">
            <a:solidFill>
              <a:srgbClr val="E5E7EB"/>
            </a:solidFill>
            <a:prstDash val="solid"/>
          </a:ln>
        </p:spPr>
      </p:sp>
      <p:sp>
        <p:nvSpPr>
          <p:cNvPr id="12" name="Text 10"/>
          <p:cNvSpPr/>
          <p:nvPr/>
        </p:nvSpPr>
        <p:spPr>
          <a:xfrm>
            <a:off x="640080" y="308152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3</a:t>
            </a:r>
            <a:endParaRPr lang="en-US" sz="2600" dirty="0"/>
          </a:p>
        </p:txBody>
      </p:sp>
      <p:sp>
        <p:nvSpPr>
          <p:cNvPr id="13" name="Text 11"/>
          <p:cNvSpPr/>
          <p:nvPr/>
        </p:nvSpPr>
        <p:spPr>
          <a:xfrm>
            <a:off x="1234440" y="306324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Keep focusing</a:t>
            </a:r>
            <a:endParaRPr lang="en-US" sz="1600" dirty="0"/>
          </a:p>
        </p:txBody>
      </p:sp>
      <p:sp>
        <p:nvSpPr>
          <p:cNvPr id="14" name="Text 12"/>
          <p:cNvSpPr/>
          <p:nvPr/>
        </p:nvSpPr>
        <p:spPr>
          <a:xfrm>
            <a:off x="1234440" y="346557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after 2 min: LED and gentle buzzer suggest a break</a:t>
            </a:r>
            <a:endParaRPr lang="en-US" sz="1250" dirty="0"/>
          </a:p>
        </p:txBody>
      </p:sp>
      <p:sp>
        <p:nvSpPr>
          <p:cNvPr id="15" name="Shape 13"/>
          <p:cNvSpPr/>
          <p:nvPr/>
        </p:nvSpPr>
        <p:spPr>
          <a:xfrm>
            <a:off x="1234440" y="4142232"/>
            <a:ext cx="4572000" cy="0"/>
          </a:xfrm>
          <a:prstGeom prst="line">
            <a:avLst/>
          </a:prstGeom>
          <a:noFill/>
          <a:ln w="9525">
            <a:solidFill>
              <a:srgbClr val="E5E7EB"/>
            </a:solidFill>
            <a:prstDash val="solid"/>
          </a:ln>
        </p:spPr>
      </p:sp>
      <p:sp>
        <p:nvSpPr>
          <p:cNvPr id="16" name="Text 14"/>
          <p:cNvSpPr/>
          <p:nvPr/>
        </p:nvSpPr>
        <p:spPr>
          <a:xfrm>
            <a:off x="6263640" y="308152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4</a:t>
            </a:r>
            <a:endParaRPr lang="en-US" sz="2600" dirty="0"/>
          </a:p>
        </p:txBody>
      </p:sp>
      <p:sp>
        <p:nvSpPr>
          <p:cNvPr id="17" name="Text 15"/>
          <p:cNvSpPr/>
          <p:nvPr/>
        </p:nvSpPr>
        <p:spPr>
          <a:xfrm>
            <a:off x="6858000" y="306324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CO₂ rises</a:t>
            </a:r>
            <a:endParaRPr lang="en-US" sz="1600" dirty="0"/>
          </a:p>
        </p:txBody>
      </p:sp>
      <p:sp>
        <p:nvSpPr>
          <p:cNvPr id="18" name="Text 16"/>
          <p:cNvSpPr/>
          <p:nvPr/>
        </p:nvSpPr>
        <p:spPr>
          <a:xfrm>
            <a:off x="6858000" y="346557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the planner opens the windows on the floor plan, CO₂ falls again</a:t>
            </a:r>
            <a:endParaRPr lang="en-US" sz="1250" dirty="0"/>
          </a:p>
        </p:txBody>
      </p:sp>
      <p:sp>
        <p:nvSpPr>
          <p:cNvPr id="19" name="Shape 17"/>
          <p:cNvSpPr/>
          <p:nvPr/>
        </p:nvSpPr>
        <p:spPr>
          <a:xfrm>
            <a:off x="6858000" y="4142232"/>
            <a:ext cx="4572000" cy="0"/>
          </a:xfrm>
          <a:prstGeom prst="line">
            <a:avLst/>
          </a:prstGeom>
          <a:noFill/>
          <a:ln w="9525">
            <a:solidFill>
              <a:srgbClr val="E5E7EB"/>
            </a:solidFill>
            <a:prstDash val="solid"/>
          </a:ln>
        </p:spPr>
      </p:sp>
      <p:sp>
        <p:nvSpPr>
          <p:cNvPr id="20" name="Text 18"/>
          <p:cNvSpPr/>
          <p:nvPr/>
        </p:nvSpPr>
        <p:spPr>
          <a:xfrm>
            <a:off x="640080" y="449884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5</a:t>
            </a:r>
            <a:endParaRPr lang="en-US" sz="2600" dirty="0"/>
          </a:p>
        </p:txBody>
      </p:sp>
      <p:sp>
        <p:nvSpPr>
          <p:cNvPr id="21" name="Text 19"/>
          <p:cNvSpPr/>
          <p:nvPr/>
        </p:nvSpPr>
        <p:spPr>
          <a:xfrm>
            <a:off x="1234440" y="448056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Walk away</a:t>
            </a:r>
            <a:endParaRPr lang="en-US" sz="1600" dirty="0"/>
          </a:p>
        </p:txBody>
      </p:sp>
      <p:sp>
        <p:nvSpPr>
          <p:cNvPr id="22" name="Text 20"/>
          <p:cNvSpPr/>
          <p:nvPr/>
        </p:nvSpPr>
        <p:spPr>
          <a:xfrm>
            <a:off x="1234440" y="488289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the zone empties, the lamp switches off to save energy</a:t>
            </a:r>
            <a:endParaRPr lang="en-US" sz="1250" dirty="0"/>
          </a:p>
        </p:txBody>
      </p:sp>
      <p:sp>
        <p:nvSpPr>
          <p:cNvPr id="23" name="Shape 21"/>
          <p:cNvSpPr/>
          <p:nvPr/>
        </p:nvSpPr>
        <p:spPr>
          <a:xfrm>
            <a:off x="1234440" y="5559552"/>
            <a:ext cx="4572000" cy="0"/>
          </a:xfrm>
          <a:prstGeom prst="line">
            <a:avLst/>
          </a:prstGeom>
          <a:noFill/>
          <a:ln w="9525">
            <a:solidFill>
              <a:srgbClr val="E5E7EB"/>
            </a:solidFill>
            <a:prstDash val="solid"/>
          </a:ln>
        </p:spPr>
      </p:sp>
      <p:sp>
        <p:nvSpPr>
          <p:cNvPr id="24" name="Text 22"/>
          <p:cNvSpPr/>
          <p:nvPr/>
        </p:nvSpPr>
        <p:spPr>
          <a:xfrm>
            <a:off x="640080" y="6080760"/>
            <a:ext cx="10881360" cy="36576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We start on the simulated 6-seat floor plan for context, then hide it and focus on the one real seat.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COURSE REQUIREMENTS</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All six requirements are met</a:t>
            </a:r>
            <a:endParaRPr lang="en-US" sz="3000" dirty="0"/>
          </a:p>
        </p:txBody>
      </p:sp>
      <p:sp>
        <p:nvSpPr>
          <p:cNvPr id="4" name="Text 2"/>
          <p:cNvSpPr/>
          <p:nvPr/>
        </p:nvSpPr>
        <p:spPr>
          <a:xfrm>
            <a:off x="640080" y="1600200"/>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5" name="Text 3"/>
          <p:cNvSpPr/>
          <p:nvPr/>
        </p:nvSpPr>
        <p:spPr>
          <a:xfrm>
            <a:off x="1143000" y="1618488"/>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System distribution</a:t>
            </a:r>
            <a:endParaRPr lang="en-US" sz="1450" dirty="0"/>
          </a:p>
        </p:txBody>
      </p:sp>
      <p:sp>
        <p:nvSpPr>
          <p:cNvPr id="6" name="Text 4"/>
          <p:cNvSpPr/>
          <p:nvPr/>
        </p:nvSpPr>
        <p:spPr>
          <a:xfrm>
            <a:off x="4572000" y="1636776"/>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2 Raspberry Pis, own WiFi in demo mode, 10 systemd services</a:t>
            </a:r>
            <a:endParaRPr lang="en-US" sz="1250" dirty="0"/>
          </a:p>
        </p:txBody>
      </p:sp>
      <p:sp>
        <p:nvSpPr>
          <p:cNvPr id="7" name="Shape 5"/>
          <p:cNvSpPr/>
          <p:nvPr/>
        </p:nvSpPr>
        <p:spPr>
          <a:xfrm>
            <a:off x="640080" y="2103120"/>
            <a:ext cx="10881360" cy="0"/>
          </a:xfrm>
          <a:prstGeom prst="line">
            <a:avLst/>
          </a:prstGeom>
          <a:noFill/>
          <a:ln w="9525">
            <a:solidFill>
              <a:srgbClr val="E5E7EB"/>
            </a:solidFill>
            <a:prstDash val="solid"/>
          </a:ln>
        </p:spPr>
      </p:sp>
      <p:sp>
        <p:nvSpPr>
          <p:cNvPr id="8" name="Text 6"/>
          <p:cNvSpPr/>
          <p:nvPr/>
        </p:nvSpPr>
        <p:spPr>
          <a:xfrm>
            <a:off x="640080" y="2313432"/>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9" name="Text 7"/>
          <p:cNvSpPr/>
          <p:nvPr/>
        </p:nvSpPr>
        <p:spPr>
          <a:xfrm>
            <a:off x="1143000" y="2331720"/>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Indirect communication</a:t>
            </a:r>
            <a:endParaRPr lang="en-US" sz="1450" dirty="0"/>
          </a:p>
        </p:txBody>
      </p:sp>
      <p:sp>
        <p:nvSpPr>
          <p:cNvPr id="10" name="Text 8"/>
          <p:cNvSpPr/>
          <p:nvPr/>
        </p:nvSpPr>
        <p:spPr>
          <a:xfrm>
            <a:off x="4572000" y="2350008"/>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MQTT publish/subscribe only, retained latest-value topics</a:t>
            </a:r>
            <a:endParaRPr lang="en-US" sz="1250" dirty="0"/>
          </a:p>
        </p:txBody>
      </p:sp>
      <p:sp>
        <p:nvSpPr>
          <p:cNvPr id="11" name="Shape 9"/>
          <p:cNvSpPr/>
          <p:nvPr/>
        </p:nvSpPr>
        <p:spPr>
          <a:xfrm>
            <a:off x="640080" y="2816352"/>
            <a:ext cx="10881360" cy="0"/>
          </a:xfrm>
          <a:prstGeom prst="line">
            <a:avLst/>
          </a:prstGeom>
          <a:noFill/>
          <a:ln w="9525">
            <a:solidFill>
              <a:srgbClr val="E5E7EB"/>
            </a:solidFill>
            <a:prstDash val="solid"/>
          </a:ln>
        </p:spPr>
      </p:sp>
      <p:sp>
        <p:nvSpPr>
          <p:cNvPr id="12" name="Text 10"/>
          <p:cNvSpPr/>
          <p:nvPr/>
        </p:nvSpPr>
        <p:spPr>
          <a:xfrm>
            <a:off x="640080" y="3026664"/>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13" name="Text 11"/>
          <p:cNvSpPr/>
          <p:nvPr/>
        </p:nvSpPr>
        <p:spPr>
          <a:xfrm>
            <a:off x="1143000" y="3044952"/>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AI planning</a:t>
            </a:r>
            <a:endParaRPr lang="en-US" sz="1450" dirty="0"/>
          </a:p>
        </p:txBody>
      </p:sp>
      <p:sp>
        <p:nvSpPr>
          <p:cNvPr id="14" name="Text 12"/>
          <p:cNvSpPr/>
          <p:nvPr/>
        </p:nvSpPr>
        <p:spPr>
          <a:xfrm>
            <a:off x="4572000" y="3063240"/>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PDDL domain, auto-generated instances, Fast Downward, cost-optimal</a:t>
            </a:r>
            <a:endParaRPr lang="en-US" sz="1250" dirty="0"/>
          </a:p>
        </p:txBody>
      </p:sp>
      <p:sp>
        <p:nvSpPr>
          <p:cNvPr id="15" name="Shape 13"/>
          <p:cNvSpPr/>
          <p:nvPr/>
        </p:nvSpPr>
        <p:spPr>
          <a:xfrm>
            <a:off x="640080" y="3529584"/>
            <a:ext cx="10881360" cy="0"/>
          </a:xfrm>
          <a:prstGeom prst="line">
            <a:avLst/>
          </a:prstGeom>
          <a:noFill/>
          <a:ln w="9525">
            <a:solidFill>
              <a:srgbClr val="E5E7EB"/>
            </a:solidFill>
            <a:prstDash val="solid"/>
          </a:ln>
        </p:spPr>
      </p:sp>
      <p:sp>
        <p:nvSpPr>
          <p:cNvPr id="16" name="Text 14"/>
          <p:cNvSpPr/>
          <p:nvPr/>
        </p:nvSpPr>
        <p:spPr>
          <a:xfrm>
            <a:off x="640080" y="3739896"/>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17" name="Text 15"/>
          <p:cNvSpPr/>
          <p:nvPr/>
        </p:nvSpPr>
        <p:spPr>
          <a:xfrm>
            <a:off x="1143000" y="3758184"/>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IoT</a:t>
            </a:r>
            <a:endParaRPr lang="en-US" sz="1450" dirty="0"/>
          </a:p>
        </p:txBody>
      </p:sp>
      <p:sp>
        <p:nvSpPr>
          <p:cNvPr id="18" name="Text 16"/>
          <p:cNvSpPr/>
          <p:nvPr/>
        </p:nvSpPr>
        <p:spPr>
          <a:xfrm>
            <a:off x="4572000" y="3776472"/>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5 sensors (2 physical) · 6 actuators (4 physical)</a:t>
            </a:r>
            <a:endParaRPr lang="en-US" sz="1250" dirty="0"/>
          </a:p>
        </p:txBody>
      </p:sp>
      <p:sp>
        <p:nvSpPr>
          <p:cNvPr id="19" name="Shape 17"/>
          <p:cNvSpPr/>
          <p:nvPr/>
        </p:nvSpPr>
        <p:spPr>
          <a:xfrm>
            <a:off x="640080" y="4242816"/>
            <a:ext cx="10881360" cy="0"/>
          </a:xfrm>
          <a:prstGeom prst="line">
            <a:avLst/>
          </a:prstGeom>
          <a:noFill/>
          <a:ln w="9525">
            <a:solidFill>
              <a:srgbClr val="E5E7EB"/>
            </a:solidFill>
            <a:prstDash val="solid"/>
          </a:ln>
        </p:spPr>
      </p:sp>
      <p:sp>
        <p:nvSpPr>
          <p:cNvPr id="20" name="Text 18"/>
          <p:cNvSpPr/>
          <p:nvPr/>
        </p:nvSpPr>
        <p:spPr>
          <a:xfrm>
            <a:off x="640080" y="4453128"/>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1143000" y="4471416"/>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System design</a:t>
            </a:r>
            <a:endParaRPr lang="en-US" sz="1450" dirty="0"/>
          </a:p>
        </p:txBody>
      </p:sp>
      <p:sp>
        <p:nvSpPr>
          <p:cNvPr id="22" name="Text 20"/>
          <p:cNvSpPr/>
          <p:nvPr/>
        </p:nvSpPr>
        <p:spPr>
          <a:xfrm>
            <a:off x="4572000" y="4489704"/>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8 decoupled modules, each independently restartable</a:t>
            </a:r>
            <a:endParaRPr lang="en-US" sz="1250" dirty="0"/>
          </a:p>
        </p:txBody>
      </p:sp>
      <p:sp>
        <p:nvSpPr>
          <p:cNvPr id="23" name="Shape 21"/>
          <p:cNvSpPr/>
          <p:nvPr/>
        </p:nvSpPr>
        <p:spPr>
          <a:xfrm>
            <a:off x="640080" y="4956048"/>
            <a:ext cx="10881360" cy="0"/>
          </a:xfrm>
          <a:prstGeom prst="line">
            <a:avLst/>
          </a:prstGeom>
          <a:noFill/>
          <a:ln w="9525">
            <a:solidFill>
              <a:srgbClr val="E5E7EB"/>
            </a:solidFill>
            <a:prstDash val="solid"/>
          </a:ln>
        </p:spPr>
      </p:sp>
      <p:sp>
        <p:nvSpPr>
          <p:cNvPr id="24" name="Text 22"/>
          <p:cNvSpPr/>
          <p:nvPr/>
        </p:nvSpPr>
        <p:spPr>
          <a:xfrm>
            <a:off x="640080" y="5166360"/>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25" name="Text 23"/>
          <p:cNvSpPr/>
          <p:nvPr/>
        </p:nvSpPr>
        <p:spPr>
          <a:xfrm>
            <a:off x="1143000" y="5184648"/>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Visualisation</a:t>
            </a:r>
            <a:endParaRPr lang="en-US" sz="1450" dirty="0"/>
          </a:p>
        </p:txBody>
      </p:sp>
      <p:sp>
        <p:nvSpPr>
          <p:cNvPr id="26" name="Text 24"/>
          <p:cNvSpPr/>
          <p:nvPr/>
        </p:nvSpPr>
        <p:spPr>
          <a:xfrm>
            <a:off x="4572000" y="5202936"/>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current state + latest plan on dashboard and on-site LCD</a:t>
            </a:r>
            <a:endParaRPr lang="en-US" sz="1250" dirty="0"/>
          </a:p>
        </p:txBody>
      </p:sp>
      <p:sp>
        <p:nvSpPr>
          <p:cNvPr id="27" name="Shape 25"/>
          <p:cNvSpPr/>
          <p:nvPr/>
        </p:nvSpPr>
        <p:spPr>
          <a:xfrm>
            <a:off x="640080" y="5669280"/>
            <a:ext cx="10881360" cy="0"/>
          </a:xfrm>
          <a:prstGeom prst="line">
            <a:avLst/>
          </a:prstGeom>
          <a:noFill/>
          <a:ln w="9525">
            <a:solidFill>
              <a:srgbClr val="E5E7EB"/>
            </a:solidFill>
            <a:prstDash val="solid"/>
          </a:ln>
        </p:spPr>
      </p:sp>
      <p:sp>
        <p:nvSpPr>
          <p:cNvPr id="28" name="Text 26"/>
          <p:cNvSpPr/>
          <p:nvPr/>
        </p:nvSpPr>
        <p:spPr>
          <a:xfrm>
            <a:off x="640080" y="6172200"/>
            <a:ext cx="10881360" cy="365760"/>
          </a:xfrm>
          <a:prstGeom prst="rect">
            <a:avLst/>
          </a:prstGeom>
          <a:noFill/>
          <a:ln/>
        </p:spPr>
        <p:txBody>
          <a:bodyPr wrap="square" lIns="0" tIns="0" rIns="0" bIns="0" rtlCol="0" anchor="ctr"/>
          <a:lstStyle/>
          <a:p>
            <a:pPr algn="ctr" indent="0" marL="0">
              <a:buNone/>
            </a:pPr>
            <a:r>
              <a:rPr lang="en-US" sz="1250" dirty="0">
                <a:solidFill>
                  <a:srgbClr val="D97706"/>
                </a:solidFill>
                <a:latin typeface="Courier New" pitchFamily="34" charset="0"/>
                <a:ea typeface="Courier New" pitchFamily="34" charset="-122"/>
                <a:cs typeface="Courier New" pitchFamily="34" charset="-120"/>
              </a:rPr>
              <a:t>plans in ~130 ms · closed-loop correction &lt; 1 s · state at 2 Hz</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658368" y="457200"/>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LESSONS LEARNED</a:t>
            </a:r>
            <a:endParaRPr lang="en-US" sz="1100" dirty="0"/>
          </a:p>
        </p:txBody>
      </p:sp>
      <p:sp>
        <p:nvSpPr>
          <p:cNvPr id="3" name="Text 1"/>
          <p:cNvSpPr/>
          <p:nvPr/>
        </p:nvSpPr>
        <p:spPr>
          <a:xfrm>
            <a:off x="658368" y="1051560"/>
            <a:ext cx="521208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Sound sensor removed</a:t>
            </a:r>
            <a:endParaRPr lang="en-US" sz="1700" dirty="0"/>
          </a:p>
        </p:txBody>
      </p:sp>
      <p:sp>
        <p:nvSpPr>
          <p:cNvPr id="4" name="Text 2"/>
          <p:cNvSpPr/>
          <p:nvPr/>
        </p:nvSpPr>
        <p:spPr>
          <a:xfrm>
            <a:off x="658368" y="1472184"/>
            <a:ext cx="5212080" cy="86868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it could not measure loudness over the slow GrovePi bus, so we removed it instead of publishing noise as data.</a:t>
            </a:r>
            <a:endParaRPr lang="en-US" sz="1250" dirty="0"/>
          </a:p>
        </p:txBody>
      </p:sp>
      <p:sp>
        <p:nvSpPr>
          <p:cNvPr id="5" name="Text 3"/>
          <p:cNvSpPr/>
          <p:nvPr/>
        </p:nvSpPr>
        <p:spPr>
          <a:xfrm>
            <a:off x="6281928" y="1051560"/>
            <a:ext cx="521208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Unsolvable goals prevented</a:t>
            </a:r>
            <a:endParaRPr lang="en-US" sz="1700" dirty="0"/>
          </a:p>
        </p:txBody>
      </p:sp>
      <p:sp>
        <p:nvSpPr>
          <p:cNvPr id="6" name="Text 4"/>
          <p:cNvSpPr/>
          <p:nvPr/>
        </p:nvSpPr>
        <p:spPr>
          <a:xfrm>
            <a:off x="6281928" y="1472184"/>
            <a:ext cx="5212080" cy="86868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an early bug asked the planner to brighten a zone whose lamp was already on. The generator now emits only achievable goals.</a:t>
            </a:r>
            <a:endParaRPr lang="en-US" sz="1250" dirty="0"/>
          </a:p>
        </p:txBody>
      </p:sp>
      <p:sp>
        <p:nvSpPr>
          <p:cNvPr id="7" name="Text 5"/>
          <p:cNvSpPr/>
          <p:nvPr/>
        </p:nvSpPr>
        <p:spPr>
          <a:xfrm>
            <a:off x="658368" y="2606040"/>
            <a:ext cx="521208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CO₂ and windows are simulated</a:t>
            </a:r>
            <a:endParaRPr lang="en-US" sz="1700" dirty="0"/>
          </a:p>
        </p:txBody>
      </p:sp>
      <p:sp>
        <p:nvSpPr>
          <p:cNvPr id="8" name="Text 6"/>
          <p:cNvSpPr/>
          <p:nvPr/>
        </p:nvSpPr>
        <p:spPr>
          <a:xfrm>
            <a:off x="658368" y="3026664"/>
            <a:ext cx="5212080" cy="86868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both are modelled, clearly labelled, and react realistically to planner actions.</a:t>
            </a:r>
            <a:endParaRPr lang="en-US" sz="1250" dirty="0"/>
          </a:p>
        </p:txBody>
      </p:sp>
      <p:sp>
        <p:nvSpPr>
          <p:cNvPr id="9" name="Text 7"/>
          <p:cNvSpPr/>
          <p:nvPr/>
        </p:nvSpPr>
        <p:spPr>
          <a:xfrm>
            <a:off x="6281928" y="2606040"/>
            <a:ext cx="521208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WiFi reliability</a:t>
            </a:r>
            <a:endParaRPr lang="en-US" sz="1700" dirty="0"/>
          </a:p>
        </p:txBody>
      </p:sp>
      <p:sp>
        <p:nvSpPr>
          <p:cNvPr id="10" name="Text 8"/>
          <p:cNvSpPr/>
          <p:nvPr/>
        </p:nvSpPr>
        <p:spPr>
          <a:xfrm>
            <a:off x="6281928" y="3026664"/>
            <a:ext cx="5212080" cy="86868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client isolation, band steering and power-save caused repeated dropouts, so the demo runs on its own access point.</a:t>
            </a:r>
            <a:endParaRPr lang="en-US" sz="1250" dirty="0"/>
          </a:p>
        </p:txBody>
      </p:sp>
      <p:sp>
        <p:nvSpPr>
          <p:cNvPr id="11" name="Shape 9"/>
          <p:cNvSpPr/>
          <p:nvPr/>
        </p:nvSpPr>
        <p:spPr>
          <a:xfrm>
            <a:off x="658368" y="4434840"/>
            <a:ext cx="10881360" cy="0"/>
          </a:xfrm>
          <a:prstGeom prst="line">
            <a:avLst/>
          </a:prstGeom>
          <a:noFill/>
          <a:ln w="9525">
            <a:solidFill>
              <a:srgbClr val="2A3B55"/>
            </a:solidFill>
            <a:prstDash val="solid"/>
          </a:ln>
        </p:spPr>
      </p:sp>
      <p:sp>
        <p:nvSpPr>
          <p:cNvPr id="12" name="Text 10"/>
          <p:cNvSpPr/>
          <p:nvPr/>
        </p:nvSpPr>
        <p:spPr>
          <a:xfrm>
            <a:off x="0" y="4892040"/>
            <a:ext cx="12188952" cy="7315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13" name="Text 11"/>
          <p:cNvSpPr/>
          <p:nvPr/>
        </p:nvSpPr>
        <p:spPr>
          <a:xfrm>
            <a:off x="0" y="5760720"/>
            <a:ext cx="12188952" cy="365760"/>
          </a:xfrm>
          <a:prstGeom prst="rect">
            <a:avLst/>
          </a:prstGeom>
          <a:noFill/>
          <a:ln/>
        </p:spPr>
        <p:txBody>
          <a:bodyPr wrap="square" lIns="0" tIns="0" rIns="0" bIns="0" rtlCol="0" anchor="ctr"/>
          <a:lstStyle/>
          <a:p>
            <a:pPr algn="ctr" indent="0" marL="0">
              <a:buNone/>
            </a:pPr>
            <a:r>
              <a:rPr lang="en-US" sz="1300" dirty="0">
                <a:solidFill>
                  <a:srgbClr val="E8B45A"/>
                </a:solidFill>
                <a:latin typeface="Calibri" pitchFamily="34" charset="0"/>
                <a:ea typeface="Calibri" pitchFamily="34" charset="-122"/>
                <a:cs typeface="Calibri" pitchFamily="34" charset="-120"/>
              </a:rPr>
              <a:t>Code, PDDL domain, docs and this deck: github.com/Dennis1911/librisense-smart-library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2026-07-19T15:47:05Z</dcterms:created>
  <dcterms:modified xsi:type="dcterms:W3CDTF">2026-07-19T15:47:05Z</dcterms:modified>
</cp:coreProperties>
</file>
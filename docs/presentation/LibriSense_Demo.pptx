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line: our library notices you, thinks ahead and acts on its own. Everything runs live on this desk: two Raspberry Pis, real sensors, a real lamp.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Narrative opener (idea by Niclas). Tell it slowly, first person. The card numbers are an illustrative scenario; the Harvard COGfx study (2015) documented cognitive decline above roughly 1,000 ppm CO2. Close with the question, then answer it on the next slide: this is exactly what LibriSense does.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one explaining slide: on the desk sit two Raspberry Pis. The edge Pi senses and acts, the core Pi thinks: every sensor reading flows over MQTT into the context, becomes a PDDL problem with weather-based costs, Fast Downward returns the cost-optimal plan, the executor sends the actions back to the edge. The laptop is only a window into the system; in the demo it joins the WiFi that the core Pi itself provides.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for how the planner decides. Walk it left to right on one real example: the room senses continuous values; the generator discretises them into PDDL facts using fixed thresholds; it frames a problem with a goal and weather-based action costs; Fast Downward searches with A* and the admissible LM-Cut heuristic and returns the cost-optimal plan; the executor acts. Because full-vent-cost is only 4 at 33 °C, one full airing beats two pulses. The loop bar is the key point: nothing is scripted, the behaviour falls out of goals plus costs, and it re-plans on every change. Slide 7 shows the real domain code, slide 8 shows the winter contrast.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Green tags are real hardware you can touch on the desk. Blue means simulated or virtual, always labelled honestly: our kit has no CO2 sensor and no motorised windows, so both are modelled and react realistically to planner actions.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Covers modularity, indirect communication and distribution in one picture. Every arrow is a retained MQTT topic, so any module can restart and resynchronise instantly.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action shown is the interesting one: a short pulse knocks high CO2 down one band only. Together with full_ventilate this gives the planner two genuinely different strategies for the same goal. Costs are static fluents written into each problem instance by the generator, computed from live outdoor temperature.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Technical Q&amp;A ammunition: search is A* with the LM-Cut admissible heuristic, so plans are cost-optimal, not just satisficing. Whole planner invocation including translation is about 130 ms on the Pi 5; pure search under 2 ms at this problem size. Unsolvable and timeout cases are handled explicitly, and the generator never emits a goal without an achieving action.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split: person A at the desk triggers each moment, person B narrates the dashboard, person C explains the plan card whenever it changes. Keep this slide up during the live part as the run-sheet.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read the table aloud; point at the measured numbers at the bottom. These are from the running system, not estimates.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prep. Why planning, not rules? For one seat rules would do; the value is declared goals, per-instance costs and provable optimality, and it scales by adding actions instead of case distinctions. Why classical, not HTN? No task hierarchy needed; a discretised world fits classical planning with action costs exactly. What is real? Motion, light, lamp, LED, buzzer, LCD, weather. CO2 and windows are simulated and labelled.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ennisgunt/Library/CloudStorage/OneDrive-Persönlich/Master_Studium/03_Semester/SmartCities/librisense/docs/logo/librisense_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94376" y="868680"/>
            <a:ext cx="1600200" cy="1600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2560320"/>
            <a:ext cx="12188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LibriSense</a:t>
            </a:r>
            <a:endParaRPr lang="en-US" sz="5400" dirty="0"/>
          </a:p>
        </p:txBody>
      </p:sp>
      <p:sp>
        <p:nvSpPr>
          <p:cNvPr id="4" name="Text 1"/>
          <p:cNvSpPr/>
          <p:nvPr/>
        </p:nvSpPr>
        <p:spPr>
          <a:xfrm>
            <a:off x="0" y="3584448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adaptive smart library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0" y="603504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C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Dennis Gunt · Haoyang Chen · Niclas Mittag     |     Smart Cities and the IoT · University of Stuttgart     |     20 July 2026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097280"/>
            <a:ext cx="58521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It's a hot Monday morning.</a:t>
            </a:r>
            <a:endParaRPr lang="en-US" sz="2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find a seat in the library,</a:t>
            </a:r>
            <a:endParaRPr lang="en-US" sz="2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close the door.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822960" y="2926080"/>
            <a:ext cx="2377440" cy="0"/>
          </a:xfrm>
          <a:prstGeom prst="line">
            <a:avLst/>
          </a:prstGeom>
          <a:noFill/>
          <a:ln w="12700">
            <a:solidFill>
              <a:srgbClr val="3A4A6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3154680"/>
            <a:ext cx="5852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hours in, the air is heavy.</a:t>
            </a:r>
            <a:endParaRPr lang="en-US" sz="15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5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can't open the window.</a:t>
            </a:r>
            <a:endParaRPr lang="en-US" sz="15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5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hotter outside than in.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22960" y="452628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hour three, you're rereading the same paragraph.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822960" y="512064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noticed. Nobody acted.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7223760" y="960120"/>
            <a:ext cx="4297680" cy="1874520"/>
          </a:xfrm>
          <a:prstGeom prst="roundRect">
            <a:avLst>
              <a:gd name="adj" fmla="val 4878"/>
            </a:avLst>
          </a:prstGeom>
          <a:solidFill>
            <a:srgbClr val="2A2113"/>
          </a:solidFill>
          <a:ln w="12700">
            <a:solidFill>
              <a:srgbClr val="6B542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52360" y="11430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OUTDOOR TEMPERATURE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52360" y="146304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 °C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7452360" y="23317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08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stay closed, hotter outside than in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223760" y="3063240"/>
            <a:ext cx="4297680" cy="2331720"/>
          </a:xfrm>
          <a:prstGeom prst="roundRect">
            <a:avLst>
              <a:gd name="adj" fmla="val 3922"/>
            </a:avLst>
          </a:prstGeom>
          <a:solidFill>
            <a:srgbClr val="2A1214"/>
          </a:solidFill>
          <a:ln w="12700">
            <a:solidFill>
              <a:srgbClr val="7A2E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52360" y="324612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0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CO₂ CONCENTRATION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452360" y="3675888"/>
            <a:ext cx="3840480" cy="0"/>
          </a:xfrm>
          <a:prstGeom prst="line">
            <a:avLst/>
          </a:prstGeom>
          <a:noFill/>
          <a:ln w="25400">
            <a:solidFill>
              <a:srgbClr val="F0655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966960" y="3584448"/>
            <a:ext cx="0" cy="182880"/>
          </a:xfrm>
          <a:prstGeom prst="line">
            <a:avLst/>
          </a:prstGeom>
          <a:noFill/>
          <a:ln w="25400">
            <a:solidFill>
              <a:srgbClr val="F065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052560" y="3767328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7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 ppm threshold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7452360" y="402336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065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1,547</a:t>
            </a:r>
            <a:endParaRPr lang="en-US" sz="4600" dirty="0"/>
          </a:p>
        </p:txBody>
      </p:sp>
      <p:sp>
        <p:nvSpPr>
          <p:cNvPr id="18" name="Text 16"/>
          <p:cNvSpPr/>
          <p:nvPr/>
        </p:nvSpPr>
        <p:spPr>
          <a:xfrm>
            <a:off x="7452360" y="48920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7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ppm · cognitive performance declines above 1,000 ppm (Harvard study, 2015)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223760" y="5532120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3A4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UNIVERSITÄTSBIBLIOTHEK STUTTGART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0" y="6035040"/>
            <a:ext cx="12188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if the room could?</a:t>
            </a:r>
            <a:endParaRPr lang="en-US" sz="2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21945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Setup: two Raspberry Pis and a browser dashboard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325880"/>
            <a:ext cx="3383280" cy="434340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5875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48132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Raspberry Pi 3 B+  ·  edge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68680" y="1938528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868680" y="219456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motion sensor · 2 Hz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sensor · 2 Hz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68680" y="297180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868680" y="3227832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lamp · ZigBee relay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LED + quiet buzzer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LCD · CO₂ light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68680" y="4434840"/>
            <a:ext cx="201168" cy="201168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1" name="Text 9"/>
          <p:cNvSpPr/>
          <p:nvPr/>
        </p:nvSpPr>
        <p:spPr>
          <a:xfrm>
            <a:off x="1170432" y="441655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relay switches a real desk lamp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09160" y="1325880"/>
            <a:ext cx="3566160" cy="434340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5875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0" y="148132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Raspberry Pi 5  ·  core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937760" y="1874520"/>
            <a:ext cx="3108960" cy="384048"/>
          </a:xfrm>
          <a:prstGeom prst="roundRect">
            <a:avLst>
              <a:gd name="adj" fmla="val 14286"/>
            </a:avLst>
          </a:prstGeom>
          <a:solidFill>
            <a:srgbClr val="FBEFD9"/>
          </a:solidFill>
          <a:ln/>
        </p:spPr>
      </p:sp>
      <p:sp>
        <p:nvSpPr>
          <p:cNvPr id="15" name="Text 13"/>
          <p:cNvSpPr/>
          <p:nvPr/>
        </p:nvSpPr>
        <p:spPr>
          <a:xfrm>
            <a:off x="4937760" y="1911096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MQTT broker · Mosquitto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937760" y="2450592"/>
            <a:ext cx="3108960" cy="548640"/>
          </a:xfrm>
          <a:prstGeom prst="roundRect">
            <a:avLst>
              <a:gd name="adj" fmla="val 10000"/>
            </a:avLst>
          </a:prstGeom>
          <a:solidFill>
            <a:srgbClr val="F3F4F6"/>
          </a:solidFill>
          <a:ln/>
        </p:spPr>
      </p:sp>
      <p:sp>
        <p:nvSpPr>
          <p:cNvPr id="17" name="Text 15"/>
          <p:cNvSpPr/>
          <p:nvPr/>
        </p:nvSpPr>
        <p:spPr>
          <a:xfrm>
            <a:off x="5047488" y="2496312"/>
            <a:ext cx="2889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047488" y="2734056"/>
            <a:ext cx="28895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state · CO₂ · session FSM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400800" y="29626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937760" y="3209544"/>
            <a:ext cx="3108960" cy="548640"/>
          </a:xfrm>
          <a:prstGeom prst="roundRect">
            <a:avLst>
              <a:gd name="adj" fmla="val 10000"/>
            </a:avLst>
          </a:prstGeom>
          <a:solidFill>
            <a:srgbClr val="F3F4F6"/>
          </a:solidFill>
          <a:ln/>
        </p:spPr>
      </p:sp>
      <p:sp>
        <p:nvSpPr>
          <p:cNvPr id="21" name="Text 19"/>
          <p:cNvSpPr/>
          <p:nvPr/>
        </p:nvSpPr>
        <p:spPr>
          <a:xfrm>
            <a:off x="5047488" y="3255264"/>
            <a:ext cx="2889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generator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047488" y="3493008"/>
            <a:ext cx="28895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→ PDDL goals + weather costs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400800" y="3721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937760" y="3968496"/>
            <a:ext cx="3108960" cy="548640"/>
          </a:xfrm>
          <a:prstGeom prst="roundRect">
            <a:avLst>
              <a:gd name="adj" fmla="val 10000"/>
            </a:avLst>
          </a:prstGeom>
          <a:solidFill>
            <a:srgbClr val="FBEFD9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47488" y="4014216"/>
            <a:ext cx="2889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planner · Fast Downward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047488" y="4251960"/>
            <a:ext cx="28895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cost-optimal plan, ~130 ms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400800" y="4480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937760" y="4727448"/>
            <a:ext cx="3108960" cy="548640"/>
          </a:xfrm>
          <a:prstGeom prst="roundRect">
            <a:avLst>
              <a:gd name="adj" fmla="val 10000"/>
            </a:avLst>
          </a:prstGeom>
          <a:solidFill>
            <a:srgbClr val="F3F4F6"/>
          </a:solidFill>
          <a:ln/>
        </p:spPr>
      </p:sp>
      <p:sp>
        <p:nvSpPr>
          <p:cNvPr id="29" name="Text 27"/>
          <p:cNvSpPr/>
          <p:nvPr/>
        </p:nvSpPr>
        <p:spPr>
          <a:xfrm>
            <a:off x="5047488" y="4773168"/>
            <a:ext cx="2889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executor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047488" y="5010912"/>
            <a:ext cx="28895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dispatches planned actions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9006840" y="1325880"/>
            <a:ext cx="2560320" cy="434340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5875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89720" y="148132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Laptop · browser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9189720" y="1938528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9189720" y="2194560"/>
            <a:ext cx="2240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seat floor plan + windows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plan with cost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charts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Pomodoro session rings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9189720" y="416052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demo mode the laptop joins the WiFi access point spanned by the Pi 5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059936" y="2148840"/>
            <a:ext cx="621792" cy="292608"/>
          </a:xfrm>
          <a:prstGeom prst="rightArrow">
            <a:avLst/>
          </a:prstGeom>
          <a:solidFill>
            <a:srgbClr val="15803D"/>
          </a:solidFill>
          <a:ln/>
        </p:spPr>
      </p:sp>
      <p:sp>
        <p:nvSpPr>
          <p:cNvPr id="37" name="Text 35"/>
          <p:cNvSpPr/>
          <p:nvPr/>
        </p:nvSpPr>
        <p:spPr>
          <a:xfrm>
            <a:off x="3913632" y="184708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data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059936" y="4297680"/>
            <a:ext cx="621792" cy="292608"/>
          </a:xfrm>
          <a:prstGeom prst="leftArrow">
            <a:avLst/>
          </a:prstGeom>
          <a:solidFill>
            <a:srgbClr val="D97706"/>
          </a:solidFill>
          <a:ln/>
        </p:spPr>
      </p:sp>
      <p:sp>
        <p:nvSpPr>
          <p:cNvPr id="39" name="Text 37"/>
          <p:cNvSpPr/>
          <p:nvPr/>
        </p:nvSpPr>
        <p:spPr>
          <a:xfrm>
            <a:off x="3913632" y="462686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8311896" y="2148840"/>
            <a:ext cx="621792" cy="292608"/>
          </a:xfrm>
          <a:prstGeom prst="rightArrow">
            <a:avLst/>
          </a:prstGeom>
          <a:solidFill>
            <a:srgbClr val="1D4ED8"/>
          </a:solidFill>
          <a:ln/>
        </p:spPr>
      </p:sp>
      <p:sp>
        <p:nvSpPr>
          <p:cNvPr id="41" name="Text 39"/>
          <p:cNvSpPr/>
          <p:nvPr/>
        </p:nvSpPr>
        <p:spPr>
          <a:xfrm>
            <a:off x="8156448" y="1847088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+ plan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640080" y="5989320"/>
            <a:ext cx="1092708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080" y="6126480"/>
            <a:ext cx="10927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effect: the lamp follows occupancy and darkness · the airing strategy follows weather costs · breaks are nudged after 2 min · disturbances are corrected in under 1 s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21945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PLANNING · THE DECISION LOOP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 sensor reading to an optimal action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2011680" cy="3401568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9224" y="1719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8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SENSE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9224" y="2048256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state · 2 Hz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9224" y="2322576"/>
            <a:ext cx="1719072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9224" y="2542032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occupied · yes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9224" y="2907792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· 55 %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49224" y="3273552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CO₂ · 1547 ppm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49224" y="3639312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outdoor · 33 °C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795321" y="1572768"/>
            <a:ext cx="2011680" cy="3401568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41625" y="1719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DISCRETISE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941625" y="2048256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→ PDDL facts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941625" y="2322576"/>
            <a:ext cx="1719072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941625" y="2542032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(occupied r1)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941625" y="2871216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(co2_high r1)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941625" y="3346704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thresholds: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941625" y="3657600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55 % ≥ 40 %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941625" y="3968496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CO₂ 1547 ≥ 1100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087722" y="1572768"/>
            <a:ext cx="2011680" cy="3401568"/>
          </a:xfrm>
          <a:prstGeom prst="roundRect">
            <a:avLst>
              <a:gd name="adj" fmla="val 3636"/>
            </a:avLst>
          </a:prstGeom>
          <a:solidFill>
            <a:srgbClr val="FBEFD9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234026" y="1719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PDDL PROBLEM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234026" y="2048256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+ action costs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234026" y="2322576"/>
            <a:ext cx="1719072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234026" y="2542032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:goal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234026" y="2862072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(not (co2_high r1))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234026" y="3364992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pulse-cost = 3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234026" y="3685032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full-cost = 4 + ΔT/2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234026" y="4041648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ΔT = 0  →  full = 4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380122" y="1572768"/>
            <a:ext cx="2011680" cy="3401568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526426" y="1719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526426" y="2048256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Downward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526426" y="2322576"/>
            <a:ext cx="1719072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526426" y="2542032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A* + LM-Cut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526426" y="2999232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full 4  vs  pulse×2 6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7526426" y="3456432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[full_ventilate]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526426" y="3931920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cost-optimal, ~130 ms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9672523" y="1572768"/>
            <a:ext cx="2011680" cy="3401568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818827" y="1719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4E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9818827" y="2048256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→ actuators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9818827" y="2322576"/>
            <a:ext cx="1719072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818827" y="2542032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full_ventilate ]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9818827" y="2999232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window opens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9818827" y="3310128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library/actions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9818827" y="3749040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CO₂ starts to fall,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9818827" y="4059936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world state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2496312" y="301752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700" dirty="0"/>
          </a:p>
        </p:txBody>
      </p:sp>
      <p:sp>
        <p:nvSpPr>
          <p:cNvPr id="48" name="Text 46"/>
          <p:cNvSpPr/>
          <p:nvPr/>
        </p:nvSpPr>
        <p:spPr>
          <a:xfrm>
            <a:off x="4791456" y="301752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700" dirty="0"/>
          </a:p>
        </p:txBody>
      </p:sp>
      <p:sp>
        <p:nvSpPr>
          <p:cNvPr id="49" name="Text 47"/>
          <p:cNvSpPr/>
          <p:nvPr/>
        </p:nvSpPr>
        <p:spPr>
          <a:xfrm>
            <a:off x="7086600" y="301752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700" dirty="0"/>
          </a:p>
        </p:txBody>
      </p:sp>
      <p:sp>
        <p:nvSpPr>
          <p:cNvPr id="50" name="Text 48"/>
          <p:cNvSpPr/>
          <p:nvPr/>
        </p:nvSpPr>
        <p:spPr>
          <a:xfrm>
            <a:off x="9372600" y="301752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700" dirty="0"/>
          </a:p>
        </p:txBody>
      </p:sp>
      <p:sp>
        <p:nvSpPr>
          <p:cNvPr id="51" name="Shape 49"/>
          <p:cNvSpPr/>
          <p:nvPr/>
        </p:nvSpPr>
        <p:spPr>
          <a:xfrm>
            <a:off x="502920" y="5230368"/>
            <a:ext cx="11183112" cy="548640"/>
          </a:xfrm>
          <a:prstGeom prst="roundRect">
            <a:avLst>
              <a:gd name="adj" fmla="val 13333"/>
            </a:avLst>
          </a:prstGeom>
          <a:solidFill>
            <a:srgbClr val="FBEFD9"/>
          </a:solidFill>
          <a:ln/>
        </p:spPr>
      </p:sp>
      <p:sp>
        <p:nvSpPr>
          <p:cNvPr id="52" name="Text 50"/>
          <p:cNvSpPr/>
          <p:nvPr/>
        </p:nvSpPr>
        <p:spPr>
          <a:xfrm>
            <a:off x="822960" y="5230368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  closed loop   </a:t>
            </a:r>
            <a:pPr algn="ctr" indent="0" marL="0">
              <a:buNone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change in the discretised state regenerates the PDDL problem and triggers a re-plan; the room self-corrects in under one second</a:t>
            </a:r>
            <a:endParaRPr lang="en-US" sz="1250" dirty="0"/>
          </a:p>
        </p:txBody>
      </p:sp>
      <p:sp>
        <p:nvSpPr>
          <p:cNvPr id="53" name="Text 51"/>
          <p:cNvSpPr/>
          <p:nvPr/>
        </p:nvSpPr>
        <p:spPr>
          <a:xfrm>
            <a:off x="502920" y="59436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summer case from the opening scene: 33 °C outside, so one full airing wins. In winter the same state yields two short pulses (slide 8).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21945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OVERVIEW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Sensors, actuators and functionality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Sensors  ·  5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0" y="1417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Actuators  ·  6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503920" y="1417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Functionality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40080" y="2532888"/>
            <a:ext cx="32918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984248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Motion / occupancy · 2 Hz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295144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40080" y="3246120"/>
            <a:ext cx="32918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69748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Illuminance · 2 Hz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3008376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40080" y="3959352"/>
            <a:ext cx="32918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41071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CO₂ concentration proxy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3721608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40080" y="4672584"/>
            <a:ext cx="32918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412394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Outdoor weather (REST API)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443484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40080" y="5385816"/>
            <a:ext cx="32918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483717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Focus-session FSM (4 states)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5148072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572000" y="2532888"/>
            <a:ext cx="32918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0" y="1984248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lamp · ZigBee relay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0" y="2295144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572000" y="3246120"/>
            <a:ext cx="32918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0" y="269748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LED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72000" y="3008376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572000" y="3959352"/>
            <a:ext cx="32918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72000" y="341071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buzzer · PWM, quiet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72000" y="3721608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572000" y="4672584"/>
            <a:ext cx="32918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0" y="412394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LCD · CO₂ traffic light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572000" y="443484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572000" y="5385816"/>
            <a:ext cx="32918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0" y="483717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ventilation · 2 levels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4572000" y="5148072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572000" y="6099048"/>
            <a:ext cx="32918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72000" y="5550408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break banner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4572000" y="5861304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8503920" y="2624328"/>
            <a:ext cx="32918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503920" y="19659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the seat when occupied and dark; off when empty</a:t>
            </a:r>
            <a:endParaRPr lang="en-US" sz="1250" dirty="0"/>
          </a:p>
        </p:txBody>
      </p:sp>
      <p:sp>
        <p:nvSpPr>
          <p:cNvPr id="42" name="Shape 40"/>
          <p:cNvSpPr/>
          <p:nvPr/>
        </p:nvSpPr>
        <p:spPr>
          <a:xfrm>
            <a:off x="8503920" y="3447288"/>
            <a:ext cx="32918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503920" y="27889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the room by pulse or full opening, picked by cost</a:t>
            </a:r>
            <a:endParaRPr lang="en-US" sz="1250" dirty="0"/>
          </a:p>
        </p:txBody>
      </p:sp>
      <p:sp>
        <p:nvSpPr>
          <p:cNvPr id="44" name="Shape 42"/>
          <p:cNvSpPr/>
          <p:nvPr/>
        </p:nvSpPr>
        <p:spPr>
          <a:xfrm>
            <a:off x="8503920" y="4270248"/>
            <a:ext cx="32918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503920" y="361188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 breaks via LED + buzzer after 2 min of focus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8503920" y="5093208"/>
            <a:ext cx="32918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503920" y="44348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state + current plan on dashboard and LCD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8503920" y="5916168"/>
            <a:ext cx="32918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503920" y="52578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Re-plan on every state change; recover in &lt; 1 s</a:t>
            </a:r>
            <a:endParaRPr lang="en-US" sz="1250" dirty="0"/>
          </a:p>
        </p:txBody>
      </p:sp>
      <p:sp>
        <p:nvSpPr>
          <p:cNvPr id="50" name="Text 48"/>
          <p:cNvSpPr/>
          <p:nvPr/>
        </p:nvSpPr>
        <p:spPr>
          <a:xfrm>
            <a:off x="640080" y="64008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physical sensors + 4 physical actuators on the desk · simulated parts are always labelled as such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21945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Eight modules, communicating only via MQTT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205740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8745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Sensing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motion · light · weather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706624" y="2084832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971800" y="1737360"/>
            <a:ext cx="205740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063240" y="18745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3063240" y="228600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state · CO₂ · FSM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038344" y="2084832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303520" y="1737360"/>
            <a:ext cx="205740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94960" y="18745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Gen.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5394960" y="228600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→ PDDL + costs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370064" y="2084832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635240" y="1737360"/>
            <a:ext cx="2057400" cy="1051560"/>
          </a:xfrm>
          <a:prstGeom prst="roundRect">
            <a:avLst>
              <a:gd name="adj" fmla="val 6957"/>
            </a:avLst>
          </a:prstGeom>
          <a:solidFill>
            <a:srgbClr val="FBEFD9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26680" y="18745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Planner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7726680" y="228600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Downward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9701784" y="2084832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9966960" y="1737360"/>
            <a:ext cx="205740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0" y="18745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Execution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0058400" y="228600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 actions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3337560"/>
            <a:ext cx="10927080" cy="0"/>
          </a:xfrm>
          <a:prstGeom prst="line">
            <a:avLst/>
          </a:prstGeom>
          <a:noFill/>
          <a:ln w="19050">
            <a:solidFill>
              <a:srgbClr val="D9770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3456432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MQTT bus (Eclipse Mosquitto) · retained topics: sensors → state → problem → plan → actions → actuator feedback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0080" y="42976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machines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40080" y="4709160"/>
            <a:ext cx="3429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 5 runs broker, context, planner, dashboard (7 services). Pi 3 B+ runs sensors, actuators, LCD (3 services).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480560" y="42976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Closed loop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480560" y="4709160"/>
            <a:ext cx="3429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Actuator effects are sensed again and trigger re-planning. No module calls another directly.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8321040" y="42976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Self-contained demo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8321040" y="4709160"/>
            <a:ext cx="3429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Pi spans its own WiFi access point; edge Pi and dashboard laptop join it.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21945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PLANNING · 1/2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model: classical PDDL with action costs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669280" cy="3977640"/>
          </a:xfrm>
          <a:prstGeom prst="roundRect">
            <a:avLst>
              <a:gd name="adj" fmla="val 1839"/>
            </a:avLst>
          </a:prstGeom>
          <a:solidFill>
            <a:srgbClr val="F3F4F6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645920"/>
            <a:ext cx="53035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(:action pulse_ventilate_step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:parameters (?z - zone)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:precondition (and (occupied ?z)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(co2_high ?z))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:effect (and (not (co2_high ?z))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(co2_elevated ?z)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(increase (total-cost)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(pulse-vent-cost))))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(:goal (and (not (dark r1))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(not (co2_high r1))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(not (co2_elevated r1))))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(:metric minimize (total-cost))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68680" y="548640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excerpt from librisense.pddl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type · 8 predicates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675120" y="1892808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zone; occupied, dark, lamp_on, co2_elevated, co2_high, ventilating, break_due, break_suggested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675120" y="25603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actions, all cost-annotated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675120" y="2944368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lamp on/off · suggest_break · pulse / pulse-step / full ventilation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675120" y="36118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Discretisation thresholds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675120" y="3995928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below 40 % light · CO₂ bands at 800 and 1100 ppm · FSM sets break_due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675120" y="46634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Costs are per-instance fluents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675120" y="5047488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pulse = 3 fixed · full = 4 + ΔT/2 with ΔT = max(0, 22 °C − T_outdoor), from the heat-loss relation Q ∝ Q_v · ΔT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675120" y="57150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values are discretised before planning, so the domain stays classical and plans remain provably optimal.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21945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PLANNING · 2/2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Solving: A* + LM-Cut, optimal in ~130 ms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20574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94944" y="1517904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library/state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2697480" y="1536192"/>
            <a:ext cx="292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971800" y="1463040"/>
            <a:ext cx="20574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26664" y="1517904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discretise + goals + costs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0" y="1536192"/>
            <a:ext cx="292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303520" y="1463040"/>
            <a:ext cx="20574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58384" y="1517904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PDDL instance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360920" y="1536192"/>
            <a:ext cx="292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635240" y="1463040"/>
            <a:ext cx="20574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690104" y="1517904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Fast Downward astar(lmcut())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9692640" y="1536192"/>
            <a:ext cx="292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966960" y="1463040"/>
            <a:ext cx="20574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21824" y="1517904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library/plan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40080" y="22402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whenever the discretised state or the costs change, plus a 30 s heartbeat. Only achievable goals are emitted, so every instance is solvable; an empty goal set skips the planner entirely.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306324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state (occupied, CO₂ high), different weather: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40080" y="361188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E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°C outside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40080" y="4005072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pulse 3 · full 12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0080" y="4370832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[pulse_ventilate_step, pulse_ventilate]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40080" y="480060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cost 6, beats 12 · winter airing: two short pulses, heat stays inside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263640" y="361188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9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 °C outside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263640" y="4005072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pulse 3 · full 4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263640" y="4370832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[full_ventilate]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6263640" y="480060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cost 4, beats 6 · summer airing: one long opening clears the air fastest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40080" y="5623560"/>
            <a:ext cx="1088136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58064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LM-Cut is admissible, so A* returns minimal-cost plans. The winter strategy is not hard-coded; it results from the weather-dependent action costs.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21945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 procedure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34440" y="164592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Sit down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34440" y="2048256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detected, focus session starts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1234440" y="2724912"/>
            <a:ext cx="45720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63640" y="16642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858000" y="164592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Cover the light sensor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0" y="2048256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turns dark, the real lamp switches on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858000" y="2724912"/>
            <a:ext cx="45720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0815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234440" y="306324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Switch the lamp off manually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34440" y="3465576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disturbance is detected and corrected in under 1 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1234440" y="4142232"/>
            <a:ext cx="45720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63640" y="30815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858000" y="306324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Keep focusing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858000" y="3465576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2 min: LED and gentle buzzer suggest a break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858000" y="4142232"/>
            <a:ext cx="45720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1234440" y="448056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CO₂ rises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234440" y="4882896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planner opens the windows on the floor plan, CO₂ falls again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1234440" y="5559552"/>
            <a:ext cx="45720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263640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6858000" y="448056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Walk away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858000" y="4882896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empties, lamp switches off to save energy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858000" y="5559552"/>
            <a:ext cx="45720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60807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start on the simulated 6-seat floor plan for context, then hide it and focus on the one real seat.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21945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REQUIREMENTS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six requirements are met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161848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distribution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4572000" y="1636776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Raspberry Pis, own WiFi in demo mode, 10 systemd services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" y="2103120"/>
            <a:ext cx="1088136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3134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43000" y="23317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Indirect communication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4572000" y="2350008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MQTT publish/subscribe only, retained latest-value topics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2816352"/>
            <a:ext cx="1088136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026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43000" y="304495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planning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572000" y="30632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PDDL domain, auto-generated instances, Fast Downward, cost-optimal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529584"/>
            <a:ext cx="1088136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37398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143000" y="375818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IoT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572000" y="3776472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sensors (2 physical) · 6 actuators (4 physical)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4242816"/>
            <a:ext cx="1088136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44531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143000" y="447141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design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4572000" y="4489704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decoupled modules, each independently restartable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40080" y="4956048"/>
            <a:ext cx="1088136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5166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143000" y="518464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Visualisation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4572000" y="5202936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state + latest plan on dashboard and on-site LCD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40080" y="5669280"/>
            <a:ext cx="1088136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61722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D977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plans in ~130 ms · closed-loop correction &lt; 1 s · state at 2 Hz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 LEARNED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105156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Sound sensor removed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58368" y="1472184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could not measure loudness over the slow GrovePi bus, so we removed it instead of publishing noise as data.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281928" y="105156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Unsolvable goals prevented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281928" y="1472184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early bug asked the planner to brighten a zone whose lamp was already on. The generator now emits only achievable goals.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58368" y="260604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CO₂ and windows are simulated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58368" y="3026664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are modelled, clearly labelled, and react realistically to planner actions.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281928" y="260604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WiFi reliability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281928" y="3026664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isolation, band steering and power-save caused repeated dropouts, so the demo runs on its own access point.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58368" y="4434840"/>
            <a:ext cx="10881360" cy="0"/>
          </a:xfrm>
          <a:prstGeom prst="line">
            <a:avLst/>
          </a:prstGeom>
          <a:noFill/>
          <a:ln w="9525">
            <a:solidFill>
              <a:srgbClr val="2A3B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0" y="4892040"/>
            <a:ext cx="12188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Questions?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0" y="576072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Code, PDDL domain, docs and this deck: github.com/Dennis1911/librisense-smart-library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2026-07-19T12:59:32Z</dcterms:created>
  <dcterms:modified xsi:type="dcterms:W3CDTF">2026-07-19T12:59:32Z</dcterms:modified>
</cp:coreProperties>
</file>